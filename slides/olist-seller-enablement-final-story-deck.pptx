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68" r:id="rId19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CE8227"/>
                </a:solidFill>
                <a:latin typeface="Aptos"/>
              </a:rPr>
              <a:t>OLIST SELLER ENABLEMENT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640080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A modern data stack turns marketplace activity into seller-growth decisions.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331720"/>
            <a:ext cx="585216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D2DADC"/>
                </a:solidFill>
                <a:latin typeface="Aptos"/>
              </a:rPr>
              <a:t>dbt models, DuckDB marts, Streamlit dashboard, and Dagster-ready orchestration now connect the technical build to the business narrative.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023360"/>
            <a:ext cx="1554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98.7K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370832"/>
            <a:ext cx="16459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1">
                <a:solidFill>
                  <a:srgbClr val="E6AA50"/>
                </a:solidFill>
                <a:latin typeface="Aptos"/>
              </a:rPr>
              <a:t>orders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17720"/>
            <a:ext cx="1828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50" b="0">
                <a:solidFill>
                  <a:srgbClr val="BEC6C8"/>
                </a:solidFill>
                <a:latin typeface="Aptos"/>
              </a:rPr>
              <a:t>order-item fact grain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4023360"/>
            <a:ext cx="1554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3,095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4370832"/>
            <a:ext cx="16459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1">
                <a:solidFill>
                  <a:srgbClr val="E6AA50"/>
                </a:solidFill>
                <a:latin typeface="Aptos"/>
              </a:rPr>
              <a:t>sellers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4617720"/>
            <a:ext cx="1828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50" b="0">
                <a:solidFill>
                  <a:srgbClr val="BEC6C8"/>
                </a:solidFill>
                <a:latin typeface="Aptos"/>
              </a:rPr>
              <a:t>merchant base visible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4023360"/>
            <a:ext cx="1554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$13.59M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4370832"/>
            <a:ext cx="16459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1">
                <a:solidFill>
                  <a:srgbClr val="E6AA50"/>
                </a:solidFill>
                <a:latin typeface="Aptos"/>
              </a:rPr>
              <a:t>product GMV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4617720"/>
            <a:ext cx="1828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50" b="0">
                <a:solidFill>
                  <a:srgbClr val="BEC6C8"/>
                </a:solidFill>
                <a:latin typeface="Aptos"/>
              </a:rPr>
              <a:t>not confirmed revenue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4023360"/>
            <a:ext cx="1554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4.03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4370832"/>
            <a:ext cx="16459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1">
                <a:solidFill>
                  <a:srgbClr val="E6AA50"/>
                </a:solidFill>
                <a:latin typeface="Aptos"/>
              </a:rPr>
              <a:t>avg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4617720"/>
            <a:ext cx="1828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50" b="0">
                <a:solidFill>
                  <a:srgbClr val="BEC6C8"/>
                </a:solidFill>
                <a:latin typeface="Aptos"/>
              </a:rPr>
              <a:t>experience signal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58200" y="731520"/>
            <a:ext cx="2468880" cy="4480560"/>
          </a:xfrm>
          <a:prstGeom prst="rect">
            <a:avLst/>
          </a:prstGeom>
          <a:solidFill>
            <a:srgbClr val="163F4E"/>
          </a:solidFill>
          <a:ln w="8890">
            <a:solidFill>
              <a:srgbClr val="163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32520" y="1051560"/>
            <a:ext cx="16459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CE8227"/>
                </a:solidFill>
                <a:latin typeface="Aptos"/>
              </a:rPr>
              <a:t>Thesis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1508760"/>
            <a:ext cx="1783080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Olist wins when sellers grow, fulfill reliably, and keep selling.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3337560"/>
            <a:ext cx="182880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D2DADC"/>
                </a:solidFill>
                <a:latin typeface="Aptos"/>
              </a:rPr>
              <a:t>Public transactions are evidence of seller outcomes; internal revenue data is the next layer.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519672"/>
            <a:ext cx="5029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50" b="0">
                <a:solidFill>
                  <a:srgbClr val="B9BEBE"/>
                </a:solidFill>
                <a:latin typeface="Aptos"/>
              </a:rPr>
              <a:t>Source: Olist Brazilian E-Commerce dataset; DuckDB/dbt warehouse marts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519672"/>
            <a:ext cx="3200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650">
                <a:solidFill>
                  <a:srgbClr val="96968C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25603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>
                <a:solidFill>
                  <a:srgbClr val="CE8227"/>
                </a:solidFill>
                <a:latin typeface="Aptos"/>
              </a:rPr>
              <a:t>BUSINESS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7955279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1202A"/>
                </a:solidFill>
                <a:latin typeface="Aptos"/>
              </a:rPr>
              <a:t>The right decision basis is seller success, not direct retail sales.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554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1C6F82"/>
                </a:solidFill>
                <a:latin typeface="Aptos"/>
              </a:rPr>
              <a:t>3,095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76272"/>
            <a:ext cx="16459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1">
                <a:solidFill>
                  <a:srgbClr val="1C6F82"/>
                </a:solidFill>
                <a:latin typeface="Aptos"/>
              </a:rPr>
              <a:t>active sellers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1828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50" b="0">
                <a:solidFill>
                  <a:srgbClr val="56636C"/>
                </a:solidFill>
                <a:latin typeface="Aptos"/>
              </a:rPr>
              <a:t>merchant 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360" y="1828800"/>
            <a:ext cx="1554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1C6F82"/>
                </a:solidFill>
                <a:latin typeface="Aptos"/>
              </a:rPr>
              <a:t>$13.59M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2176272"/>
            <a:ext cx="16459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1">
                <a:solidFill>
                  <a:srgbClr val="1C6F82"/>
                </a:solidFill>
                <a:latin typeface="Aptos"/>
              </a:rPr>
              <a:t>product GMV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2423160"/>
            <a:ext cx="1828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50" b="0">
                <a:solidFill>
                  <a:srgbClr val="56636C"/>
                </a:solidFill>
                <a:latin typeface="Aptos"/>
              </a:rPr>
              <a:t>activity 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828800"/>
            <a:ext cx="1554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1C6F82"/>
                </a:solidFill>
                <a:latin typeface="Aptos"/>
              </a:rPr>
              <a:t>45.1%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176272"/>
            <a:ext cx="16459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1">
                <a:solidFill>
                  <a:srgbClr val="1C6F82"/>
                </a:solidFill>
                <a:latin typeface="Aptos"/>
              </a:rPr>
              <a:t>top 100 share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423160"/>
            <a:ext cx="1828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50" b="0">
                <a:solidFill>
                  <a:srgbClr val="56636C"/>
                </a:solidFill>
                <a:latin typeface="Aptos"/>
              </a:rPr>
              <a:t>dependency risk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0" y="1234440"/>
            <a:ext cx="2834640" cy="3520440"/>
          </a:xfrm>
          <a:prstGeom prst="rect">
            <a:avLst/>
          </a:prstGeom>
          <a:solidFill>
            <a:srgbClr val="FFFCF6"/>
          </a:solidFill>
          <a:ln w="8890">
            <a:solidFill>
              <a:srgbClr val="DB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1508760"/>
            <a:ext cx="17373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CE8227"/>
                </a:solidFill>
                <a:latin typeface="Aptos"/>
              </a:rPr>
              <a:t>Why it matters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1965960"/>
            <a:ext cx="2240280" cy="2148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11202A"/>
                </a:solidFill>
                <a:latin typeface="Aptos"/>
              </a:rPr>
              <a:t>1. Sellers are the primary business customer.
2. Buyer orders reveal seller outcomes.
3. GMV shows activity, not Olist revenue.
4. Marts turn transactions into seller actions.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43400"/>
            <a:ext cx="1371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CE8227"/>
                </a:solidFill>
                <a:latin typeface="Aptos"/>
              </a:rPr>
              <a:t>Decision lens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4279392"/>
            <a:ext cx="59436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11202A"/>
                </a:solidFill>
                <a:latin typeface="Aptos"/>
              </a:rPr>
              <a:t>Use the dashboard to decide which sellers to protect, grow, repair, and activate.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519672"/>
            <a:ext cx="5029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50" b="0">
                <a:solidFill>
                  <a:srgbClr val="96968C"/>
                </a:solidFill>
                <a:latin typeface="Aptos"/>
              </a:rPr>
              <a:t>Source: Olist Brazilian E-Commerce dataset; DuckDB/dbt warehouse marts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19672"/>
            <a:ext cx="3200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650">
                <a:solidFill>
                  <a:srgbClr val="96968C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25603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>
                <a:solidFill>
                  <a:srgbClr val="CE8227"/>
                </a:solidFill>
                <a:latin typeface="Aptos"/>
              </a:rPr>
              <a:t>MODERNIZED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7955279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1202A"/>
                </a:solidFill>
                <a:latin typeface="Aptos"/>
              </a:rPr>
              <a:t>Raw files now flow through dbt, quality checks, orchestration, and dashboarding.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2103120"/>
            <a:ext cx="1325880" cy="1005840"/>
          </a:xfrm>
          <a:prstGeom prst="rect">
            <a:avLst/>
          </a:prstGeom>
          <a:solidFill>
            <a:srgbClr val="E8F3F6"/>
          </a:solidFill>
          <a:ln w="8890">
            <a:solidFill>
              <a:srgbClr val="9E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10515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1C6F82"/>
                </a:solidFill>
                <a:latin typeface="Aptos"/>
              </a:rPr>
              <a:t>Raw CSVs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1024128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80" b="0">
                <a:solidFill>
                  <a:srgbClr val="56636C"/>
                </a:solidFill>
                <a:latin typeface="Aptos"/>
              </a:rPr>
              <a:t>9 Olist source files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20240" y="2606040"/>
            <a:ext cx="521208" cy="0"/>
          </a:xfrm>
          <a:prstGeom prst="line">
            <a:avLst/>
          </a:prstGeom>
          <a:ln w="19050">
            <a:solidFill>
              <a:srgbClr val="1C6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441448" y="2103120"/>
            <a:ext cx="1325880" cy="1005840"/>
          </a:xfrm>
          <a:prstGeom prst="rect">
            <a:avLst/>
          </a:prstGeom>
          <a:solidFill>
            <a:srgbClr val="FFFCF6"/>
          </a:solidFill>
          <a:ln w="8890">
            <a:solidFill>
              <a:srgbClr val="9E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78608" y="2331720"/>
            <a:ext cx="10515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1C6F82"/>
                </a:solidFill>
                <a:latin typeface="Aptos"/>
              </a:rPr>
              <a:t>DuckDB raw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8608" y="2651760"/>
            <a:ext cx="1024128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80" b="0">
                <a:solidFill>
                  <a:srgbClr val="56636C"/>
                </a:solidFill>
                <a:latin typeface="Aptos"/>
              </a:rPr>
              <a:t>source-preserving load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67328" y="2606040"/>
            <a:ext cx="521208" cy="0"/>
          </a:xfrm>
          <a:prstGeom prst="line">
            <a:avLst/>
          </a:prstGeom>
          <a:ln w="19050">
            <a:solidFill>
              <a:srgbClr val="1C6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288536" y="2103120"/>
            <a:ext cx="1325880" cy="1005840"/>
          </a:xfrm>
          <a:prstGeom prst="rect">
            <a:avLst/>
          </a:prstGeom>
          <a:solidFill>
            <a:srgbClr val="E8F3F6"/>
          </a:solidFill>
          <a:ln w="8890">
            <a:solidFill>
              <a:srgbClr val="9E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25696" y="2331720"/>
            <a:ext cx="10515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1C6F82"/>
                </a:solidFill>
                <a:latin typeface="Aptos"/>
              </a:rPr>
              <a:t>dbt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5696" y="2651760"/>
            <a:ext cx="1024128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80" b="0">
                <a:solidFill>
                  <a:srgbClr val="56636C"/>
                </a:solidFill>
                <a:latin typeface="Aptos"/>
              </a:rPr>
              <a:t>warehouse + marts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614416" y="2606040"/>
            <a:ext cx="521208" cy="0"/>
          </a:xfrm>
          <a:prstGeom prst="line">
            <a:avLst/>
          </a:prstGeom>
          <a:ln w="19050">
            <a:solidFill>
              <a:srgbClr val="1C6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135624" y="2103120"/>
            <a:ext cx="1325880" cy="1005840"/>
          </a:xfrm>
          <a:prstGeom prst="rect">
            <a:avLst/>
          </a:prstGeom>
          <a:solidFill>
            <a:srgbClr val="FFFCF6"/>
          </a:solidFill>
          <a:ln w="8890">
            <a:solidFill>
              <a:srgbClr val="9E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72784" y="2331720"/>
            <a:ext cx="10515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1C6F82"/>
                </a:solidFill>
                <a:latin typeface="Aptos"/>
              </a:rPr>
              <a:t>Quality gates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2784" y="2651760"/>
            <a:ext cx="1024128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80" b="0">
                <a:solidFill>
                  <a:srgbClr val="56636C"/>
                </a:solidFill>
                <a:latin typeface="Aptos"/>
              </a:rPr>
              <a:t>38 dbt + 15 SQL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461504" y="2606040"/>
            <a:ext cx="521208" cy="0"/>
          </a:xfrm>
          <a:prstGeom prst="line">
            <a:avLst/>
          </a:prstGeom>
          <a:ln w="19050">
            <a:solidFill>
              <a:srgbClr val="1C6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982712" y="2103120"/>
            <a:ext cx="1325880" cy="1005840"/>
          </a:xfrm>
          <a:prstGeom prst="rect">
            <a:avLst/>
          </a:prstGeom>
          <a:solidFill>
            <a:srgbClr val="E8F3F6"/>
          </a:solidFill>
          <a:ln w="8890">
            <a:solidFill>
              <a:srgbClr val="9E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19872" y="2331720"/>
            <a:ext cx="10515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1C6F82"/>
                </a:solidFill>
                <a:latin typeface="Aptos"/>
              </a:rPr>
              <a:t>Streamlit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9872" y="2651760"/>
            <a:ext cx="1024128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80" b="0">
                <a:solidFill>
                  <a:srgbClr val="56636C"/>
                </a:solidFill>
                <a:latin typeface="Aptos"/>
              </a:rPr>
              <a:t>decision dashboard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308592" y="2606040"/>
            <a:ext cx="521208" cy="0"/>
          </a:xfrm>
          <a:prstGeom prst="line">
            <a:avLst/>
          </a:prstGeom>
          <a:ln w="19050">
            <a:solidFill>
              <a:srgbClr val="1C6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9829800" y="2103120"/>
            <a:ext cx="1325880" cy="1005840"/>
          </a:xfrm>
          <a:prstGeom prst="rect">
            <a:avLst/>
          </a:prstGeom>
          <a:solidFill>
            <a:srgbClr val="FFFCF6"/>
          </a:solidFill>
          <a:ln w="8890">
            <a:solidFill>
              <a:srgbClr val="9E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60" y="2331720"/>
            <a:ext cx="10515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1C6F82"/>
                </a:solidFill>
                <a:latin typeface="Aptos"/>
              </a:rPr>
              <a:t>Dagster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2651760"/>
            <a:ext cx="1024128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80" b="0">
                <a:solidFill>
                  <a:srgbClr val="56636C"/>
                </a:solidFill>
                <a:latin typeface="Aptos"/>
              </a:rPr>
              <a:t>asset automation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572000"/>
            <a:ext cx="1371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CE8227"/>
                </a:solidFill>
                <a:latin typeface="Aptos"/>
              </a:rPr>
              <a:t>Technical confidence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65960" y="4517136"/>
            <a:ext cx="75895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11202A"/>
                </a:solidFill>
                <a:latin typeface="Aptos"/>
              </a:rPr>
              <a:t>Future CSV additions can be loaded, rebuilt, checked, and reflected in the dashboard through the same path.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519672"/>
            <a:ext cx="5029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50" b="0">
                <a:solidFill>
                  <a:srgbClr val="96968C"/>
                </a:solidFill>
                <a:latin typeface="Aptos"/>
              </a:rPr>
              <a:t>Source: Olist Brazilian E-Commerce dataset; DuckDB/dbt warehouse marts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92840" y="6519672"/>
            <a:ext cx="3200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650">
                <a:solidFill>
                  <a:srgbClr val="96968C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25603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>
                <a:solidFill>
                  <a:srgbClr val="CE8227"/>
                </a:solidFill>
                <a:latin typeface="Aptos"/>
              </a:rPr>
              <a:t>WAREHOUSE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7955279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1202A"/>
                </a:solidFill>
                <a:latin typeface="Aptos"/>
              </a:rPr>
              <a:t>The model separates item-level sales from order-level payments and exposes decision marts.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554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1C6F82"/>
                </a:solidFill>
                <a:latin typeface="Aptos"/>
              </a:rPr>
              <a:t>112.7K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47672"/>
            <a:ext cx="16459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1">
                <a:solidFill>
                  <a:srgbClr val="1C6F82"/>
                </a:solidFill>
                <a:latin typeface="Aptos"/>
              </a:rPr>
              <a:t>fact_sales rows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828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50" b="0">
                <a:solidFill>
                  <a:srgbClr val="56636C"/>
                </a:solidFill>
                <a:latin typeface="Aptos"/>
              </a:rPr>
              <a:t>order-item grain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600200"/>
            <a:ext cx="1554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1C6F82"/>
                </a:solidFill>
                <a:latin typeface="Aptos"/>
              </a:rPr>
              <a:t>98.7K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947672"/>
            <a:ext cx="16459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1">
                <a:solidFill>
                  <a:srgbClr val="1C6F82"/>
                </a:solidFill>
                <a:latin typeface="Aptos"/>
              </a:rPr>
              <a:t>fact_order_payment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194560"/>
            <a:ext cx="1828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50" b="0">
                <a:solidFill>
                  <a:srgbClr val="56636C"/>
                </a:solidFill>
                <a:latin typeface="Aptos"/>
              </a:rPr>
              <a:t>order grain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600200"/>
            <a:ext cx="1554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650">
                <a:solidFill>
                  <a:srgbClr val="96968C"/>
                </a:solidFill>
                <a:latin typeface="Aptos"/>
              </a:rPr>
              <a:t>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947672"/>
            <a:ext cx="16459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1">
                <a:solidFill>
                  <a:srgbClr val="1C6F82"/>
                </a:solidFill>
                <a:latin typeface="Aptos"/>
              </a:rPr>
              <a:t>decision marts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194560"/>
            <a:ext cx="1828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50" b="0">
                <a:solidFill>
                  <a:srgbClr val="56636C"/>
                </a:solidFill>
                <a:latin typeface="Aptos"/>
              </a:rPr>
              <a:t>dashboard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1600200"/>
            <a:ext cx="1554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650">
                <a:solidFill>
                  <a:srgbClr val="96968C"/>
                </a:solidFill>
                <a:latin typeface="Aptos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947672"/>
            <a:ext cx="16459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1">
                <a:solidFill>
                  <a:srgbClr val="1C6F82"/>
                </a:solidFill>
                <a:latin typeface="Aptos"/>
              </a:rPr>
              <a:t>broken joins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194560"/>
            <a:ext cx="1828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50" b="0">
                <a:solidFill>
                  <a:srgbClr val="56636C"/>
                </a:solidFill>
                <a:latin typeface="Aptos"/>
              </a:rPr>
              <a:t>quality checks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520440"/>
            <a:ext cx="21945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CE8227"/>
                </a:solidFill>
                <a:latin typeface="Aptos"/>
              </a:rPr>
              <a:t>Why the grain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886200"/>
            <a:ext cx="758952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11202A"/>
                </a:solidFill>
                <a:latin typeface="Aptos"/>
              </a:rPr>
              <a:t>Product GMV and freight live at order-item grain. Payment value lives at order grain so multi-item orders do not inflate payment totals.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519672"/>
            <a:ext cx="5029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50" b="0">
                <a:solidFill>
                  <a:srgbClr val="96968C"/>
                </a:solidFill>
                <a:latin typeface="Aptos"/>
              </a:rPr>
              <a:t>Source: Olist Brazilian E-Commerce dataset; DuckDB/dbt warehouse marts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19672"/>
            <a:ext cx="3200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650">
                <a:solidFill>
                  <a:srgbClr val="96968C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25603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>
                <a:solidFill>
                  <a:srgbClr val="CE8227"/>
                </a:solidFill>
                <a:latin typeface="Aptos"/>
              </a:rPr>
              <a:t>GROWTH READOUT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7955279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1202A"/>
                </a:solidFill>
                <a:latin typeface="Aptos"/>
              </a:rPr>
              <a:t>Growth reads correctly after excluding the partial final month.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6766560" cy="3840480"/>
          </a:xfrm>
          <a:prstGeom prst="rect">
            <a:avLst/>
          </a:prstGeom>
          <a:solidFill>
            <a:srgbClr val="FFFCF6"/>
          </a:solidFill>
          <a:ln w="8890">
            <a:solidFill>
              <a:srgbClr val="DB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1143000" y="4526799"/>
            <a:ext cx="272241" cy="135933"/>
          </a:xfrm>
          <a:prstGeom prst="line">
            <a:avLst/>
          </a:prstGeom>
          <a:ln w="25400">
            <a:solidFill>
              <a:srgbClr val="1C6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415241" y="4526799"/>
            <a:ext cx="272242" cy="136641"/>
          </a:xfrm>
          <a:prstGeom prst="line">
            <a:avLst/>
          </a:prstGeom>
          <a:ln w="25400">
            <a:solidFill>
              <a:srgbClr val="1C6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1687483" y="4331334"/>
            <a:ext cx="272242" cy="332106"/>
          </a:xfrm>
          <a:prstGeom prst="line">
            <a:avLst/>
          </a:prstGeom>
          <a:ln w="25400">
            <a:solidFill>
              <a:srgbClr val="1C6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959725" y="3980766"/>
            <a:ext cx="272242" cy="350568"/>
          </a:xfrm>
          <a:prstGeom prst="line">
            <a:avLst/>
          </a:prstGeom>
          <a:ln w="25400">
            <a:solidFill>
              <a:srgbClr val="1C6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2231967" y="3630057"/>
            <a:ext cx="272242" cy="350709"/>
          </a:xfrm>
          <a:prstGeom prst="line">
            <a:avLst/>
          </a:prstGeom>
          <a:ln w="25400">
            <a:solidFill>
              <a:srgbClr val="1C6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504209" y="3630057"/>
            <a:ext cx="272241" cy="39799"/>
          </a:xfrm>
          <a:prstGeom prst="line">
            <a:avLst/>
          </a:prstGeom>
          <a:ln w="25400">
            <a:solidFill>
              <a:srgbClr val="1C6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776450" y="3266412"/>
            <a:ext cx="272242" cy="403444"/>
          </a:xfrm>
          <a:prstGeom prst="line">
            <a:avLst/>
          </a:prstGeom>
          <a:ln w="25400">
            <a:solidFill>
              <a:srgbClr val="1C6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048692" y="3266412"/>
            <a:ext cx="272242" cy="201613"/>
          </a:xfrm>
          <a:prstGeom prst="line">
            <a:avLst/>
          </a:prstGeom>
          <a:ln w="25400">
            <a:solidFill>
              <a:srgbClr val="1C6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320934" y="3288606"/>
            <a:ext cx="272242" cy="179419"/>
          </a:xfrm>
          <a:prstGeom prst="line">
            <a:avLst/>
          </a:prstGeom>
          <a:ln w="25400">
            <a:solidFill>
              <a:srgbClr val="1C6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593176" y="3078966"/>
            <a:ext cx="272242" cy="209640"/>
          </a:xfrm>
          <a:prstGeom prst="line">
            <a:avLst/>
          </a:prstGeom>
          <a:ln w="25400">
            <a:solidFill>
              <a:srgbClr val="1C6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865418" y="2939749"/>
            <a:ext cx="272242" cy="139217"/>
          </a:xfrm>
          <a:prstGeom prst="line">
            <a:avLst/>
          </a:prstGeom>
          <a:ln w="25400">
            <a:solidFill>
              <a:srgbClr val="1C6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137660" y="2829829"/>
            <a:ext cx="272241" cy="109920"/>
          </a:xfrm>
          <a:prstGeom prst="line">
            <a:avLst/>
          </a:prstGeom>
          <a:ln w="25400">
            <a:solidFill>
              <a:srgbClr val="1C6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4409901" y="1874519"/>
            <a:ext cx="272242" cy="955310"/>
          </a:xfrm>
          <a:prstGeom prst="line">
            <a:avLst/>
          </a:prstGeom>
          <a:ln w="25400">
            <a:solidFill>
              <a:srgbClr val="1C6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82143" y="1874519"/>
            <a:ext cx="272242" cy="735305"/>
          </a:xfrm>
          <a:prstGeom prst="line">
            <a:avLst/>
          </a:prstGeom>
          <a:ln w="25400">
            <a:solidFill>
              <a:srgbClr val="1C6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4954385" y="2040821"/>
            <a:ext cx="272242" cy="569003"/>
          </a:xfrm>
          <a:prstGeom prst="line">
            <a:avLst/>
          </a:prstGeom>
          <a:ln w="25400">
            <a:solidFill>
              <a:srgbClr val="1C6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226627" y="2040821"/>
            <a:ext cx="272242" cy="292213"/>
          </a:xfrm>
          <a:prstGeom prst="line">
            <a:avLst/>
          </a:prstGeom>
          <a:ln w="25400">
            <a:solidFill>
              <a:srgbClr val="1C6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5498869" y="1949215"/>
            <a:ext cx="272241" cy="383819"/>
          </a:xfrm>
          <a:prstGeom prst="line">
            <a:avLst/>
          </a:prstGeom>
          <a:ln w="25400">
            <a:solidFill>
              <a:srgbClr val="1C6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5771110" y="1912129"/>
            <a:ext cx="272242" cy="37086"/>
          </a:xfrm>
          <a:prstGeom prst="line">
            <a:avLst/>
          </a:prstGeom>
          <a:ln w="25400">
            <a:solidFill>
              <a:srgbClr val="1C6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043352" y="1912129"/>
            <a:ext cx="272242" cy="359"/>
          </a:xfrm>
          <a:prstGeom prst="line">
            <a:avLst/>
          </a:prstGeom>
          <a:ln w="25400">
            <a:solidFill>
              <a:srgbClr val="1C6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315594" y="1912488"/>
            <a:ext cx="272242" cy="362724"/>
          </a:xfrm>
          <a:prstGeom prst="line">
            <a:avLst/>
          </a:prstGeom>
          <a:ln w="25400">
            <a:solidFill>
              <a:srgbClr val="1C6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587836" y="2191337"/>
            <a:ext cx="272242" cy="83875"/>
          </a:xfrm>
          <a:prstGeom prst="line">
            <a:avLst/>
          </a:prstGeom>
          <a:ln w="25400">
            <a:solidFill>
              <a:srgbClr val="1C6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860078" y="2191337"/>
            <a:ext cx="272242" cy="112690"/>
          </a:xfrm>
          <a:prstGeom prst="line">
            <a:avLst/>
          </a:prstGeom>
          <a:ln w="25400">
            <a:solidFill>
              <a:srgbClr val="1C6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1110996" y="4630728"/>
            <a:ext cx="64008" cy="64008"/>
          </a:xfrm>
          <a:prstGeom prst="ellipse">
            <a:avLst/>
          </a:prstGeom>
          <a:solidFill>
            <a:srgbClr val="1C6F82"/>
          </a:solidFill>
          <a:ln>
            <a:solidFill>
              <a:srgbClr val="1C6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927721" y="4299330"/>
            <a:ext cx="64008" cy="64008"/>
          </a:xfrm>
          <a:prstGeom prst="ellipse">
            <a:avLst/>
          </a:prstGeom>
          <a:solidFill>
            <a:srgbClr val="1C6F82"/>
          </a:solidFill>
          <a:ln>
            <a:solidFill>
              <a:srgbClr val="1C6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44446" y="3637852"/>
            <a:ext cx="64008" cy="64008"/>
          </a:xfrm>
          <a:prstGeom prst="ellipse">
            <a:avLst/>
          </a:prstGeom>
          <a:solidFill>
            <a:srgbClr val="1C6F82"/>
          </a:solidFill>
          <a:ln>
            <a:solidFill>
              <a:srgbClr val="1C6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61172" y="3256602"/>
            <a:ext cx="64008" cy="64008"/>
          </a:xfrm>
          <a:prstGeom prst="ellipse">
            <a:avLst/>
          </a:prstGeom>
          <a:solidFill>
            <a:srgbClr val="1C6F82"/>
          </a:solidFill>
          <a:ln>
            <a:solidFill>
              <a:srgbClr val="1C6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377897" y="2797825"/>
            <a:ext cx="64008" cy="64008"/>
          </a:xfrm>
          <a:prstGeom prst="ellipse">
            <a:avLst/>
          </a:prstGeom>
          <a:solidFill>
            <a:srgbClr val="1C6F82"/>
          </a:solidFill>
          <a:ln>
            <a:solidFill>
              <a:srgbClr val="1C6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94623" y="2008817"/>
            <a:ext cx="64008" cy="64008"/>
          </a:xfrm>
          <a:prstGeom prst="ellipse">
            <a:avLst/>
          </a:prstGeom>
          <a:solidFill>
            <a:srgbClr val="1C6F82"/>
          </a:solidFill>
          <a:ln>
            <a:solidFill>
              <a:srgbClr val="1C6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011348" y="1880125"/>
            <a:ext cx="64008" cy="64008"/>
          </a:xfrm>
          <a:prstGeom prst="ellipse">
            <a:avLst/>
          </a:prstGeom>
          <a:solidFill>
            <a:srgbClr val="1C6F82"/>
          </a:solidFill>
          <a:ln>
            <a:solidFill>
              <a:srgbClr val="1C6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828074" y="2159333"/>
            <a:ext cx="64008" cy="64008"/>
          </a:xfrm>
          <a:prstGeom prst="ellipse">
            <a:avLst/>
          </a:prstGeom>
          <a:solidFill>
            <a:srgbClr val="1C6F82"/>
          </a:solidFill>
          <a:ln>
            <a:solidFill>
              <a:srgbClr val="1C6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4800600"/>
            <a:ext cx="10058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>
                <a:solidFill>
                  <a:srgbClr val="56636C"/>
                </a:solidFill>
                <a:latin typeface="Aptos"/>
              </a:rPr>
              <a:t>Sep 2016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4800600"/>
            <a:ext cx="10058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00" b="0">
                <a:solidFill>
                  <a:srgbClr val="56636C"/>
                </a:solidFill>
                <a:latin typeface="Aptos"/>
              </a:rPr>
              <a:t>Aug 2018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1000" y="1828800"/>
            <a:ext cx="1554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1C6F82"/>
                </a:solidFill>
                <a:latin typeface="Aptos"/>
              </a:rPr>
              <a:t>$1.01M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01000" y="2176272"/>
            <a:ext cx="16459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1">
                <a:solidFill>
                  <a:srgbClr val="1C6F82"/>
                </a:solidFill>
                <a:latin typeface="Aptos"/>
              </a:rPr>
              <a:t>peak month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2423160"/>
            <a:ext cx="1828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50" b="0">
                <a:solidFill>
                  <a:srgbClr val="56636C"/>
                </a:solidFill>
                <a:latin typeface="Aptos"/>
              </a:rPr>
              <a:t>Nov 2017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1000" y="3154680"/>
            <a:ext cx="1554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1C6F82"/>
                </a:solidFill>
                <a:latin typeface="Aptos"/>
              </a:rPr>
              <a:t>$0.85M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01000" y="3502152"/>
            <a:ext cx="16459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1">
                <a:solidFill>
                  <a:srgbClr val="1C6F82"/>
                </a:solidFill>
                <a:latin typeface="Aptos"/>
              </a:rPr>
              <a:t>latest complete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01000" y="3749040"/>
            <a:ext cx="1828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50" b="0">
                <a:solidFill>
                  <a:srgbClr val="56636C"/>
                </a:solidFill>
                <a:latin typeface="Aptos"/>
              </a:rPr>
              <a:t>Aug 2018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01000" y="4572000"/>
            <a:ext cx="246888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11202A"/>
                </a:solidFill>
                <a:latin typeface="Aptos"/>
              </a:rPr>
              <a:t>September 2018 has only one order, so the dashboard removes it from trend charts to avoid a false cliff.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6519672"/>
            <a:ext cx="5029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50" b="0">
                <a:solidFill>
                  <a:srgbClr val="96968C"/>
                </a:solidFill>
                <a:latin typeface="Aptos"/>
              </a:rPr>
              <a:t>Source: Olist Brazilian E-Commerce dataset; DuckDB/dbt warehouse marts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92840" y="6519672"/>
            <a:ext cx="3200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650">
                <a:solidFill>
                  <a:srgbClr val="96968C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25603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>
                <a:solidFill>
                  <a:srgbClr val="CE8227"/>
                </a:solidFill>
                <a:latin typeface="Aptos"/>
              </a:rPr>
              <a:t>SELLER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7955279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1202A"/>
                </a:solidFill>
                <a:latin typeface="Aptos"/>
              </a:rPr>
              <a:t>Seller health turns transaction data into four account-management actions.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00200"/>
            <a:ext cx="2240280" cy="3063240"/>
          </a:xfrm>
          <a:prstGeom prst="rect">
            <a:avLst/>
          </a:prstGeom>
          <a:solidFill>
            <a:srgbClr val="FFFCF6"/>
          </a:solidFill>
          <a:ln w="8890">
            <a:solidFill>
              <a:srgbClr val="DB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16459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1C6F82"/>
                </a:solidFill>
                <a:latin typeface="Aptos"/>
              </a:rPr>
              <a:t>Protect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40280"/>
            <a:ext cx="14630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1202A"/>
                </a:solidFill>
                <a:latin typeface="Aptos"/>
              </a:rPr>
              <a:t>310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51760"/>
            <a:ext cx="1463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56636C"/>
                </a:solidFill>
                <a:latin typeface="Aptos"/>
              </a:rPr>
              <a:t>sellers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16459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1C6F82"/>
                </a:solidFill>
                <a:latin typeface="Aptos"/>
              </a:rPr>
              <a:t>$9.18M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17373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56636C"/>
                </a:solidFill>
                <a:latin typeface="Aptos"/>
              </a:rPr>
              <a:t>Avg review 4.02
Late delivery 6.9%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1600200"/>
            <a:ext cx="2240280" cy="3063240"/>
          </a:xfrm>
          <a:prstGeom prst="rect">
            <a:avLst/>
          </a:prstGeom>
          <a:solidFill>
            <a:srgbClr val="FFFCF6"/>
          </a:solidFill>
          <a:ln w="8890">
            <a:solidFill>
              <a:srgbClr val="DB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828800"/>
            <a:ext cx="16459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478256"/>
                </a:solidFill>
                <a:latin typeface="Aptos"/>
              </a:rPr>
              <a:t>Grow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240280"/>
            <a:ext cx="14630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1202A"/>
                </a:solidFill>
                <a:latin typeface="Aptos"/>
              </a:rPr>
              <a:t>1,615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651760"/>
            <a:ext cx="1463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56636C"/>
                </a:solidFill>
                <a:latin typeface="Aptos"/>
              </a:rPr>
              <a:t>sellers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063240"/>
            <a:ext cx="16459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478256"/>
                </a:solidFill>
                <a:latin typeface="Aptos"/>
              </a:rPr>
              <a:t>$3.59M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429000"/>
            <a:ext cx="17373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56636C"/>
                </a:solidFill>
                <a:latin typeface="Aptos"/>
              </a:rPr>
              <a:t>Avg review 4.30
Late delivery 3.5%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600200"/>
            <a:ext cx="2240280" cy="3063240"/>
          </a:xfrm>
          <a:prstGeom prst="rect">
            <a:avLst/>
          </a:prstGeom>
          <a:solidFill>
            <a:srgbClr val="FFFCF6"/>
          </a:solidFill>
          <a:ln w="8890">
            <a:solidFill>
              <a:srgbClr val="DB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828800"/>
            <a:ext cx="16459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BE533D"/>
                </a:solidFill>
                <a:latin typeface="Aptos"/>
              </a:rPr>
              <a:t>Fix Experience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240280"/>
            <a:ext cx="14630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1202A"/>
                </a:solidFill>
                <a:latin typeface="Aptos"/>
              </a:rPr>
              <a:t>670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651760"/>
            <a:ext cx="1463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56636C"/>
                </a:solidFill>
                <a:latin typeface="Aptos"/>
              </a:rPr>
              <a:t>sellers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063240"/>
            <a:ext cx="16459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BE533D"/>
                </a:solidFill>
                <a:latin typeface="Aptos"/>
              </a:rPr>
              <a:t>$0.65M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429000"/>
            <a:ext cx="17373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56636C"/>
                </a:solidFill>
                <a:latin typeface="Aptos"/>
              </a:rPr>
              <a:t>Avg review 2.58
Late delivery 22.6%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559" y="1600200"/>
            <a:ext cx="2240280" cy="3063240"/>
          </a:xfrm>
          <a:prstGeom prst="rect">
            <a:avLst/>
          </a:prstGeom>
          <a:solidFill>
            <a:srgbClr val="FFFCF6"/>
          </a:solidFill>
          <a:ln w="8890">
            <a:solidFill>
              <a:srgbClr val="DB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39" y="1828800"/>
            <a:ext cx="16459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CE8227"/>
                </a:solidFill>
                <a:latin typeface="Aptos"/>
              </a:rPr>
              <a:t>Activate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39" y="2240280"/>
            <a:ext cx="14630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1202A"/>
                </a:solidFill>
                <a:latin typeface="Aptos"/>
              </a:rPr>
              <a:t>500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39" y="2651760"/>
            <a:ext cx="1463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56636C"/>
                </a:solidFill>
                <a:latin typeface="Aptos"/>
              </a:rPr>
              <a:t>sellers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39" y="3063240"/>
            <a:ext cx="16459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CE8227"/>
                </a:solidFill>
                <a:latin typeface="Aptos"/>
              </a:rPr>
              <a:t>$0.17M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39" y="3429000"/>
            <a:ext cx="17373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56636C"/>
                </a:solidFill>
                <a:latin typeface="Aptos"/>
              </a:rPr>
              <a:t>Avg review 4.75
Late delivery 0.2%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230368"/>
            <a:ext cx="91440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11202A"/>
                </a:solidFill>
                <a:latin typeface="Aptos"/>
              </a:rPr>
              <a:t>Action logic: protect key accounts, scale healthy sellers, repair poor experiences, and convert one-month sellers into repeat sellers.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519672"/>
            <a:ext cx="5029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50" b="0">
                <a:solidFill>
                  <a:srgbClr val="96968C"/>
                </a:solidFill>
                <a:latin typeface="Aptos"/>
              </a:rPr>
              <a:t>Source: Olist Brazilian E-Commerce dataset; DuckDB/dbt warehouse marts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92840" y="6519672"/>
            <a:ext cx="3200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650">
                <a:solidFill>
                  <a:srgbClr val="96968C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25603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>
                <a:solidFill>
                  <a:srgbClr val="CE8227"/>
                </a:solidFill>
                <a:latin typeface="Aptos"/>
              </a:rPr>
              <a:t>CONCENTRATION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7955279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1202A"/>
                </a:solidFill>
                <a:latin typeface="Aptos"/>
              </a:rPr>
              <a:t>A small seller group drives a large share of marketplace activity.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554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1C6F82"/>
                </a:solidFill>
                <a:latin typeface="Aptos"/>
              </a:rPr>
              <a:t>13.1%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84831"/>
            <a:ext cx="16459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1">
                <a:solidFill>
                  <a:srgbClr val="1C6F82"/>
                </a:solidFill>
                <a:latin typeface="Aptos"/>
              </a:rPr>
              <a:t>top 10 sellers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1828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50" b="0">
                <a:solidFill>
                  <a:srgbClr val="56636C"/>
                </a:solidFill>
                <a:latin typeface="Aptos"/>
              </a:rPr>
              <a:t>cumulative GMV share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971800"/>
            <a:ext cx="1965960" cy="256032"/>
          </a:xfrm>
          <a:prstGeom prst="rect">
            <a:avLst/>
          </a:prstGeom>
          <a:solidFill>
            <a:srgbClr val="E8E2D7"/>
          </a:solidFill>
          <a:ln w="889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971800"/>
            <a:ext cx="258515" cy="256032"/>
          </a:xfrm>
          <a:prstGeom prst="rect">
            <a:avLst/>
          </a:prstGeom>
          <a:solidFill>
            <a:srgbClr val="1C6F82"/>
          </a:solidFill>
          <a:ln w="8890">
            <a:solidFill>
              <a:srgbClr val="1C6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1737360"/>
            <a:ext cx="1554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1C6F82"/>
                </a:solidFill>
                <a:latin typeface="Aptos"/>
              </a:rPr>
              <a:t>45.1%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084831"/>
            <a:ext cx="16459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1">
                <a:solidFill>
                  <a:srgbClr val="1C6F82"/>
                </a:solidFill>
                <a:latin typeface="Aptos"/>
              </a:rPr>
              <a:t>top 100 sellers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331720"/>
            <a:ext cx="1828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50" b="0">
                <a:solidFill>
                  <a:srgbClr val="56636C"/>
                </a:solidFill>
                <a:latin typeface="Aptos"/>
              </a:rPr>
              <a:t>cumulative GMV share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2971800"/>
            <a:ext cx="1965960" cy="256032"/>
          </a:xfrm>
          <a:prstGeom prst="rect">
            <a:avLst/>
          </a:prstGeom>
          <a:solidFill>
            <a:srgbClr val="E8E2D7"/>
          </a:solidFill>
          <a:ln w="889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0" y="2971800"/>
            <a:ext cx="885889" cy="256032"/>
          </a:xfrm>
          <a:prstGeom prst="rect">
            <a:avLst/>
          </a:prstGeom>
          <a:solidFill>
            <a:srgbClr val="1C6F82"/>
          </a:solidFill>
          <a:ln w="8890">
            <a:solidFill>
              <a:srgbClr val="1C6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1737360"/>
            <a:ext cx="1554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1C6F82"/>
                </a:solidFill>
                <a:latin typeface="Aptos"/>
              </a:rPr>
              <a:t>78.2%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084831"/>
            <a:ext cx="16459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1">
                <a:solidFill>
                  <a:srgbClr val="1C6F82"/>
                </a:solidFill>
                <a:latin typeface="Aptos"/>
              </a:rPr>
              <a:t>top 500 sellers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331720"/>
            <a:ext cx="1828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50" b="0">
                <a:solidFill>
                  <a:srgbClr val="56636C"/>
                </a:solidFill>
                <a:latin typeface="Aptos"/>
              </a:rPr>
              <a:t>cumulative GMV share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2971800"/>
            <a:ext cx="1965960" cy="256032"/>
          </a:xfrm>
          <a:prstGeom prst="rect">
            <a:avLst/>
          </a:prstGeom>
          <a:solidFill>
            <a:srgbClr val="E8E2D7"/>
          </a:solidFill>
          <a:ln w="889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66560" y="2971800"/>
            <a:ext cx="1537372" cy="256032"/>
          </a:xfrm>
          <a:prstGeom prst="rect">
            <a:avLst/>
          </a:prstGeom>
          <a:solidFill>
            <a:srgbClr val="1C6F82"/>
          </a:solidFill>
          <a:ln w="8890">
            <a:solidFill>
              <a:srgbClr val="1C6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617720"/>
            <a:ext cx="813816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11202A"/>
                </a:solidFill>
                <a:latin typeface="Aptos"/>
              </a:rPr>
              <a:t>The concentration is both opportunity and risk: these sellers deserve account attention, but Olist should also grow the healthy mid-tail to reduce dependency.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519672"/>
            <a:ext cx="5029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50" b="0">
                <a:solidFill>
                  <a:srgbClr val="96968C"/>
                </a:solidFill>
                <a:latin typeface="Aptos"/>
              </a:rPr>
              <a:t>Source: Olist Brazilian E-Commerce dataset; DuckDB/dbt warehouse marts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519672"/>
            <a:ext cx="3200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650">
                <a:solidFill>
                  <a:srgbClr val="96968C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25603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>
                <a:solidFill>
                  <a:srgbClr val="CE8227"/>
                </a:solidFill>
                <a:latin typeface="Aptos"/>
              </a:rPr>
              <a:t>CATEGORY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7955279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1202A"/>
                </a:solidFill>
                <a:latin typeface="Aptos"/>
              </a:rPr>
              <a:t>Large categories define where seller enablement can most directly move GMV.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44752"/>
            <a:ext cx="1371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80" b="0">
                <a:solidFill>
                  <a:srgbClr val="11202A"/>
                </a:solidFill>
                <a:latin typeface="Aptos"/>
              </a:rPr>
              <a:t>health_beauty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4560" y="1472184"/>
            <a:ext cx="4892040" cy="73152"/>
          </a:xfrm>
          <a:prstGeom prst="rect">
            <a:avLst/>
          </a:prstGeom>
          <a:solidFill>
            <a:srgbClr val="E8E2D7"/>
          </a:solidFill>
          <a:ln w="889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94560" y="1472184"/>
            <a:ext cx="4892040" cy="73152"/>
          </a:xfrm>
          <a:prstGeom prst="rect">
            <a:avLst/>
          </a:prstGeom>
          <a:solidFill>
            <a:srgbClr val="1C6F82"/>
          </a:solidFill>
          <a:ln w="8890">
            <a:solidFill>
              <a:srgbClr val="1C6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59" y="1417320"/>
            <a:ext cx="502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630" b="0">
                <a:solidFill>
                  <a:srgbClr val="56636C"/>
                </a:solidFill>
                <a:latin typeface="Aptos"/>
              </a:rPr>
              <a:t>1.3M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67662"/>
            <a:ext cx="1371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80" b="0">
                <a:solidFill>
                  <a:srgbClr val="11202A"/>
                </a:solidFill>
                <a:latin typeface="Aptos"/>
              </a:rPr>
              <a:t>watches_gifts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1895094"/>
            <a:ext cx="4892040" cy="73152"/>
          </a:xfrm>
          <a:prstGeom prst="rect">
            <a:avLst/>
          </a:prstGeom>
          <a:solidFill>
            <a:srgbClr val="E8E2D7"/>
          </a:solidFill>
          <a:ln w="889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94560" y="1895094"/>
            <a:ext cx="4683422" cy="73152"/>
          </a:xfrm>
          <a:prstGeom prst="rect">
            <a:avLst/>
          </a:prstGeom>
          <a:solidFill>
            <a:srgbClr val="1C6F82"/>
          </a:solidFill>
          <a:ln w="8890">
            <a:solidFill>
              <a:srgbClr val="1C6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59" y="1840230"/>
            <a:ext cx="502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630" b="0">
                <a:solidFill>
                  <a:srgbClr val="56636C"/>
                </a:solidFill>
                <a:latin typeface="Aptos"/>
              </a:rPr>
              <a:t>1.2M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290572"/>
            <a:ext cx="1371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80" b="0">
                <a:solidFill>
                  <a:srgbClr val="11202A"/>
                </a:solidFill>
                <a:latin typeface="Aptos"/>
              </a:rPr>
              <a:t>bed_bath_table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94560" y="2318004"/>
            <a:ext cx="4892040" cy="73152"/>
          </a:xfrm>
          <a:prstGeom prst="rect">
            <a:avLst/>
          </a:prstGeom>
          <a:solidFill>
            <a:srgbClr val="E8E2D7"/>
          </a:solidFill>
          <a:ln w="889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94560" y="2318004"/>
            <a:ext cx="4030400" cy="73152"/>
          </a:xfrm>
          <a:prstGeom prst="rect">
            <a:avLst/>
          </a:prstGeom>
          <a:solidFill>
            <a:srgbClr val="1C6F82"/>
          </a:solidFill>
          <a:ln w="8890">
            <a:solidFill>
              <a:srgbClr val="1C6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59" y="2263140"/>
            <a:ext cx="502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630" b="0">
                <a:solidFill>
                  <a:srgbClr val="56636C"/>
                </a:solidFill>
                <a:latin typeface="Aptos"/>
              </a:rPr>
              <a:t>1.0M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713482"/>
            <a:ext cx="1371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80" b="0">
                <a:solidFill>
                  <a:srgbClr val="11202A"/>
                </a:solidFill>
                <a:latin typeface="Aptos"/>
              </a:rPr>
              <a:t>sports_leisure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94560" y="2740914"/>
            <a:ext cx="4892040" cy="73152"/>
          </a:xfrm>
          <a:prstGeom prst="rect">
            <a:avLst/>
          </a:prstGeom>
          <a:solidFill>
            <a:srgbClr val="E8E2D7"/>
          </a:solidFill>
          <a:ln w="889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94560" y="2740914"/>
            <a:ext cx="3840189" cy="73152"/>
          </a:xfrm>
          <a:prstGeom prst="rect">
            <a:avLst/>
          </a:prstGeom>
          <a:solidFill>
            <a:srgbClr val="1C6F82"/>
          </a:solidFill>
          <a:ln w="8890">
            <a:solidFill>
              <a:srgbClr val="1C6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59" y="2686050"/>
            <a:ext cx="502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630" b="0">
                <a:solidFill>
                  <a:srgbClr val="56636C"/>
                </a:solidFill>
                <a:latin typeface="Aptos"/>
              </a:rPr>
              <a:t>1.0M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136392"/>
            <a:ext cx="1371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80" b="0">
                <a:solidFill>
                  <a:srgbClr val="11202A"/>
                </a:solidFill>
                <a:latin typeface="Aptos"/>
              </a:rPr>
              <a:t>computers_accessories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94560" y="3163824"/>
            <a:ext cx="4892040" cy="73152"/>
          </a:xfrm>
          <a:prstGeom prst="rect">
            <a:avLst/>
          </a:prstGeom>
          <a:solidFill>
            <a:srgbClr val="E8E2D7"/>
          </a:solidFill>
          <a:ln w="889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194560" y="3163824"/>
            <a:ext cx="3544437" cy="73152"/>
          </a:xfrm>
          <a:prstGeom prst="rect">
            <a:avLst/>
          </a:prstGeom>
          <a:solidFill>
            <a:srgbClr val="1C6F82"/>
          </a:solidFill>
          <a:ln w="8890">
            <a:solidFill>
              <a:srgbClr val="1C6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59" y="3108960"/>
            <a:ext cx="502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630" b="0">
                <a:solidFill>
                  <a:srgbClr val="56636C"/>
                </a:solidFill>
                <a:latin typeface="Aptos"/>
              </a:rPr>
              <a:t>0.9M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559301"/>
            <a:ext cx="1371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80" b="0">
                <a:solidFill>
                  <a:srgbClr val="11202A"/>
                </a:solidFill>
                <a:latin typeface="Aptos"/>
              </a:rPr>
              <a:t>furniture_decor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94560" y="3586734"/>
            <a:ext cx="4892040" cy="73152"/>
          </a:xfrm>
          <a:prstGeom prst="rect">
            <a:avLst/>
          </a:prstGeom>
          <a:solidFill>
            <a:srgbClr val="E8E2D7"/>
          </a:solidFill>
          <a:ln w="889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194560" y="3586734"/>
            <a:ext cx="2836323" cy="73152"/>
          </a:xfrm>
          <a:prstGeom prst="rect">
            <a:avLst/>
          </a:prstGeom>
          <a:solidFill>
            <a:srgbClr val="1C6F82"/>
          </a:solidFill>
          <a:ln w="8890">
            <a:solidFill>
              <a:srgbClr val="1C6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59" y="3531870"/>
            <a:ext cx="502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630" b="0">
                <a:solidFill>
                  <a:srgbClr val="56636C"/>
                </a:solidFill>
                <a:latin typeface="Aptos"/>
              </a:rPr>
              <a:t>0.7M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982212"/>
            <a:ext cx="1371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80" b="0">
                <a:solidFill>
                  <a:srgbClr val="11202A"/>
                </a:solidFill>
                <a:latin typeface="Aptos"/>
              </a:rPr>
              <a:t>cool_stuff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94560" y="4009644"/>
            <a:ext cx="4892040" cy="73152"/>
          </a:xfrm>
          <a:prstGeom prst="rect">
            <a:avLst/>
          </a:prstGeom>
          <a:solidFill>
            <a:srgbClr val="E8E2D7"/>
          </a:solidFill>
          <a:ln w="889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194560" y="4009644"/>
            <a:ext cx="2469146" cy="73152"/>
          </a:xfrm>
          <a:prstGeom prst="rect">
            <a:avLst/>
          </a:prstGeom>
          <a:solidFill>
            <a:srgbClr val="1C6F82"/>
          </a:solidFill>
          <a:ln w="8890">
            <a:solidFill>
              <a:srgbClr val="1C6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23759" y="3954780"/>
            <a:ext cx="502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630" b="0">
                <a:solidFill>
                  <a:srgbClr val="56636C"/>
                </a:solidFill>
                <a:latin typeface="Aptos"/>
              </a:rPr>
              <a:t>0.6M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405122"/>
            <a:ext cx="1371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80" b="0">
                <a:solidFill>
                  <a:srgbClr val="11202A"/>
                </a:solidFill>
                <a:latin typeface="Aptos"/>
              </a:rPr>
              <a:t>housewares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94560" y="4432554"/>
            <a:ext cx="4892040" cy="73152"/>
          </a:xfrm>
          <a:prstGeom prst="rect">
            <a:avLst/>
          </a:prstGeom>
          <a:solidFill>
            <a:srgbClr val="E8E2D7"/>
          </a:solidFill>
          <a:ln w="889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194560" y="4432554"/>
            <a:ext cx="2457322" cy="73152"/>
          </a:xfrm>
          <a:prstGeom prst="rect">
            <a:avLst/>
          </a:prstGeom>
          <a:solidFill>
            <a:srgbClr val="1C6F82"/>
          </a:solidFill>
          <a:ln w="8890">
            <a:solidFill>
              <a:srgbClr val="1C6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23759" y="4377690"/>
            <a:ext cx="502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630" b="0">
                <a:solidFill>
                  <a:srgbClr val="56636C"/>
                </a:solidFill>
                <a:latin typeface="Aptos"/>
              </a:rPr>
              <a:t>0.6M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1463040"/>
            <a:ext cx="2560320" cy="3337560"/>
          </a:xfrm>
          <a:prstGeom prst="rect">
            <a:avLst/>
          </a:prstGeom>
          <a:solidFill>
            <a:srgbClr val="FFFCF6"/>
          </a:solidFill>
          <a:ln w="8890">
            <a:solidFill>
              <a:srgbClr val="E2B0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9640" y="1783080"/>
            <a:ext cx="14630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CE8227"/>
                </a:solidFill>
                <a:latin typeface="Aptos"/>
              </a:rPr>
              <a:t>Decision use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49640" y="2240280"/>
            <a:ext cx="1874519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11202A"/>
                </a:solidFill>
                <a:latin typeface="Aptos"/>
              </a:rPr>
              <a:t>Prioritize seller support, stock readiness, fulfillment monitoring, and review follow-up in categories where demand is already proven.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9640" y="4069080"/>
            <a:ext cx="1828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56636C"/>
                </a:solidFill>
                <a:latin typeface="Aptos"/>
              </a:rPr>
              <a:t>The dashboard ranks biggest categories first.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6519672"/>
            <a:ext cx="5029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50" b="0">
                <a:solidFill>
                  <a:srgbClr val="96968C"/>
                </a:solidFill>
                <a:latin typeface="Aptos"/>
              </a:rPr>
              <a:t>Source: Olist Brazilian E-Commerce dataset; DuckDB/dbt warehouse marts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92840" y="6519672"/>
            <a:ext cx="3200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650">
                <a:solidFill>
                  <a:srgbClr val="96968C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25603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>
                <a:solidFill>
                  <a:srgbClr val="CE8227"/>
                </a:solidFill>
                <a:latin typeface="Aptos"/>
              </a:rPr>
              <a:t>FULFILLMENT FRICTION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7955279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1202A"/>
                </a:solidFill>
                <a:latin typeface="Aptos"/>
              </a:rPr>
              <a:t>Slow-delivery states turn logistics into seller-review and retention risk.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44752"/>
            <a:ext cx="1371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80" b="0">
                <a:solidFill>
                  <a:srgbClr val="11202A"/>
                </a:solidFill>
                <a:latin typeface="Aptos"/>
              </a:rPr>
              <a:t>AM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4560" y="1472184"/>
            <a:ext cx="3703320" cy="73152"/>
          </a:xfrm>
          <a:prstGeom prst="rect">
            <a:avLst/>
          </a:prstGeom>
          <a:solidFill>
            <a:srgbClr val="E8E2D7"/>
          </a:solidFill>
          <a:ln w="889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94560" y="1472184"/>
            <a:ext cx="3703320" cy="73152"/>
          </a:xfrm>
          <a:prstGeom prst="rect">
            <a:avLst/>
          </a:prstGeom>
          <a:solidFill>
            <a:srgbClr val="BE533D"/>
          </a:solidFill>
          <a:ln w="8890">
            <a:solidFill>
              <a:srgbClr val="BE5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0" y="1417320"/>
            <a:ext cx="502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630" b="0">
                <a:solidFill>
                  <a:srgbClr val="56636C"/>
                </a:solidFill>
                <a:latin typeface="Aptos"/>
              </a:rPr>
              <a:t>36.6d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61947"/>
            <a:ext cx="1371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80" b="0">
                <a:solidFill>
                  <a:srgbClr val="11202A"/>
                </a:solidFill>
                <a:latin typeface="Aptos"/>
              </a:rPr>
              <a:t>AL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1889379"/>
            <a:ext cx="3703320" cy="73152"/>
          </a:xfrm>
          <a:prstGeom prst="rect">
            <a:avLst/>
          </a:prstGeom>
          <a:solidFill>
            <a:srgbClr val="E8E2D7"/>
          </a:solidFill>
          <a:ln w="889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94560" y="1889379"/>
            <a:ext cx="2647203" cy="73152"/>
          </a:xfrm>
          <a:prstGeom prst="rect">
            <a:avLst/>
          </a:prstGeom>
          <a:solidFill>
            <a:srgbClr val="BE533D"/>
          </a:solidFill>
          <a:ln w="8890">
            <a:solidFill>
              <a:srgbClr val="BE5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1834515"/>
            <a:ext cx="502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630" b="0">
                <a:solidFill>
                  <a:srgbClr val="56636C"/>
                </a:solidFill>
                <a:latin typeface="Aptos"/>
              </a:rPr>
              <a:t>26.2d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279141"/>
            <a:ext cx="1371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80" b="0">
                <a:solidFill>
                  <a:srgbClr val="11202A"/>
                </a:solidFill>
                <a:latin typeface="Aptos"/>
              </a:rPr>
              <a:t>PA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94560" y="2306574"/>
            <a:ext cx="3703320" cy="73152"/>
          </a:xfrm>
          <a:prstGeom prst="rect">
            <a:avLst/>
          </a:prstGeom>
          <a:solidFill>
            <a:srgbClr val="E8E2D7"/>
          </a:solidFill>
          <a:ln w="889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94560" y="2306574"/>
            <a:ext cx="2425680" cy="73152"/>
          </a:xfrm>
          <a:prstGeom prst="rect">
            <a:avLst/>
          </a:prstGeom>
          <a:solidFill>
            <a:srgbClr val="BE533D"/>
          </a:solidFill>
          <a:ln w="8890">
            <a:solidFill>
              <a:srgbClr val="BE5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2251710"/>
            <a:ext cx="502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630" b="0">
                <a:solidFill>
                  <a:srgbClr val="56636C"/>
                </a:solidFill>
                <a:latin typeface="Aptos"/>
              </a:rPr>
              <a:t>24.0d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696337"/>
            <a:ext cx="1371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80" b="0">
                <a:solidFill>
                  <a:srgbClr val="11202A"/>
                </a:solidFill>
                <a:latin typeface="Aptos"/>
              </a:rPr>
              <a:t>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94560" y="2723769"/>
            <a:ext cx="3703320" cy="73152"/>
          </a:xfrm>
          <a:prstGeom prst="rect">
            <a:avLst/>
          </a:prstGeom>
          <a:solidFill>
            <a:srgbClr val="E8E2D7"/>
          </a:solidFill>
          <a:ln w="889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94560" y="2723769"/>
            <a:ext cx="2141272" cy="73152"/>
          </a:xfrm>
          <a:prstGeom prst="rect">
            <a:avLst/>
          </a:prstGeom>
          <a:solidFill>
            <a:srgbClr val="BE533D"/>
          </a:solidFill>
          <a:ln w="8890">
            <a:solidFill>
              <a:srgbClr val="BE5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2668905"/>
            <a:ext cx="502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630" b="0">
                <a:solidFill>
                  <a:srgbClr val="56636C"/>
                </a:solidFill>
                <a:latin typeface="Aptos"/>
              </a:rPr>
              <a:t>21.2d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113532"/>
            <a:ext cx="1371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80" b="0">
                <a:solidFill>
                  <a:srgbClr val="11202A"/>
                </a:solidFill>
                <a:latin typeface="Aptos"/>
              </a:rPr>
              <a:t>RO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94560" y="3140964"/>
            <a:ext cx="3703320" cy="73152"/>
          </a:xfrm>
          <a:prstGeom prst="rect">
            <a:avLst/>
          </a:prstGeom>
          <a:solidFill>
            <a:srgbClr val="E8E2D7"/>
          </a:solidFill>
          <a:ln w="889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194560" y="3140964"/>
            <a:ext cx="1942872" cy="73152"/>
          </a:xfrm>
          <a:prstGeom prst="rect">
            <a:avLst/>
          </a:prstGeom>
          <a:solidFill>
            <a:srgbClr val="BE533D"/>
          </a:solidFill>
          <a:ln w="8890">
            <a:solidFill>
              <a:srgbClr val="BE5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3086100"/>
            <a:ext cx="502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630" b="0">
                <a:solidFill>
                  <a:srgbClr val="56636C"/>
                </a:solidFill>
                <a:latin typeface="Aptos"/>
              </a:rPr>
              <a:t>19.2d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530726"/>
            <a:ext cx="1371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80" b="0">
                <a:solidFill>
                  <a:srgbClr val="11202A"/>
                </a:solidFill>
                <a:latin typeface="Aptos"/>
              </a:rPr>
              <a:t>PB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94560" y="3558159"/>
            <a:ext cx="3703320" cy="73152"/>
          </a:xfrm>
          <a:prstGeom prst="rect">
            <a:avLst/>
          </a:prstGeom>
          <a:solidFill>
            <a:srgbClr val="E8E2D7"/>
          </a:solidFill>
          <a:ln w="889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194560" y="3558159"/>
            <a:ext cx="1905431" cy="73152"/>
          </a:xfrm>
          <a:prstGeom prst="rect">
            <a:avLst/>
          </a:prstGeom>
          <a:solidFill>
            <a:srgbClr val="BE533D"/>
          </a:solidFill>
          <a:ln w="8890">
            <a:solidFill>
              <a:srgbClr val="BE5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3503295"/>
            <a:ext cx="502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630" b="0">
                <a:solidFill>
                  <a:srgbClr val="56636C"/>
                </a:solidFill>
                <a:latin typeface="Aptos"/>
              </a:rPr>
              <a:t>18.9d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947922"/>
            <a:ext cx="1371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80" b="0">
                <a:solidFill>
                  <a:srgbClr val="11202A"/>
                </a:solidFill>
                <a:latin typeface="Aptos"/>
              </a:rPr>
              <a:t>MA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94560" y="3975353"/>
            <a:ext cx="3703320" cy="73152"/>
          </a:xfrm>
          <a:prstGeom prst="rect">
            <a:avLst/>
          </a:prstGeom>
          <a:solidFill>
            <a:srgbClr val="E8E2D7"/>
          </a:solidFill>
          <a:ln w="889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194560" y="3975353"/>
            <a:ext cx="1886697" cy="73152"/>
          </a:xfrm>
          <a:prstGeom prst="rect">
            <a:avLst/>
          </a:prstGeom>
          <a:solidFill>
            <a:srgbClr val="BE533D"/>
          </a:solidFill>
          <a:ln w="8890">
            <a:solidFill>
              <a:srgbClr val="BE5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0" y="3920489"/>
            <a:ext cx="502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630" b="0">
                <a:solidFill>
                  <a:srgbClr val="56636C"/>
                </a:solidFill>
                <a:latin typeface="Aptos"/>
              </a:rPr>
              <a:t>18.7d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365117"/>
            <a:ext cx="1371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80" b="0">
                <a:solidFill>
                  <a:srgbClr val="11202A"/>
                </a:solidFill>
                <a:latin typeface="Aptos"/>
              </a:rPr>
              <a:t>MT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94560" y="4392549"/>
            <a:ext cx="3703320" cy="73152"/>
          </a:xfrm>
          <a:prstGeom prst="rect">
            <a:avLst/>
          </a:prstGeom>
          <a:solidFill>
            <a:srgbClr val="E8E2D7"/>
          </a:solidFill>
          <a:ln w="889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194560" y="4392549"/>
            <a:ext cx="1834593" cy="73152"/>
          </a:xfrm>
          <a:prstGeom prst="rect">
            <a:avLst/>
          </a:prstGeom>
          <a:solidFill>
            <a:srgbClr val="BE533D"/>
          </a:solidFill>
          <a:ln w="8890">
            <a:solidFill>
              <a:srgbClr val="BE5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0" y="4337685"/>
            <a:ext cx="502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630" b="0">
                <a:solidFill>
                  <a:srgbClr val="56636C"/>
                </a:solidFill>
                <a:latin typeface="Aptos"/>
              </a:rPr>
              <a:t>18.2d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06640" y="1508760"/>
            <a:ext cx="2926080" cy="3154680"/>
          </a:xfrm>
          <a:prstGeom prst="rect">
            <a:avLst/>
          </a:prstGeom>
          <a:solidFill>
            <a:srgbClr val="0F1B24"/>
          </a:solidFill>
          <a:ln w="8890">
            <a:solidFill>
              <a:srgbClr val="0F1B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26679" y="1874519"/>
            <a:ext cx="16459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CE8227"/>
                </a:solidFill>
                <a:latin typeface="Aptos"/>
              </a:rPr>
              <a:t>Decision implication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26679" y="2331720"/>
            <a:ext cx="2057400" cy="1143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Use dashboard friction signals to fix carrier paths, seller location mix, and estimated-date accuracy before pushing growth into weak corridors.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5074920"/>
            <a:ext cx="65836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56636C"/>
                </a:solidFill>
                <a:latin typeface="Aptos"/>
              </a:rPr>
              <a:t>States shown have at least 100 orders; delivery friction should be read as an operating risk for seller experience.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6519672"/>
            <a:ext cx="5029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50" b="0">
                <a:solidFill>
                  <a:srgbClr val="96968C"/>
                </a:solidFill>
                <a:latin typeface="Aptos"/>
              </a:rPr>
              <a:t>Source: Olist Brazilian E-Commerce dataset; DuckDB/dbt warehouse marts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92840" y="6519672"/>
            <a:ext cx="3200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650">
                <a:solidFill>
                  <a:srgbClr val="96968C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25603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>
                <a:solidFill>
                  <a:srgbClr val="CE8227"/>
                </a:solidFill>
                <a:latin typeface="Aptos"/>
              </a:rPr>
              <a:t>OPERATING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7955279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1202A"/>
                </a:solidFill>
                <a:latin typeface="Aptos"/>
              </a:rPr>
              <a:t>The dashboard turns the warehouse into a recurring seller review system.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00200"/>
            <a:ext cx="4389120" cy="1234440"/>
          </a:xfrm>
          <a:prstGeom prst="rect">
            <a:avLst/>
          </a:prstGeom>
          <a:solidFill>
            <a:srgbClr val="E8F3F6"/>
          </a:solidFill>
          <a:ln w="8890">
            <a:solidFill>
              <a:srgbClr val="9E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371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1C6F82"/>
                </a:solidFill>
                <a:latin typeface="Aptos"/>
              </a:rPr>
              <a:t>Growth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67128"/>
            <a:ext cx="2926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11202A"/>
                </a:solidFill>
                <a:latin typeface="Aptos"/>
              </a:rPr>
              <a:t>GMV, orders, active sellers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33832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56636C"/>
                </a:solidFill>
                <a:latin typeface="Aptos"/>
              </a:rPr>
              <a:t>Exclude partial month from trend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1600200"/>
            <a:ext cx="4389120" cy="1234440"/>
          </a:xfrm>
          <a:prstGeom prst="rect">
            <a:avLst/>
          </a:prstGeom>
          <a:solidFill>
            <a:srgbClr val="FFFCF6"/>
          </a:solidFill>
          <a:ln w="8890">
            <a:solidFill>
              <a:srgbClr val="9E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828800"/>
            <a:ext cx="1371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1C6F82"/>
                </a:solidFill>
                <a:latin typeface="Aptos"/>
              </a:rPr>
              <a:t>Seller health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167128"/>
            <a:ext cx="2926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11202A"/>
                </a:solidFill>
                <a:latin typeface="Aptos"/>
              </a:rPr>
              <a:t>Protect / grow / fix / activate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468880"/>
            <a:ext cx="33832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56636C"/>
                </a:solidFill>
                <a:latin typeface="Aptos"/>
              </a:rPr>
              <a:t>Prioritize account actions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4389120" cy="1234440"/>
          </a:xfrm>
          <a:prstGeom prst="rect">
            <a:avLst/>
          </a:prstGeom>
          <a:solidFill>
            <a:srgbClr val="E8F3F6"/>
          </a:solidFill>
          <a:ln w="8890">
            <a:solidFill>
              <a:srgbClr val="9E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703320"/>
            <a:ext cx="1371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1C6F82"/>
                </a:solidFill>
                <a:latin typeface="Aptos"/>
              </a:rPr>
              <a:t>Categories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041648"/>
            <a:ext cx="2926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11202A"/>
                </a:solidFill>
                <a:latin typeface="Aptos"/>
              </a:rPr>
              <a:t>Demand and seller productivity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343400"/>
            <a:ext cx="33832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56636C"/>
                </a:solidFill>
                <a:latin typeface="Aptos"/>
              </a:rPr>
              <a:t>Guide assortment and support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3474720"/>
            <a:ext cx="4389120" cy="1234440"/>
          </a:xfrm>
          <a:prstGeom prst="rect">
            <a:avLst/>
          </a:prstGeom>
          <a:solidFill>
            <a:srgbClr val="FFFCF6"/>
          </a:solidFill>
          <a:ln w="8890">
            <a:solidFill>
              <a:srgbClr val="9E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3703320"/>
            <a:ext cx="1371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1C6F82"/>
                </a:solidFill>
                <a:latin typeface="Aptos"/>
              </a:rPr>
              <a:t>Fulfillment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041648"/>
            <a:ext cx="2926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11202A"/>
                </a:solidFill>
                <a:latin typeface="Aptos"/>
              </a:rPr>
              <a:t>Delivery time and late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343400"/>
            <a:ext cx="33832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56636C"/>
                </a:solidFill>
                <a:latin typeface="Aptos"/>
              </a:rPr>
              <a:t>Target logistics friction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519672"/>
            <a:ext cx="5029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50" b="0">
                <a:solidFill>
                  <a:srgbClr val="96968C"/>
                </a:solidFill>
                <a:latin typeface="Aptos"/>
              </a:rPr>
              <a:t>Source: Olist Brazilian E-Commerce dataset; DuckDB/dbt warehouse marts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519672"/>
            <a:ext cx="3200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650">
                <a:solidFill>
                  <a:srgbClr val="96968C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25603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>
                <a:solidFill>
                  <a:srgbClr val="CE8227"/>
                </a:solidFill>
                <a:latin typeface="Aptos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7955279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1202A"/>
                </a:solidFill>
                <a:latin typeface="Aptos"/>
              </a:rPr>
              <a:t>The next phase should connect seller activity to economics and action ownership.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2057400" cy="2103120"/>
          </a:xfrm>
          <a:prstGeom prst="rect">
            <a:avLst/>
          </a:prstGeom>
          <a:solidFill>
            <a:srgbClr val="E8F3F6"/>
          </a:solidFill>
          <a:ln w="8890">
            <a:solidFill>
              <a:srgbClr val="9E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2057400"/>
            <a:ext cx="3657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650">
                <a:solidFill>
                  <a:srgbClr val="96968C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514600"/>
            <a:ext cx="13716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11202A"/>
                </a:solidFill>
                <a:latin typeface="Aptos"/>
              </a:rPr>
              <a:t>Stabilize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971800"/>
            <a:ext cx="1508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>
                <a:solidFill>
                  <a:srgbClr val="56636C"/>
                </a:solidFill>
                <a:latin typeface="Aptos"/>
              </a:rPr>
              <a:t>Keep GMV, GTV, and payment value distinct.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828800"/>
            <a:ext cx="2057400" cy="2103120"/>
          </a:xfrm>
          <a:prstGeom prst="rect">
            <a:avLst/>
          </a:prstGeom>
          <a:solidFill>
            <a:srgbClr val="FFFCF6"/>
          </a:solidFill>
          <a:ln w="8890">
            <a:solidFill>
              <a:srgbClr val="9E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75887" y="2057400"/>
            <a:ext cx="3657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650">
                <a:solidFill>
                  <a:srgbClr val="96968C"/>
                </a:solidFill>
                <a:latin typeface="Aptos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75887" y="2514600"/>
            <a:ext cx="13716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11202A"/>
                </a:solidFill>
                <a:latin typeface="Aptos"/>
              </a:rPr>
              <a:t>Automate refresh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5887" y="2971800"/>
            <a:ext cx="1508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>
                <a:solidFill>
                  <a:srgbClr val="56636C"/>
                </a:solidFill>
                <a:latin typeface="Aptos"/>
              </a:rPr>
              <a:t>Run Dagster assets for load, dbt, checks, dashboard readiness.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2057400" cy="2103120"/>
          </a:xfrm>
          <a:prstGeom prst="rect">
            <a:avLst/>
          </a:prstGeom>
          <a:solidFill>
            <a:srgbClr val="E8F3F6"/>
          </a:solidFill>
          <a:ln w="8890">
            <a:solidFill>
              <a:srgbClr val="9E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2057400"/>
            <a:ext cx="3657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650">
                <a:solidFill>
                  <a:srgbClr val="96968C"/>
                </a:solidFill>
                <a:latin typeface="Aptos"/>
              </a:rP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514600"/>
            <a:ext cx="13716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11202A"/>
                </a:solidFill>
                <a:latin typeface="Aptos"/>
              </a:rPr>
              <a:t>Assign owners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971800"/>
            <a:ext cx="1508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>
                <a:solidFill>
                  <a:srgbClr val="56636C"/>
                </a:solidFill>
                <a:latin typeface="Aptos"/>
              </a:rPr>
              <a:t>Route protect, grow, fix, activate lists to seller teams.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0" y="1828800"/>
            <a:ext cx="2057400" cy="2103120"/>
          </a:xfrm>
          <a:prstGeom prst="rect">
            <a:avLst/>
          </a:prstGeom>
          <a:solidFill>
            <a:srgbClr val="FFFCF6"/>
          </a:solidFill>
          <a:ln w="8890">
            <a:solidFill>
              <a:srgbClr val="9E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62288" y="2057400"/>
            <a:ext cx="3657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650">
                <a:solidFill>
                  <a:srgbClr val="96968C"/>
                </a:solidFill>
                <a:latin typeface="Aptos"/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62288" y="2514600"/>
            <a:ext cx="13716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11202A"/>
                </a:solidFill>
                <a:latin typeface="Aptos"/>
              </a:rPr>
              <a:t>Add economics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62288" y="2971800"/>
            <a:ext cx="1508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>
                <a:solidFill>
                  <a:srgbClr val="56636C"/>
                </a:solidFill>
                <a:latin typeface="Aptos"/>
              </a:rPr>
              <a:t>Bring in take rate, SaaS revenue, margin, CAC, LTV.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074920"/>
            <a:ext cx="86868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11202A"/>
                </a:solidFill>
                <a:latin typeface="Aptos"/>
              </a:rPr>
              <a:t>Outcome: a repeatable seller-focused decision system, not a one-time assignment analysis.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519672"/>
            <a:ext cx="5029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50" b="0">
                <a:solidFill>
                  <a:srgbClr val="96968C"/>
                </a:solidFill>
                <a:latin typeface="Aptos"/>
              </a:rPr>
              <a:t>Source: Olist Brazilian E-Commerce dataset; DuckDB/dbt warehouse marts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519672"/>
            <a:ext cx="3200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650">
                <a:solidFill>
                  <a:srgbClr val="96968C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75488"/>
            <a:ext cx="14630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CE8227"/>
                </a:solidFill>
                <a:latin typeface="Aptos"/>
              </a:rPr>
              <a:t>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6583680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The project now lands as both a technical build and a business operating story.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487168"/>
            <a:ext cx="649224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D2DADC"/>
                </a:solidFill>
                <a:latin typeface="Aptos"/>
              </a:rPr>
              <a:t>Decision makers get seller actions. Data specialists can trace the build through raw load, dbt models, tests, Dagster assets, and dashboard marts.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343400"/>
            <a:ext cx="1554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3,095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690872"/>
            <a:ext cx="16459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1">
                <a:solidFill>
                  <a:srgbClr val="E6AA50"/>
                </a:solidFill>
                <a:latin typeface="Aptos"/>
              </a:rPr>
              <a:t>sellers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937760"/>
            <a:ext cx="1828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50" b="0">
                <a:solidFill>
                  <a:srgbClr val="BEC6C8"/>
                </a:solidFill>
                <a:latin typeface="Aptos"/>
              </a:rPr>
              <a:t>merchant base visible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4343400"/>
            <a:ext cx="1554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38 + 15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4690872"/>
            <a:ext cx="16459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1">
                <a:solidFill>
                  <a:srgbClr val="E6AA50"/>
                </a:solidFill>
                <a:latin typeface="Aptos"/>
              </a:rPr>
              <a:t>checks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4937760"/>
            <a:ext cx="1828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50" b="0">
                <a:solidFill>
                  <a:srgbClr val="BEC6C8"/>
                </a:solidFill>
                <a:latin typeface="Aptos"/>
              </a:rPr>
              <a:t>dbt and SQL passed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4343400"/>
            <a:ext cx="1554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650">
                <a:solidFill>
                  <a:srgbClr val="96968C"/>
                </a:solidFill>
                <a:latin typeface="Aptos"/>
              </a:rP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4690872"/>
            <a:ext cx="16459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1">
                <a:solidFill>
                  <a:srgbClr val="E6AA50"/>
                </a:solidFill>
                <a:latin typeface="Aptos"/>
              </a:rPr>
              <a:t>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4937760"/>
            <a:ext cx="1828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50" b="0">
                <a:solidFill>
                  <a:srgbClr val="BEC6C8"/>
                </a:solidFill>
                <a:latin typeface="Aptos"/>
              </a:rPr>
              <a:t>protect, grow, fix, activate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5806440"/>
            <a:ext cx="10972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CE8227"/>
                </a:solidFill>
                <a:latin typeface="Aptos"/>
              </a:rPr>
              <a:t>Q&amp;A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519672"/>
            <a:ext cx="5029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50" b="0">
                <a:solidFill>
                  <a:srgbClr val="B9BEBE"/>
                </a:solidFill>
                <a:latin typeface="Aptos"/>
              </a:rPr>
              <a:t>Source: Olist Brazilian E-Commerce dataset; DuckDB/dbt warehouse marts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519672"/>
            <a:ext cx="3200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650">
                <a:solidFill>
                  <a:srgbClr val="96968C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26517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>
                <a:solidFill>
                  <a:srgbClr val="CE8227"/>
                </a:solidFill>
                <a:latin typeface="Aptos"/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868680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1202A"/>
                </a:solidFill>
                <a:latin typeface="Aptos"/>
              </a:rPr>
              <a:t>Olist monetizes seller enablement; the dataset captures early marketplace scale formation.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874519"/>
            <a:ext cx="1691640" cy="1234440"/>
          </a:xfrm>
          <a:prstGeom prst="rect">
            <a:avLst/>
          </a:prstGeom>
          <a:solidFill>
            <a:srgbClr val="FFFCF6"/>
          </a:solidFill>
          <a:ln w="8890">
            <a:solidFill>
              <a:srgbClr val="9E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2104" y="2121408"/>
            <a:ext cx="12344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1C6F82"/>
                </a:solidFill>
                <a:latin typeface="Aptos"/>
              </a:rPr>
              <a:t>SME sellers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2487168"/>
            <a:ext cx="132588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80" b="0">
                <a:solidFill>
                  <a:srgbClr val="56636C"/>
                </a:solidFill>
                <a:latin typeface="Aptos"/>
              </a:rPr>
              <a:t>need reach, tools, logistics, finance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77440" y="2487168"/>
            <a:ext cx="640080" cy="0"/>
          </a:xfrm>
          <a:prstGeom prst="line">
            <a:avLst/>
          </a:prstGeom>
          <a:ln w="20320">
            <a:solidFill>
              <a:srgbClr val="1C6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017520" y="1874519"/>
            <a:ext cx="1691640" cy="1234440"/>
          </a:xfrm>
          <a:prstGeom prst="rect">
            <a:avLst/>
          </a:prstGeom>
          <a:solidFill>
            <a:srgbClr val="E8F3F6"/>
          </a:solidFill>
          <a:ln w="8890">
            <a:solidFill>
              <a:srgbClr val="9E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63824" y="2121408"/>
            <a:ext cx="12344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1C6F82"/>
                </a:solidFill>
                <a:latin typeface="Aptos"/>
              </a:rPr>
              <a:t>Olist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3824" y="2487168"/>
            <a:ext cx="132588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80" b="0">
                <a:solidFill>
                  <a:srgbClr val="56636C"/>
                </a:solidFill>
                <a:latin typeface="Aptos"/>
              </a:rPr>
              <a:t>operating layer for seller success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09160" y="2487168"/>
            <a:ext cx="640080" cy="0"/>
          </a:xfrm>
          <a:prstGeom prst="line">
            <a:avLst/>
          </a:prstGeom>
          <a:ln w="20320">
            <a:solidFill>
              <a:srgbClr val="1C6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349240" y="1874519"/>
            <a:ext cx="1691640" cy="1234440"/>
          </a:xfrm>
          <a:prstGeom prst="rect">
            <a:avLst/>
          </a:prstGeom>
          <a:solidFill>
            <a:srgbClr val="FFFCF6"/>
          </a:solidFill>
          <a:ln w="8890">
            <a:solidFill>
              <a:srgbClr val="9E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95544" y="2121408"/>
            <a:ext cx="12344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1C6F82"/>
                </a:solidFill>
                <a:latin typeface="Aptos"/>
              </a:rPr>
              <a:t>Marketplaces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95544" y="2487168"/>
            <a:ext cx="132588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80" b="0">
                <a:solidFill>
                  <a:srgbClr val="56636C"/>
                </a:solidFill>
                <a:latin typeface="Aptos"/>
              </a:rPr>
              <a:t>distribution and buyer demand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40879" y="2487168"/>
            <a:ext cx="640080" cy="0"/>
          </a:xfrm>
          <a:prstGeom prst="line">
            <a:avLst/>
          </a:prstGeom>
          <a:ln w="20320">
            <a:solidFill>
              <a:srgbClr val="1C6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680959" y="1874519"/>
            <a:ext cx="1691640" cy="1234440"/>
          </a:xfrm>
          <a:prstGeom prst="rect">
            <a:avLst/>
          </a:prstGeom>
          <a:solidFill>
            <a:srgbClr val="FFFCF6"/>
          </a:solidFill>
          <a:ln w="8890">
            <a:solidFill>
              <a:srgbClr val="9E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27263" y="2121408"/>
            <a:ext cx="12344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1C6F82"/>
                </a:solidFill>
                <a:latin typeface="Aptos"/>
              </a:rPr>
              <a:t>End buyers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27263" y="2487168"/>
            <a:ext cx="132588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80" b="0">
                <a:solidFill>
                  <a:srgbClr val="56636C"/>
                </a:solidFill>
                <a:latin typeface="Aptos"/>
              </a:rPr>
              <a:t>orders, reviews, delivery signals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886200"/>
            <a:ext cx="4526280" cy="1463040"/>
          </a:xfrm>
          <a:prstGeom prst="rect">
            <a:avLst/>
          </a:prstGeom>
          <a:solidFill>
            <a:srgbClr val="FFFCF6"/>
          </a:solidFill>
          <a:ln w="8890">
            <a:solidFill>
              <a:srgbClr val="DB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160520"/>
            <a:ext cx="17373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CE8227"/>
                </a:solidFill>
                <a:latin typeface="Aptos"/>
              </a:rPr>
              <a:t>Business logic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526280"/>
            <a:ext cx="3749039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11202A"/>
                </a:solidFill>
                <a:latin typeface="Aptos"/>
              </a:rPr>
              <a:t>Seller activity is the bridge to monetization: services, software, logistics, financial products, and marketplace access.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97880" y="3886200"/>
            <a:ext cx="4526280" cy="1463040"/>
          </a:xfrm>
          <a:prstGeom prst="rect">
            <a:avLst/>
          </a:prstGeom>
          <a:solidFill>
            <a:srgbClr val="FFFCF6"/>
          </a:solidFill>
          <a:ln w="8890">
            <a:solidFill>
              <a:srgbClr val="DB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4160520"/>
            <a:ext cx="17373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CE8227"/>
                </a:solidFill>
                <a:latin typeface="Aptos"/>
              </a:rPr>
              <a:t>Dataset read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4526280"/>
            <a:ext cx="3749039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11202A"/>
                </a:solidFill>
                <a:latin typeface="Aptos"/>
              </a:rPr>
              <a:t>The public file covers roughly Sep 2016 to Sep 2018: an early observed two-year window where the platform reached critical GMV volume.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650992"/>
            <a:ext cx="1554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CE8227"/>
                </a:solidFill>
                <a:latin typeface="Aptos"/>
              </a:rPr>
              <a:t>13.59M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998464"/>
            <a:ext cx="17373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1">
                <a:solidFill>
                  <a:srgbClr val="CE8227"/>
                </a:solidFill>
                <a:latin typeface="Aptos"/>
              </a:rPr>
              <a:t>product GMV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6245352"/>
            <a:ext cx="1874519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50" b="0">
                <a:solidFill>
                  <a:srgbClr val="56636C"/>
                </a:solidFill>
                <a:latin typeface="Aptos"/>
              </a:rPr>
              <a:t>marketplace activity signal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360" y="5650992"/>
            <a:ext cx="1554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CE8227"/>
                </a:solidFill>
                <a:latin typeface="Aptos"/>
              </a:rPr>
              <a:t>98.7K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80360" y="5998464"/>
            <a:ext cx="17373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1">
                <a:solidFill>
                  <a:srgbClr val="CE8227"/>
                </a:solidFill>
                <a:latin typeface="Aptos"/>
              </a:rPr>
              <a:t>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0360" y="6245352"/>
            <a:ext cx="1874519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50" b="0">
                <a:solidFill>
                  <a:srgbClr val="56636C"/>
                </a:solidFill>
                <a:latin typeface="Aptos"/>
              </a:rPr>
              <a:t>transaction base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40" y="5650992"/>
            <a:ext cx="1554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CE8227"/>
                </a:solidFill>
                <a:latin typeface="Aptos"/>
              </a:rPr>
              <a:t>3,095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5998464"/>
            <a:ext cx="17373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1">
                <a:solidFill>
                  <a:srgbClr val="CE8227"/>
                </a:solidFill>
                <a:latin typeface="Aptos"/>
              </a:rPr>
              <a:t>sellers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6245352"/>
            <a:ext cx="1874519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50" b="0">
                <a:solidFill>
                  <a:srgbClr val="56636C"/>
                </a:solidFill>
                <a:latin typeface="Aptos"/>
              </a:rPr>
              <a:t>merchant supply base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5705856"/>
            <a:ext cx="29718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11202A"/>
                </a:solidFill>
                <a:latin typeface="Aptos"/>
              </a:rPr>
              <a:t>This is why GMV and seller health are better strategic signals than buyer orders alone.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519672"/>
            <a:ext cx="5029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50" b="0">
                <a:solidFill>
                  <a:srgbClr val="96968C"/>
                </a:solidFill>
                <a:latin typeface="Aptos"/>
              </a:rPr>
              <a:t>Source: Olist Brazilian E-Commerce dataset; DuckDB/dbt warehouse marts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92840" y="6519672"/>
            <a:ext cx="3200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650">
                <a:solidFill>
                  <a:srgbClr val="96968C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