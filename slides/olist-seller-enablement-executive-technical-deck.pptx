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01" d="100"/>
          <a:sy n="101" d="100"/>
        </p:scale>
        <p:origin x="87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D2229427-5F1B-4A02-9928-A1FC4D40319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2B8BFFBD-88A9-47A3-9B2B-46CD3982D67E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5334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OLIST SELLER ENABLEMENT ANALYTICS WAREHOUSE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8CC071-0822-410E-9FBD-BCC64C2AFA76}"/>
              </a:ext>
            </a:extLst>
          </p:cNvPr>
          <p:cNvSpPr>
            <a:spLocks noGrp="1"/>
          </p:cNvSpPr>
          <p:nvPr/>
        </p:nvSpPr>
        <p:spPr>
          <a:xfrm>
            <a:off x="685800" y="1123950"/>
            <a:ext cx="7905750" cy="1428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1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1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 validated warehouse shows how seller success, GMV, and fulfillment reliability drive platform value.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FF21F1-746D-4B36-A1F3-76C397EB5B9F}"/>
              </a:ext>
            </a:extLst>
          </p:cNvPr>
          <p:cNvSpPr>
            <a:spLocks noGrp="1"/>
          </p:cNvSpPr>
          <p:nvPr/>
        </p:nvSpPr>
        <p:spPr>
          <a:xfrm>
            <a:off x="704850" y="2857500"/>
            <a:ext cx="6477000" cy="552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The dataset is transaction-centric, but the business model is seller-centric: Olist wins by helping merchants grow and stay.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2273D88-28AD-44AA-BAB4-D2BC1591F4A2}"/>
              </a:ext>
            </a:extLst>
          </p:cNvPr>
          <p:cNvSpPr>
            <a:spLocks noGrp="1"/>
          </p:cNvSpPr>
          <p:nvPr/>
        </p:nvSpPr>
        <p:spPr>
          <a:xfrm>
            <a:off x="7048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98.7K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98BFEE4-7992-4374-AF05-E85825DD6C88}"/>
              </a:ext>
            </a:extLst>
          </p:cNvPr>
          <p:cNvSpPr>
            <a:spLocks noGrp="1"/>
          </p:cNvSpPr>
          <p:nvPr/>
        </p:nvSpPr>
        <p:spPr>
          <a:xfrm>
            <a:off x="7048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orders with items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E40DC0-CC5E-48F4-84F3-1739EEA11C87}"/>
              </a:ext>
            </a:extLst>
          </p:cNvPr>
          <p:cNvSpPr>
            <a:spLocks noGrp="1"/>
          </p:cNvSpPr>
          <p:nvPr/>
        </p:nvSpPr>
        <p:spPr>
          <a:xfrm>
            <a:off x="7048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transaction base modeled at order-item grain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CAABA32-50C4-43A1-A28F-A3A913043E7E}"/>
              </a:ext>
            </a:extLst>
          </p:cNvPr>
          <p:cNvSpPr>
            <a:spLocks noGrp="1"/>
          </p:cNvSpPr>
          <p:nvPr/>
        </p:nvSpPr>
        <p:spPr>
          <a:xfrm>
            <a:off x="29146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15.84M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159A285-3123-4016-8586-02FD41AEF34D}"/>
              </a:ext>
            </a:extLst>
          </p:cNvPr>
          <p:cNvSpPr>
            <a:spLocks noGrp="1"/>
          </p:cNvSpPr>
          <p:nvPr/>
        </p:nvSpPr>
        <p:spPr>
          <a:xfrm>
            <a:off x="29146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product GMV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BFE7B70-CD54-413B-A8BB-17135D06140D}"/>
              </a:ext>
            </a:extLst>
          </p:cNvPr>
          <p:cNvSpPr>
            <a:spLocks noGrp="1"/>
          </p:cNvSpPr>
          <p:nvPr/>
        </p:nvSpPr>
        <p:spPr>
          <a:xfrm>
            <a:off x="29146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item price; GMV-style activity, not Olist revenue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E617C7-1A6D-46A3-829D-487C7AA27639}"/>
              </a:ext>
            </a:extLst>
          </p:cNvPr>
          <p:cNvSpPr>
            <a:spLocks noGrp="1"/>
          </p:cNvSpPr>
          <p:nvPr/>
        </p:nvSpPr>
        <p:spPr>
          <a:xfrm>
            <a:off x="5124450" y="417195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4.03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B5E501-B949-4EA5-B0DD-092B8A19C509}"/>
              </a:ext>
            </a:extLst>
          </p:cNvPr>
          <p:cNvSpPr>
            <a:spLocks noGrp="1"/>
          </p:cNvSpPr>
          <p:nvPr/>
        </p:nvSpPr>
        <p:spPr>
          <a:xfrm>
            <a:off x="5124450" y="46101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avg review score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E9BA21-BB75-489C-8F09-1F51268B83FE}"/>
              </a:ext>
            </a:extLst>
          </p:cNvPr>
          <p:cNvSpPr>
            <a:spLocks noGrp="1"/>
          </p:cNvSpPr>
          <p:nvPr/>
        </p:nvSpPr>
        <p:spPr>
          <a:xfrm>
            <a:off x="5124450" y="483870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reviews linked into sales fact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B69B04-92EA-42C0-8E1F-138D030FC258}"/>
              </a:ext>
            </a:extLst>
          </p:cNvPr>
          <p:cNvSpPr>
            <a:spLocks noGrp="1"/>
          </p:cNvSpPr>
          <p:nvPr/>
        </p:nvSpPr>
        <p:spPr>
          <a:xfrm>
            <a:off x="8382000" y="876300"/>
            <a:ext cx="2476500" cy="4476750"/>
          </a:xfrm>
          <a:prstGeom prst="rect">
            <a:avLst/>
          </a:prstGeom>
          <a:solidFill>
            <a:srgbClr val="17384A"/>
          </a:solidFill>
          <a:ln w="9525">
            <a:solidFill>
              <a:srgbClr val="386074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DD9201A-717F-4A8F-8A5D-5CFEEB2F6E8A}"/>
              </a:ext>
            </a:extLst>
          </p:cNvPr>
          <p:cNvSpPr>
            <a:spLocks noGrp="1"/>
          </p:cNvSpPr>
          <p:nvPr/>
        </p:nvSpPr>
        <p:spPr>
          <a:xfrm>
            <a:off x="8715375" y="1219200"/>
            <a:ext cx="180975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Business thesis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3F1CC9-E3EE-42F4-84A4-DD6DBC98695F}"/>
              </a:ext>
            </a:extLst>
          </p:cNvPr>
          <p:cNvSpPr>
            <a:spLocks noGrp="1"/>
          </p:cNvSpPr>
          <p:nvPr/>
        </p:nvSpPr>
        <p:spPr>
          <a:xfrm>
            <a:off x="8715375" y="1695450"/>
            <a:ext cx="169545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Strong demand and satisfaction matter, but the strategic unlock is seller retention, productivity, and logistics reliability.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36DFA59-CF14-41A5-863D-9F4B88875062}"/>
              </a:ext>
            </a:extLst>
          </p:cNvPr>
          <p:cNvSpPr>
            <a:spLocks noGrp="1"/>
          </p:cNvSpPr>
          <p:nvPr/>
        </p:nvSpPr>
        <p:spPr>
          <a:xfrm>
            <a:off x="8715375" y="3829050"/>
            <a:ext cx="1714500" cy="4000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Dataset period: Sep 2016 to Sep 2018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FA6DFF3-B9B1-45D9-BFA8-C73E607AA124}"/>
              </a:ext>
            </a:extLst>
          </p:cNvPr>
          <p:cNvSpPr>
            <a:spLocks noGrp="1"/>
          </p:cNvSpPr>
          <p:nvPr/>
        </p:nvSpPr>
        <p:spPr>
          <a:xfrm>
            <a:off x="8715375" y="4362450"/>
            <a:ext cx="17145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C7D3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C7D3D8"/>
                </a:solidFill>
                <a:latin typeface="Aptos"/>
                <a:ea typeface="Aptos"/>
                <a:cs typeface="Aptos"/>
              </a:rPr>
              <a:t>DuckDB star schema: customer, product, seller, date, sales fact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1293259-F879-4D52-B3C7-94A59C45798B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346620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E9F519B8-53B2-40F9-9C33-6DAFD789B83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96EA875-C882-4B0B-94D3-171542A440EC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02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69A1C1F-1808-498C-A1EC-B178E2BB3CB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4810B520-29C5-4F52-9549-6B609701F119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4378537-DFD5-41CD-9CEB-ECF0C063466A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EXECUTIVE READOUT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5883C2-E01A-474A-97FB-61BE84D5023F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Olist should be read as a seller enablement platform, not a direct retailer.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3346A01-1C41-4A89-8121-F93EAE005011}"/>
              </a:ext>
            </a:extLst>
          </p:cNvPr>
          <p:cNvSpPr>
            <a:spLocks noGrp="1"/>
          </p:cNvSpPr>
          <p:nvPr/>
        </p:nvSpPr>
        <p:spPr>
          <a:xfrm>
            <a:off x="7429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3,095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170F2-27C5-416B-A300-E2478F50028E}"/>
              </a:ext>
            </a:extLst>
          </p:cNvPr>
          <p:cNvSpPr>
            <a:spLocks noGrp="1"/>
          </p:cNvSpPr>
          <p:nvPr/>
        </p:nvSpPr>
        <p:spPr>
          <a:xfrm>
            <a:off x="7429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active sellers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113DD5-9CF3-43FA-8D83-B4389C54D0F2}"/>
              </a:ext>
            </a:extLst>
          </p:cNvPr>
          <p:cNvSpPr>
            <a:spLocks noGrp="1"/>
          </p:cNvSpPr>
          <p:nvPr/>
        </p:nvSpPr>
        <p:spPr>
          <a:xfrm>
            <a:off x="7429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merchant base represented in the marketplace activity data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93CD4E-FD11-416C-821B-0AD02A370047}"/>
              </a:ext>
            </a:extLst>
          </p:cNvPr>
          <p:cNvSpPr>
            <a:spLocks noGrp="1"/>
          </p:cNvSpPr>
          <p:nvPr/>
        </p:nvSpPr>
        <p:spPr>
          <a:xfrm>
            <a:off x="3143250" y="20193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45.1%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FB2FF4B-B19E-48D0-8FBC-71930A8876C7}"/>
              </a:ext>
            </a:extLst>
          </p:cNvPr>
          <p:cNvSpPr>
            <a:spLocks noGrp="1"/>
          </p:cNvSpPr>
          <p:nvPr/>
        </p:nvSpPr>
        <p:spPr>
          <a:xfrm>
            <a:off x="3143250" y="24574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top 100 seller GMV share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026371-F8E6-476D-8B70-A41226933A8A}"/>
              </a:ext>
            </a:extLst>
          </p:cNvPr>
          <p:cNvSpPr>
            <a:spLocks noGrp="1"/>
          </p:cNvSpPr>
          <p:nvPr/>
        </p:nvSpPr>
        <p:spPr>
          <a:xfrm>
            <a:off x="3143250" y="26860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seller concentration creates account opportunity and dependency risk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0905A44-7118-44D1-AAE8-5084471D3B44}"/>
              </a:ext>
            </a:extLst>
          </p:cNvPr>
          <p:cNvSpPr>
            <a:spLocks noGrp="1"/>
          </p:cNvSpPr>
          <p:nvPr/>
        </p:nvSpPr>
        <p:spPr>
          <a:xfrm>
            <a:off x="5543550" y="201930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13.59M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11951B1-F9DB-4E7F-B3B2-9A6168E5C476}"/>
              </a:ext>
            </a:extLst>
          </p:cNvPr>
          <p:cNvSpPr>
            <a:spLocks noGrp="1"/>
          </p:cNvSpPr>
          <p:nvPr/>
        </p:nvSpPr>
        <p:spPr>
          <a:xfrm>
            <a:off x="5543550" y="245745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GMV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5566F1C-1400-4035-8489-41A76B78EA1D}"/>
              </a:ext>
            </a:extLst>
          </p:cNvPr>
          <p:cNvSpPr>
            <a:spLocks noGrp="1"/>
          </p:cNvSpPr>
          <p:nvPr/>
        </p:nvSpPr>
        <p:spPr>
          <a:xfrm>
            <a:off x="5543550" y="268605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platform activity measure; not confirmed Olist revenue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D0A9751-7DF6-4A52-B524-483C5A2EAE74}"/>
              </a:ext>
            </a:extLst>
          </p:cNvPr>
          <p:cNvSpPr>
            <a:spLocks noGrp="1"/>
          </p:cNvSpPr>
          <p:nvPr/>
        </p:nvSpPr>
        <p:spPr>
          <a:xfrm>
            <a:off x="8172450" y="1809750"/>
            <a:ext cx="2781300" cy="426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4F28A7D-E505-4E15-9436-859B427D1F56}"/>
              </a:ext>
            </a:extLst>
          </p:cNvPr>
          <p:cNvSpPr>
            <a:spLocks noGrp="1"/>
          </p:cNvSpPr>
          <p:nvPr/>
        </p:nvSpPr>
        <p:spPr>
          <a:xfrm>
            <a:off x="8458200" y="21145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Recommended action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72C447F-094A-45B3-929F-894556425800}"/>
              </a:ext>
            </a:extLst>
          </p:cNvPr>
          <p:cNvSpPr>
            <a:spLocks noGrp="1"/>
          </p:cNvSpPr>
          <p:nvPr/>
        </p:nvSpPr>
        <p:spPr>
          <a:xfrm>
            <a:off x="8458200" y="2552700"/>
            <a:ext cx="2000250" cy="1885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1. Protect and grow high-performing sellers.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2. Improve delivery reliability where seller reviews are exposed.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3. Use category and regional demand signals to guide seller assortment.</a:t>
            </a:r>
          </a:p>
          <a:p>
            <a:endParaRPr sz="1275" b="0">
              <a:solidFill>
                <a:srgbClr val="18212B"/>
              </a:solidFill>
              <a:latin typeface="Aptos"/>
              <a:ea typeface="Aptos"/>
              <a:cs typeface="Aptos"/>
            </a:endParaRPr>
          </a:p>
          <a:p>
            <a:pPr algn="l">
              <a:defRPr sz="12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4. Build internal data for take rate, seller LTV, CAC, and profitability.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F33F83E-AA54-4B8D-969B-E44D0251700C}"/>
              </a:ext>
            </a:extLst>
          </p:cNvPr>
          <p:cNvSpPr>
            <a:spLocks noGrp="1"/>
          </p:cNvSpPr>
          <p:nvPr/>
        </p:nvSpPr>
        <p:spPr>
          <a:xfrm>
            <a:off x="742950" y="3638550"/>
            <a:ext cx="657225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F5FDBBA-41EB-45C1-AB7B-BF12008EA653}"/>
              </a:ext>
            </a:extLst>
          </p:cNvPr>
          <p:cNvSpPr>
            <a:spLocks noGrp="1"/>
          </p:cNvSpPr>
          <p:nvPr/>
        </p:nvSpPr>
        <p:spPr>
          <a:xfrm>
            <a:off x="742950" y="3943350"/>
            <a:ext cx="1381125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lens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F242009-D80D-4C0F-9CE1-92BA04A828E6}"/>
              </a:ext>
            </a:extLst>
          </p:cNvPr>
          <p:cNvSpPr>
            <a:spLocks noGrp="1"/>
          </p:cNvSpPr>
          <p:nvPr/>
        </p:nvSpPr>
        <p:spPr>
          <a:xfrm>
            <a:off x="2152650" y="3905250"/>
            <a:ext cx="516255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business needs a repeatable view of seller productivity, GMV, fulfillment, demand signals, and platform risk.</a:t>
            </a:r>
          </a:p>
        </p:txBody>
      </p:sp>
    </p:spTree>
    <p:extLst>
      <p:ext uri="{BB962C8B-B14F-4D97-AF65-F5344CB8AC3E}">
        <p14:creationId xmlns:p14="http://schemas.microsoft.com/office/powerpoint/2010/main" val="6381312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9DBF82D1-64E9-4553-B3EC-836E6AF78817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1926912-6F9C-4531-B3AF-02FBEAA0247E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03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38C85DE-15CD-4458-9579-C43F3814F870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6BABABC3-85C0-4DAD-A2B3-A182BBD07B2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BF9100F-1940-4F6E-A62F-D0A8668FC12B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PIPELINE ARCHITECTURE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F24E9DE-F60A-4FB7-AB9D-1996BFDCAAEE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Raw marketplace files now flow into a governed analytics warehouse.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2ADA09-5795-465F-AAE5-572A345DDC7A}"/>
              </a:ext>
            </a:extLst>
          </p:cNvPr>
          <p:cNvSpPr>
            <a:spLocks noGrp="1"/>
          </p:cNvSpPr>
          <p:nvPr/>
        </p:nvSpPr>
        <p:spPr>
          <a:xfrm>
            <a:off x="9144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3F0E17E-FEDC-417F-9E55-DD9BCEF89F9D}"/>
              </a:ext>
            </a:extLst>
          </p:cNvPr>
          <p:cNvSpPr>
            <a:spLocks noGrp="1"/>
          </p:cNvSpPr>
          <p:nvPr/>
        </p:nvSpPr>
        <p:spPr>
          <a:xfrm>
            <a:off x="10668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Raw CSVs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54AD97-379C-41A5-A024-8FEE6C67D586}"/>
              </a:ext>
            </a:extLst>
          </p:cNvPr>
          <p:cNvSpPr>
            <a:spLocks noGrp="1"/>
          </p:cNvSpPr>
          <p:nvPr/>
        </p:nvSpPr>
        <p:spPr>
          <a:xfrm>
            <a:off x="952499" y="3028950"/>
            <a:ext cx="1438275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9 source files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orders, items, payments,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reviews, product, seller,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customer, geo, category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03D7BA3-B2AA-40DF-8400-1E7B75EBC819}"/>
              </a:ext>
            </a:extLst>
          </p:cNvPr>
          <p:cNvSpPr>
            <a:spLocks noGrp="1"/>
          </p:cNvSpPr>
          <p:nvPr/>
        </p:nvSpPr>
        <p:spPr>
          <a:xfrm>
            <a:off x="244792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06D9CE9-99CF-4DCF-B7C7-8337E10D87E7}"/>
              </a:ext>
            </a:extLst>
          </p:cNvPr>
          <p:cNvSpPr>
            <a:spLocks noGrp="1"/>
          </p:cNvSpPr>
          <p:nvPr/>
        </p:nvSpPr>
        <p:spPr>
          <a:xfrm>
            <a:off x="30384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01A2FB-8086-4BA6-8BFD-78221E5EADEA}"/>
              </a:ext>
            </a:extLst>
          </p:cNvPr>
          <p:cNvSpPr>
            <a:spLocks noGrp="1"/>
          </p:cNvSpPr>
          <p:nvPr/>
        </p:nvSpPr>
        <p:spPr>
          <a:xfrm>
            <a:off x="314325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C34FE01-9523-411A-B469-34E7E8011E24}"/>
              </a:ext>
            </a:extLst>
          </p:cNvPr>
          <p:cNvSpPr>
            <a:spLocks noGrp="1"/>
          </p:cNvSpPr>
          <p:nvPr/>
        </p:nvSpPr>
        <p:spPr>
          <a:xfrm>
            <a:off x="32956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DuckDB raw schema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C78C104-C14A-4636-96EA-3BD432738C30}"/>
              </a:ext>
            </a:extLst>
          </p:cNvPr>
          <p:cNvSpPr>
            <a:spLocks noGrp="1"/>
          </p:cNvSpPr>
          <p:nvPr/>
        </p:nvSpPr>
        <p:spPr>
          <a:xfrm>
            <a:off x="33147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source-preserving load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auditability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56F1F-AE46-4761-8C4F-74020F54A614}"/>
              </a:ext>
            </a:extLst>
          </p:cNvPr>
          <p:cNvSpPr>
            <a:spLocks noGrp="1"/>
          </p:cNvSpPr>
          <p:nvPr/>
        </p:nvSpPr>
        <p:spPr>
          <a:xfrm>
            <a:off x="466725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E5230F-CEB8-4426-9481-8BBE37B5A896}"/>
              </a:ext>
            </a:extLst>
          </p:cNvPr>
          <p:cNvSpPr>
            <a:spLocks noGrp="1"/>
          </p:cNvSpPr>
          <p:nvPr/>
        </p:nvSpPr>
        <p:spPr>
          <a:xfrm>
            <a:off x="52197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D79E388-74FE-404D-B295-6AE908371ABC}"/>
              </a:ext>
            </a:extLst>
          </p:cNvPr>
          <p:cNvSpPr>
            <a:spLocks noGrp="1"/>
          </p:cNvSpPr>
          <p:nvPr/>
        </p:nvSpPr>
        <p:spPr>
          <a:xfrm>
            <a:off x="53340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8976B4-CAD2-4E85-8023-6F8EF4E0BC69}"/>
              </a:ext>
            </a:extLst>
          </p:cNvPr>
          <p:cNvSpPr>
            <a:spLocks noGrp="1"/>
          </p:cNvSpPr>
          <p:nvPr/>
        </p:nvSpPr>
        <p:spPr>
          <a:xfrm>
            <a:off x="54864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SQL transforms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248D540-40CE-4D08-8D0E-08F739BB28C2}"/>
              </a:ext>
            </a:extLst>
          </p:cNvPr>
          <p:cNvSpPr>
            <a:spLocks noGrp="1"/>
          </p:cNvSpPr>
          <p:nvPr/>
        </p:nvSpPr>
        <p:spPr>
          <a:xfrm>
            <a:off x="55054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star schema build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with transparent logic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43D19B8-E9F0-4A1A-A984-D63A02640EA4}"/>
              </a:ext>
            </a:extLst>
          </p:cNvPr>
          <p:cNvSpPr>
            <a:spLocks noGrp="1"/>
          </p:cNvSpPr>
          <p:nvPr/>
        </p:nvSpPr>
        <p:spPr>
          <a:xfrm>
            <a:off x="6858000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3A04BEC-1177-4E7F-BA9F-AE8EEDEDDF54}"/>
              </a:ext>
            </a:extLst>
          </p:cNvPr>
          <p:cNvSpPr>
            <a:spLocks noGrp="1"/>
          </p:cNvSpPr>
          <p:nvPr/>
        </p:nvSpPr>
        <p:spPr>
          <a:xfrm>
            <a:off x="7419975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0BB087-CA80-4542-9DC3-3C8452F03A9D}"/>
              </a:ext>
            </a:extLst>
          </p:cNvPr>
          <p:cNvSpPr>
            <a:spLocks noGrp="1"/>
          </p:cNvSpPr>
          <p:nvPr/>
        </p:nvSpPr>
        <p:spPr>
          <a:xfrm>
            <a:off x="7524750" y="2362200"/>
            <a:ext cx="1524000" cy="1619250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A3CE1D0-8D02-4952-A45C-74A56746C97B}"/>
              </a:ext>
            </a:extLst>
          </p:cNvPr>
          <p:cNvSpPr>
            <a:spLocks noGrp="1"/>
          </p:cNvSpPr>
          <p:nvPr/>
        </p:nvSpPr>
        <p:spPr>
          <a:xfrm>
            <a:off x="767715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6B8BCFB-D945-41EC-A0AF-79C5F5B5B46F}"/>
              </a:ext>
            </a:extLst>
          </p:cNvPr>
          <p:cNvSpPr>
            <a:spLocks noGrp="1"/>
          </p:cNvSpPr>
          <p:nvPr/>
        </p:nvSpPr>
        <p:spPr>
          <a:xfrm>
            <a:off x="769620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15 SQL validations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all passed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4DF8B123-087B-42A3-A1AB-9B686E5D3483}"/>
              </a:ext>
            </a:extLst>
          </p:cNvPr>
          <p:cNvSpPr>
            <a:spLocks noGrp="1"/>
          </p:cNvSpPr>
          <p:nvPr/>
        </p:nvSpPr>
        <p:spPr>
          <a:xfrm>
            <a:off x="9058275" y="3124200"/>
            <a:ext cx="59055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545A6D9-A9DB-4115-B258-7E0670FFFF61}"/>
              </a:ext>
            </a:extLst>
          </p:cNvPr>
          <p:cNvSpPr>
            <a:spLocks noGrp="1"/>
          </p:cNvSpPr>
          <p:nvPr/>
        </p:nvSpPr>
        <p:spPr>
          <a:xfrm>
            <a:off x="9601200" y="3067050"/>
            <a:ext cx="11430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72B2AD6-1C1D-45CB-B5A6-FFC8DC18D95E}"/>
              </a:ext>
            </a:extLst>
          </p:cNvPr>
          <p:cNvSpPr>
            <a:spLocks noGrp="1"/>
          </p:cNvSpPr>
          <p:nvPr/>
        </p:nvSpPr>
        <p:spPr>
          <a:xfrm>
            <a:off x="9715500" y="2362200"/>
            <a:ext cx="1524000" cy="1619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9F3A6158-B720-49EA-8AF6-46E35A5C1B8E}"/>
              </a:ext>
            </a:extLst>
          </p:cNvPr>
          <p:cNvSpPr>
            <a:spLocks noGrp="1"/>
          </p:cNvSpPr>
          <p:nvPr/>
        </p:nvSpPr>
        <p:spPr>
          <a:xfrm>
            <a:off x="9867900" y="2609850"/>
            <a:ext cx="12192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125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Analysis outputs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68C8CEB-E2AE-4D32-A413-2CA871278FDE}"/>
              </a:ext>
            </a:extLst>
          </p:cNvPr>
          <p:cNvSpPr>
            <a:spLocks noGrp="1"/>
          </p:cNvSpPr>
          <p:nvPr/>
        </p:nvSpPr>
        <p:spPr>
          <a:xfrm>
            <a:off x="9886950" y="3028950"/>
            <a:ext cx="1181100" cy="685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notebook, report,</a:t>
            </a:r>
          </a:p>
          <a:p>
            <a:pPr algn="ctr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executive deck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165A33F-BD7C-4675-8BC3-FD49183D83D6}"/>
              </a:ext>
            </a:extLst>
          </p:cNvPr>
          <p:cNvSpPr>
            <a:spLocks noGrp="1"/>
          </p:cNvSpPr>
          <p:nvPr/>
        </p:nvSpPr>
        <p:spPr>
          <a:xfrm>
            <a:off x="914400" y="46863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Technical confidence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9595534-8CD2-467F-BDDE-CD583DC7BB37}"/>
              </a:ext>
            </a:extLst>
          </p:cNvPr>
          <p:cNvSpPr>
            <a:spLocks noGrp="1"/>
          </p:cNvSpPr>
          <p:nvPr/>
        </p:nvSpPr>
        <p:spPr>
          <a:xfrm>
            <a:off x="2724150" y="4648200"/>
            <a:ext cx="7239000" cy="533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model separates ingestion from transformation and validation, so analysts can reproduce metrics without reinterpreting raw operational tables.</a:t>
            </a:r>
          </a:p>
        </p:txBody>
      </p:sp>
    </p:spTree>
    <p:extLst>
      <p:ext uri="{BB962C8B-B14F-4D97-AF65-F5344CB8AC3E}">
        <p14:creationId xmlns:p14="http://schemas.microsoft.com/office/powerpoint/2010/main" val="1175349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8FF5E8EE-0AD9-4E0C-8CE0-B2D019238C2A}"/>
              </a:ext>
            </a:extLst>
          </p:cNvPr>
          <p:cNvSpPr>
            <a:spLocks noGrp="1"/>
          </p:cNvSpPr>
          <p:nvPr/>
        </p:nvSpPr>
        <p:spPr>
          <a:xfrm>
            <a:off x="9525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F52171-4768-4C5F-84E1-06F09F85708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04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928B575-6400-497D-939F-BE5F5411B22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96DFED8-11A1-4420-A92F-F3539CAD666B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A7D526DB-15A8-427A-AEFB-232A80E68146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WAREHOUSE MODEL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8B18A4-12C2-4AD9-9583-1A4789C3EEAD}"/>
              </a:ext>
            </a:extLst>
          </p:cNvPr>
          <p:cNvSpPr>
            <a:spLocks noGrp="1"/>
          </p:cNvSpPr>
          <p:nvPr/>
        </p:nvSpPr>
        <p:spPr>
          <a:xfrm>
            <a:off x="685799" y="781050"/>
            <a:ext cx="10277475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star schema makes GMV, geography, product, seller, and date questions joinable.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F6D3DDF-FBA2-43FE-AB83-A1713C42AEA9}"/>
              </a:ext>
            </a:extLst>
          </p:cNvPr>
          <p:cNvSpPr>
            <a:spLocks noGrp="1"/>
          </p:cNvSpPr>
          <p:nvPr/>
        </p:nvSpPr>
        <p:spPr>
          <a:xfrm>
            <a:off x="4686300" y="2867025"/>
            <a:ext cx="2667000" cy="13525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3C3C526-4CA1-4DC8-B930-DB8EEDBD6192}"/>
              </a:ext>
            </a:extLst>
          </p:cNvPr>
          <p:cNvSpPr>
            <a:spLocks noGrp="1"/>
          </p:cNvSpPr>
          <p:nvPr/>
        </p:nvSpPr>
        <p:spPr>
          <a:xfrm>
            <a:off x="5219700" y="3171825"/>
            <a:ext cx="1619250" cy="2857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8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fact_sales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43CE5F-5E3C-43D0-860B-D6A8D46E747C}"/>
              </a:ext>
            </a:extLst>
          </p:cNvPr>
          <p:cNvSpPr>
            <a:spLocks noGrp="1"/>
          </p:cNvSpPr>
          <p:nvPr/>
        </p:nvSpPr>
        <p:spPr>
          <a:xfrm>
            <a:off x="5105400" y="3571875"/>
            <a:ext cx="18288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112,650 order-item rows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price, freight, payment,</a:t>
            </a:r>
          </a:p>
          <a:p>
            <a:pPr algn="ctr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review, delivery, status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4CDA9-567D-4BDB-AC94-C22500147EF5}"/>
              </a:ext>
            </a:extLst>
          </p:cNvPr>
          <p:cNvSpPr>
            <a:spLocks noGrp="1"/>
          </p:cNvSpPr>
          <p:nvPr/>
        </p:nvSpPr>
        <p:spPr>
          <a:xfrm>
            <a:off x="1114425" y="204787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E472986-2CF6-4A38-8B19-AC7D44505565}"/>
              </a:ext>
            </a:extLst>
          </p:cNvPr>
          <p:cNvSpPr>
            <a:spLocks noGrp="1"/>
          </p:cNvSpPr>
          <p:nvPr/>
        </p:nvSpPr>
        <p:spPr>
          <a:xfrm>
            <a:off x="134302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dim_customer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179B6C-271F-4FE3-A31D-2A22E5F300CD}"/>
              </a:ext>
            </a:extLst>
          </p:cNvPr>
          <p:cNvSpPr>
            <a:spLocks noGrp="1"/>
          </p:cNvSpPr>
          <p:nvPr/>
        </p:nvSpPr>
        <p:spPr>
          <a:xfrm>
            <a:off x="140017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99,441 customers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A3B0FA-E9C9-438A-B8C1-52DFA4743FAC}"/>
              </a:ext>
            </a:extLst>
          </p:cNvPr>
          <p:cNvSpPr>
            <a:spLocks noGrp="1"/>
          </p:cNvSpPr>
          <p:nvPr/>
        </p:nvSpPr>
        <p:spPr>
          <a:xfrm>
            <a:off x="8715375" y="2057400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078CA48-61E0-4736-B5C1-ADCF638E3C93}"/>
              </a:ext>
            </a:extLst>
          </p:cNvPr>
          <p:cNvSpPr>
            <a:spLocks noGrp="1"/>
          </p:cNvSpPr>
          <p:nvPr/>
        </p:nvSpPr>
        <p:spPr>
          <a:xfrm>
            <a:off x="8982075" y="227647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dim_product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06F2D21-BF43-4C97-971A-33A4377FBD24}"/>
              </a:ext>
            </a:extLst>
          </p:cNvPr>
          <p:cNvSpPr>
            <a:spLocks noGrp="1"/>
          </p:cNvSpPr>
          <p:nvPr/>
        </p:nvSpPr>
        <p:spPr>
          <a:xfrm>
            <a:off x="9039225" y="261937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32,951 products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 dirty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category + physicals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ADB730A-C8CA-4657-9C61-6EB7E25310BC}"/>
              </a:ext>
            </a:extLst>
          </p:cNvPr>
          <p:cNvSpPr>
            <a:spLocks noGrp="1"/>
          </p:cNvSpPr>
          <p:nvPr/>
        </p:nvSpPr>
        <p:spPr>
          <a:xfrm>
            <a:off x="111442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FD45D7E-9208-4FB1-ABEE-987D382F80EC}"/>
              </a:ext>
            </a:extLst>
          </p:cNvPr>
          <p:cNvSpPr>
            <a:spLocks noGrp="1"/>
          </p:cNvSpPr>
          <p:nvPr/>
        </p:nvSpPr>
        <p:spPr>
          <a:xfrm>
            <a:off x="134302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dim_seller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EE51E8B-8C43-4F2D-8539-A786E3BBDDBA}"/>
              </a:ext>
            </a:extLst>
          </p:cNvPr>
          <p:cNvSpPr>
            <a:spLocks noGrp="1"/>
          </p:cNvSpPr>
          <p:nvPr/>
        </p:nvSpPr>
        <p:spPr>
          <a:xfrm>
            <a:off x="140017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3,095 sellers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state/city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9A97C-31B2-4D98-BD7A-67BCBFEBA7CA}"/>
              </a:ext>
            </a:extLst>
          </p:cNvPr>
          <p:cNvSpPr>
            <a:spLocks noGrp="1"/>
          </p:cNvSpPr>
          <p:nvPr/>
        </p:nvSpPr>
        <p:spPr>
          <a:xfrm>
            <a:off x="8715375" y="4695825"/>
            <a:ext cx="2133600" cy="11049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610EE555-6374-4335-8B60-E2F84AC02954}"/>
              </a:ext>
            </a:extLst>
          </p:cNvPr>
          <p:cNvSpPr>
            <a:spLocks noGrp="1"/>
          </p:cNvSpPr>
          <p:nvPr/>
        </p:nvSpPr>
        <p:spPr>
          <a:xfrm>
            <a:off x="8982075" y="4924425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dim_date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42B0864-A066-4BB4-9549-71E79451B495}"/>
              </a:ext>
            </a:extLst>
          </p:cNvPr>
          <p:cNvSpPr>
            <a:spLocks noGrp="1"/>
          </p:cNvSpPr>
          <p:nvPr/>
        </p:nvSpPr>
        <p:spPr>
          <a:xfrm>
            <a:off x="9039225" y="5267325"/>
            <a:ext cx="1524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711 dates</a:t>
            </a:r>
          </a:p>
          <a:p>
            <a:pPr algn="ctr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month/quarter/year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BDCA83B-6389-4B50-86B5-E1CCA0F436DC}"/>
              </a:ext>
            </a:extLst>
          </p:cNvPr>
          <p:cNvSpPr>
            <a:spLocks noGrp="1"/>
          </p:cNvSpPr>
          <p:nvPr/>
        </p:nvSpPr>
        <p:spPr>
          <a:xfrm>
            <a:off x="4686300" y="4524375"/>
            <a:ext cx="2667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105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C75C43"/>
                </a:solidFill>
                <a:latin typeface="Aptos"/>
                <a:ea typeface="Aptos"/>
                <a:cs typeface="Aptos"/>
              </a:rPr>
              <a:t>Grain: one row per order item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03A13909-E1D1-B150-7C15-024260DF22A4}"/>
              </a:ext>
            </a:extLst>
          </p:cNvPr>
          <p:cNvCxnSpPr>
            <a:cxnSpLocks/>
            <a:stCxn id="10" idx="3"/>
          </p:cNvCxnSpPr>
          <p:nvPr/>
        </p:nvCxnSpPr>
        <p:spPr>
          <a:xfrm>
            <a:off x="3248025" y="2600325"/>
            <a:ext cx="1447800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4988E7-33F5-3B03-1E3C-F297784AC8E2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3248025" y="3543300"/>
            <a:ext cx="1447800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BBF8D0B-BF1B-BD91-BEB9-5F1965001705}"/>
              </a:ext>
            </a:extLst>
          </p:cNvPr>
          <p:cNvCxnSpPr>
            <a:cxnSpLocks/>
            <a:endCxn id="7" idx="3"/>
          </p:cNvCxnSpPr>
          <p:nvPr/>
        </p:nvCxnSpPr>
        <p:spPr>
          <a:xfrm flipH="1">
            <a:off x="7353300" y="2600325"/>
            <a:ext cx="1362075" cy="942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6F4B6D66-6E80-2711-5D4E-0170D7942BAE}"/>
              </a:ext>
            </a:extLst>
          </p:cNvPr>
          <p:cNvCxnSpPr>
            <a:cxnSpLocks/>
            <a:stCxn id="22" idx="1"/>
            <a:endCxn id="7" idx="3"/>
          </p:cNvCxnSpPr>
          <p:nvPr/>
        </p:nvCxnSpPr>
        <p:spPr>
          <a:xfrm flipH="1" flipV="1">
            <a:off x="7353300" y="3543300"/>
            <a:ext cx="1362075" cy="170497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01222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293DACE5-D3C4-4440-8876-828EDB33FC3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319B0D0-82B9-4D83-9B20-75A93F8173AA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05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8438218-2F6F-44B1-BF46-ACC932FDEAD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24E7C358-0150-4E0C-8A22-A14A30F31BCD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D8A22871-C9B5-4A27-B129-76FE6D5C83CE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DATA QUALITY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D981E1E-EECC-40B6-93D2-0BD88ADD9357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 dirty="0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warehouse passed the checks that protect executive metrics from common data failures.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2C08AB-FBEC-4E45-A70D-26ED93A1379F}"/>
              </a:ext>
            </a:extLst>
          </p:cNvPr>
          <p:cNvSpPr>
            <a:spLocks noGrp="1"/>
          </p:cNvSpPr>
          <p:nvPr/>
        </p:nvSpPr>
        <p:spPr>
          <a:xfrm>
            <a:off x="876300" y="2038350"/>
            <a:ext cx="2190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15 / 15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D068757-7360-450E-88FD-601BFEE43DC6}"/>
              </a:ext>
            </a:extLst>
          </p:cNvPr>
          <p:cNvSpPr>
            <a:spLocks noGrp="1"/>
          </p:cNvSpPr>
          <p:nvPr/>
        </p:nvSpPr>
        <p:spPr>
          <a:xfrm>
            <a:off x="876300" y="2476500"/>
            <a:ext cx="2190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quality checks passed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6FFB192-F58E-43B6-8E5D-EB8A7E8FB565}"/>
              </a:ext>
            </a:extLst>
          </p:cNvPr>
          <p:cNvSpPr>
            <a:spLocks noGrp="1"/>
          </p:cNvSpPr>
          <p:nvPr/>
        </p:nvSpPr>
        <p:spPr>
          <a:xfrm>
            <a:off x="876300" y="2705100"/>
            <a:ext cx="2190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SQL tests executed after star-schema build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EE998E66-5D1C-48DA-8380-60AA7F268B16}"/>
              </a:ext>
            </a:extLst>
          </p:cNvPr>
          <p:cNvSpPr>
            <a:spLocks noGrp="1"/>
          </p:cNvSpPr>
          <p:nvPr/>
        </p:nvSpPr>
        <p:spPr>
          <a:xfrm>
            <a:off x="35242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9C9A77B-0F8B-4309-B92D-BFAFAFFB4DC5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broken dimension joins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0A98D6-771A-46F3-B2E7-DBCEA9D048FC}"/>
              </a:ext>
            </a:extLst>
          </p:cNvPr>
          <p:cNvSpPr>
            <a:spLocks noGrp="1"/>
          </p:cNvSpPr>
          <p:nvPr/>
        </p:nvSpPr>
        <p:spPr>
          <a:xfrm>
            <a:off x="35242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customer, product, seller referential integrity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CF4674C-AA82-4D44-8233-56E41506E17E}"/>
              </a:ext>
            </a:extLst>
          </p:cNvPr>
          <p:cNvSpPr>
            <a:spLocks noGrp="1"/>
          </p:cNvSpPr>
          <p:nvPr/>
        </p:nvSpPr>
        <p:spPr>
          <a:xfrm>
            <a:off x="6305550" y="2038350"/>
            <a:ext cx="2381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0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666D72-3AC7-4E12-AD18-5BBBAD4EBD1E}"/>
              </a:ext>
            </a:extLst>
          </p:cNvPr>
          <p:cNvSpPr>
            <a:spLocks noGrp="1"/>
          </p:cNvSpPr>
          <p:nvPr/>
        </p:nvSpPr>
        <p:spPr>
          <a:xfrm>
            <a:off x="6305550" y="2476500"/>
            <a:ext cx="2381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negative GMV findings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7A5F123-A228-443B-9B39-FEE6D5628EA8}"/>
              </a:ext>
            </a:extLst>
          </p:cNvPr>
          <p:cNvSpPr>
            <a:spLocks noGrp="1"/>
          </p:cNvSpPr>
          <p:nvPr/>
        </p:nvSpPr>
        <p:spPr>
          <a:xfrm>
            <a:off x="6305550" y="2705100"/>
            <a:ext cx="2381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non-negative and internally consistent amounts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7B41EE6-CE79-426F-BEE3-23992C74F244}"/>
              </a:ext>
            </a:extLst>
          </p:cNvPr>
          <p:cNvSpPr>
            <a:spLocks noGrp="1"/>
          </p:cNvSpPr>
          <p:nvPr/>
        </p:nvSpPr>
        <p:spPr>
          <a:xfrm>
            <a:off x="8953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AC24F06-1ECE-4892-9EFB-B438BA22B4D7}"/>
              </a:ext>
            </a:extLst>
          </p:cNvPr>
          <p:cNvSpPr>
            <a:spLocks noGrp="1"/>
          </p:cNvSpPr>
          <p:nvPr/>
        </p:nvSpPr>
        <p:spPr>
          <a:xfrm>
            <a:off x="8953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16068E1-B739-4277-9434-1EFD74EB790A}"/>
              </a:ext>
            </a:extLst>
          </p:cNvPr>
          <p:cNvSpPr>
            <a:spLocks noGrp="1"/>
          </p:cNvSpPr>
          <p:nvPr/>
        </p:nvSpPr>
        <p:spPr>
          <a:xfrm>
            <a:off x="12573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Required keys present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489E3E8-B38D-40EC-AC23-A07BCD3F105F}"/>
              </a:ext>
            </a:extLst>
          </p:cNvPr>
          <p:cNvSpPr>
            <a:spLocks noGrp="1"/>
          </p:cNvSpPr>
          <p:nvPr/>
        </p:nvSpPr>
        <p:spPr>
          <a:xfrm>
            <a:off x="403860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1CBC0C1-9158-4B01-8F57-6A85499D89B5}"/>
              </a:ext>
            </a:extLst>
          </p:cNvPr>
          <p:cNvSpPr>
            <a:spLocks noGrp="1"/>
          </p:cNvSpPr>
          <p:nvPr/>
        </p:nvSpPr>
        <p:spPr>
          <a:xfrm>
            <a:off x="403860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4423733-BDE7-43B0-AB62-CDF66F0700EC}"/>
              </a:ext>
            </a:extLst>
          </p:cNvPr>
          <p:cNvSpPr>
            <a:spLocks noGrp="1"/>
          </p:cNvSpPr>
          <p:nvPr/>
        </p:nvSpPr>
        <p:spPr>
          <a:xfrm>
            <a:off x="440055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No duplicate fact rows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81260EF-572B-46F4-A072-89684FAB4EA7}"/>
              </a:ext>
            </a:extLst>
          </p:cNvPr>
          <p:cNvSpPr>
            <a:spLocks noGrp="1"/>
          </p:cNvSpPr>
          <p:nvPr/>
        </p:nvSpPr>
        <p:spPr>
          <a:xfrm>
            <a:off x="7181850" y="39052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30C364D-8811-412A-ACCD-E78B642E5224}"/>
              </a:ext>
            </a:extLst>
          </p:cNvPr>
          <p:cNvSpPr>
            <a:spLocks noGrp="1"/>
          </p:cNvSpPr>
          <p:nvPr/>
        </p:nvSpPr>
        <p:spPr>
          <a:xfrm>
            <a:off x="7181850" y="39433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24F7E58-56BD-48C6-8168-4E526BA77C9F}"/>
              </a:ext>
            </a:extLst>
          </p:cNvPr>
          <p:cNvSpPr>
            <a:spLocks noGrp="1"/>
          </p:cNvSpPr>
          <p:nvPr/>
        </p:nvSpPr>
        <p:spPr>
          <a:xfrm>
            <a:off x="7543800" y="39243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Unique dimension keys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5EB00C8-0D02-450A-A022-EFCEEE7D60B0}"/>
              </a:ext>
            </a:extLst>
          </p:cNvPr>
          <p:cNvSpPr>
            <a:spLocks noGrp="1"/>
          </p:cNvSpPr>
          <p:nvPr/>
        </p:nvSpPr>
        <p:spPr>
          <a:xfrm>
            <a:off x="8953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200A76B-FEB5-401A-BE1E-CCFFD573EB1F}"/>
              </a:ext>
            </a:extLst>
          </p:cNvPr>
          <p:cNvSpPr>
            <a:spLocks noGrp="1"/>
          </p:cNvSpPr>
          <p:nvPr/>
        </p:nvSpPr>
        <p:spPr>
          <a:xfrm>
            <a:off x="8953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7DEA89F-475A-41CD-9F36-8066E85ED268}"/>
              </a:ext>
            </a:extLst>
          </p:cNvPr>
          <p:cNvSpPr>
            <a:spLocks noGrp="1"/>
          </p:cNvSpPr>
          <p:nvPr/>
        </p:nvSpPr>
        <p:spPr>
          <a:xfrm>
            <a:off x="12573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order statuses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CCDC1DC9-7EE2-4660-BD6F-4392E1F66232}"/>
              </a:ext>
            </a:extLst>
          </p:cNvPr>
          <p:cNvSpPr>
            <a:spLocks noGrp="1"/>
          </p:cNvSpPr>
          <p:nvPr/>
        </p:nvSpPr>
        <p:spPr>
          <a:xfrm>
            <a:off x="403860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4CA5025-884F-4DAE-9EF9-0944722D85DD}"/>
              </a:ext>
            </a:extLst>
          </p:cNvPr>
          <p:cNvSpPr>
            <a:spLocks noGrp="1"/>
          </p:cNvSpPr>
          <p:nvPr/>
        </p:nvSpPr>
        <p:spPr>
          <a:xfrm>
            <a:off x="403860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011C4DE-09B5-4450-A550-7D88734A34CE}"/>
              </a:ext>
            </a:extLst>
          </p:cNvPr>
          <p:cNvSpPr>
            <a:spLocks noGrp="1"/>
          </p:cNvSpPr>
          <p:nvPr/>
        </p:nvSpPr>
        <p:spPr>
          <a:xfrm>
            <a:off x="440055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Valid review scores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DF96EC6-A356-4338-8507-2E21C95C366B}"/>
              </a:ext>
            </a:extLst>
          </p:cNvPr>
          <p:cNvSpPr>
            <a:spLocks noGrp="1"/>
          </p:cNvSpPr>
          <p:nvPr/>
        </p:nvSpPr>
        <p:spPr>
          <a:xfrm>
            <a:off x="7181850" y="4629150"/>
            <a:ext cx="247650" cy="2476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ED3C6A6-D38B-4B11-9C5E-68D445589184}"/>
              </a:ext>
            </a:extLst>
          </p:cNvPr>
          <p:cNvSpPr>
            <a:spLocks noGrp="1"/>
          </p:cNvSpPr>
          <p:nvPr/>
        </p:nvSpPr>
        <p:spPr>
          <a:xfrm>
            <a:off x="7181850" y="4667250"/>
            <a:ext cx="247650" cy="1524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OK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9C03D7-DF3C-4FC0-BC8B-4B28F89274BE}"/>
              </a:ext>
            </a:extLst>
          </p:cNvPr>
          <p:cNvSpPr>
            <a:spLocks noGrp="1"/>
          </p:cNvSpPr>
          <p:nvPr/>
        </p:nvSpPr>
        <p:spPr>
          <a:xfrm>
            <a:off x="7543800" y="4648200"/>
            <a:ext cx="2324100" cy="304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GMV amount = price + freight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8F696897-0BAF-45B1-BA0E-FFFD80722FBF}"/>
              </a:ext>
            </a:extLst>
          </p:cNvPr>
          <p:cNvSpPr>
            <a:spLocks noGrp="1"/>
          </p:cNvSpPr>
          <p:nvPr/>
        </p:nvSpPr>
        <p:spPr>
          <a:xfrm>
            <a:off x="876300" y="5810250"/>
            <a:ext cx="8191500" cy="3238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1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Specialist note: transaction values are GMV-style activity measures. Actual Olist revenue requires take-rate, SaaS, logistics margin, and finance data.</a:t>
            </a:r>
          </a:p>
        </p:txBody>
      </p:sp>
    </p:spTree>
    <p:extLst>
      <p:ext uri="{BB962C8B-B14F-4D97-AF65-F5344CB8AC3E}">
        <p14:creationId xmlns:p14="http://schemas.microsoft.com/office/powerpoint/2010/main" val="20528350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Rectangle 43">
            <a:extLst>
              <a:ext uri="{FF2B5EF4-FFF2-40B4-BE49-F238E27FC236}">
                <a16:creationId xmlns:a16="http://schemas.microsoft.com/office/drawing/2014/main" id="{D0689A5F-12A3-45C2-B8AC-E4625CE210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ABAE7A0-CFBD-4E52-8B21-4FCA5BBB6399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06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F3BD40E-BA8C-4D80-B2F5-DECC0A06F72A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167B7B-B356-47BC-9D7B-203A11E39934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8D34B0EC-3BAF-46D0-A5E2-08E825251C78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PLATFORM GMV TRAJECTORY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FC98571-1338-4031-B4E0-FC3AA9C2C453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Product GMV scaled rapidly into 2018 after a November 2017 peak.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99C997-C3F8-44E2-BA38-D082710D2695}"/>
              </a:ext>
            </a:extLst>
          </p:cNvPr>
          <p:cNvSpPr>
            <a:spLocks noGrp="1"/>
          </p:cNvSpPr>
          <p:nvPr/>
        </p:nvSpPr>
        <p:spPr>
          <a:xfrm>
            <a:off x="914400" y="4762500"/>
            <a:ext cx="7429500" cy="11430"/>
          </a:xfrm>
          <a:prstGeom prst="rect">
            <a:avLst/>
          </a:prstGeom>
          <a:solidFill>
            <a:srgbClr val="D8D0C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25577C-8A16-477A-A25C-860B5C415C8B}"/>
              </a:ext>
            </a:extLst>
          </p:cNvPr>
          <p:cNvSpPr>
            <a:spLocks noGrp="1"/>
          </p:cNvSpPr>
          <p:nvPr/>
        </p:nvSpPr>
        <p:spPr>
          <a:xfrm>
            <a:off x="914400" y="3524250"/>
            <a:ext cx="7429500" cy="9525"/>
          </a:xfrm>
          <a:prstGeom prst="rect">
            <a:avLst/>
          </a:prstGeom>
          <a:solidFill>
            <a:srgbClr val="E4DED2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E544FCA-A90C-4626-8E72-643EEEA1541B}"/>
              </a:ext>
            </a:extLst>
          </p:cNvPr>
          <p:cNvSpPr>
            <a:spLocks noGrp="1"/>
          </p:cNvSpPr>
          <p:nvPr/>
        </p:nvSpPr>
        <p:spPr>
          <a:xfrm>
            <a:off x="914400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445D84D-C7BB-4B3E-B1C2-B7D6D953B565}"/>
              </a:ext>
            </a:extLst>
          </p:cNvPr>
          <p:cNvSpPr>
            <a:spLocks noGrp="1"/>
          </p:cNvSpPr>
          <p:nvPr/>
        </p:nvSpPr>
        <p:spPr>
          <a:xfrm>
            <a:off x="1226741" y="4643187"/>
            <a:ext cx="245666" cy="119313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EEE61F5-5024-4910-BB4D-53B62E946A0D}"/>
              </a:ext>
            </a:extLst>
          </p:cNvPr>
          <p:cNvSpPr>
            <a:spLocks noGrp="1"/>
          </p:cNvSpPr>
          <p:nvPr/>
        </p:nvSpPr>
        <p:spPr>
          <a:xfrm>
            <a:off x="1539081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2A0F1A3-DCEC-4DB7-82A1-C38EF44470E2}"/>
              </a:ext>
            </a:extLst>
          </p:cNvPr>
          <p:cNvSpPr>
            <a:spLocks noGrp="1"/>
          </p:cNvSpPr>
          <p:nvPr/>
        </p:nvSpPr>
        <p:spPr>
          <a:xfrm>
            <a:off x="1851422" y="4474369"/>
            <a:ext cx="245666" cy="28813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7C78A4E-610D-4D2B-801B-A8B8A05D814E}"/>
              </a:ext>
            </a:extLst>
          </p:cNvPr>
          <p:cNvSpPr>
            <a:spLocks noGrp="1"/>
          </p:cNvSpPr>
          <p:nvPr/>
        </p:nvSpPr>
        <p:spPr>
          <a:xfrm>
            <a:off x="2163763" y="4161238"/>
            <a:ext cx="245666" cy="60126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42DB59A-1B1E-4FD7-AEDD-190FC36E933B}"/>
              </a:ext>
            </a:extLst>
          </p:cNvPr>
          <p:cNvSpPr>
            <a:spLocks noGrp="1"/>
          </p:cNvSpPr>
          <p:nvPr/>
        </p:nvSpPr>
        <p:spPr>
          <a:xfrm>
            <a:off x="2476103" y="3855089"/>
            <a:ext cx="245666" cy="90741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662F56C-E606-4FF4-A112-5EA2A38CABFE}"/>
              </a:ext>
            </a:extLst>
          </p:cNvPr>
          <p:cNvSpPr>
            <a:spLocks noGrp="1"/>
          </p:cNvSpPr>
          <p:nvPr/>
        </p:nvSpPr>
        <p:spPr>
          <a:xfrm>
            <a:off x="2788444" y="3896309"/>
            <a:ext cx="245666" cy="86619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1473A73-331D-4A96-A63C-DBFB3317DD96}"/>
              </a:ext>
            </a:extLst>
          </p:cNvPr>
          <p:cNvSpPr>
            <a:spLocks noGrp="1"/>
          </p:cNvSpPr>
          <p:nvPr/>
        </p:nvSpPr>
        <p:spPr>
          <a:xfrm>
            <a:off x="3100784" y="3531351"/>
            <a:ext cx="245666" cy="123114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5962680-9E8C-4106-9A3F-8B7AE6C0BA92}"/>
              </a:ext>
            </a:extLst>
          </p:cNvPr>
          <p:cNvSpPr>
            <a:spLocks noGrp="1"/>
          </p:cNvSpPr>
          <p:nvPr/>
        </p:nvSpPr>
        <p:spPr>
          <a:xfrm>
            <a:off x="3413125" y="3706150"/>
            <a:ext cx="245666" cy="1056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9A90A40-1B49-461A-8DCA-BFD20C875A10}"/>
              </a:ext>
            </a:extLst>
          </p:cNvPr>
          <p:cNvSpPr>
            <a:spLocks noGrp="1"/>
          </p:cNvSpPr>
          <p:nvPr/>
        </p:nvSpPr>
        <p:spPr>
          <a:xfrm>
            <a:off x="3725466" y="3533912"/>
            <a:ext cx="245666" cy="122858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2CE40A46-05F1-4D2F-8B79-C1BD698FBD77}"/>
              </a:ext>
            </a:extLst>
          </p:cNvPr>
          <p:cNvSpPr>
            <a:spLocks noGrp="1"/>
          </p:cNvSpPr>
          <p:nvPr/>
        </p:nvSpPr>
        <p:spPr>
          <a:xfrm>
            <a:off x="4037806" y="3359101"/>
            <a:ext cx="245666" cy="140339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FD9B47C-4EA2-4800-A2BF-A6CB1725858D}"/>
              </a:ext>
            </a:extLst>
          </p:cNvPr>
          <p:cNvSpPr>
            <a:spLocks noGrp="1"/>
          </p:cNvSpPr>
          <p:nvPr/>
        </p:nvSpPr>
        <p:spPr>
          <a:xfrm>
            <a:off x="4350147" y="3249480"/>
            <a:ext cx="245666" cy="151302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63FB60D-28B4-410D-9852-12D467FF1725}"/>
              </a:ext>
            </a:extLst>
          </p:cNvPr>
          <p:cNvSpPr>
            <a:spLocks noGrp="1"/>
          </p:cNvSpPr>
          <p:nvPr/>
        </p:nvSpPr>
        <p:spPr>
          <a:xfrm>
            <a:off x="4662488" y="3146750"/>
            <a:ext cx="245666" cy="16157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9B113A7-EE21-4563-A9DA-E37A2C7EA24F}"/>
              </a:ext>
            </a:extLst>
          </p:cNvPr>
          <p:cNvSpPr>
            <a:spLocks noGrp="1"/>
          </p:cNvSpPr>
          <p:nvPr/>
        </p:nvSpPr>
        <p:spPr>
          <a:xfrm>
            <a:off x="4974828" y="2286000"/>
            <a:ext cx="245666" cy="24765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853D914-7B57-4F4F-AF2E-6257422078CC}"/>
              </a:ext>
            </a:extLst>
          </p:cNvPr>
          <p:cNvSpPr>
            <a:spLocks noGrp="1"/>
          </p:cNvSpPr>
          <p:nvPr/>
        </p:nvSpPr>
        <p:spPr>
          <a:xfrm>
            <a:off x="5287169" y="2948833"/>
            <a:ext cx="245666" cy="181366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860138C-33B5-49C7-B874-9CED0E0A5CF0}"/>
              </a:ext>
            </a:extLst>
          </p:cNvPr>
          <p:cNvSpPr>
            <a:spLocks noGrp="1"/>
          </p:cNvSpPr>
          <p:nvPr/>
        </p:nvSpPr>
        <p:spPr>
          <a:xfrm>
            <a:off x="5599509" y="2436886"/>
            <a:ext cx="245666" cy="2325614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731742-764E-4432-B25C-370EB5C11C71}"/>
              </a:ext>
            </a:extLst>
          </p:cNvPr>
          <p:cNvSpPr>
            <a:spLocks noGrp="1"/>
          </p:cNvSpPr>
          <p:nvPr/>
        </p:nvSpPr>
        <p:spPr>
          <a:xfrm>
            <a:off x="5911850" y="2689742"/>
            <a:ext cx="245666" cy="20727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C043D4F-8083-42B8-8AD7-69B74009D05D}"/>
              </a:ext>
            </a:extLst>
          </p:cNvPr>
          <p:cNvSpPr>
            <a:spLocks noGrp="1"/>
          </p:cNvSpPr>
          <p:nvPr/>
        </p:nvSpPr>
        <p:spPr>
          <a:xfrm>
            <a:off x="6224191" y="2336442"/>
            <a:ext cx="245666" cy="2426058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613EA208-8EA6-44E9-954E-A0311D1BC728}"/>
              </a:ext>
            </a:extLst>
          </p:cNvPr>
          <p:cNvSpPr>
            <a:spLocks noGrp="1"/>
          </p:cNvSpPr>
          <p:nvPr/>
        </p:nvSpPr>
        <p:spPr>
          <a:xfrm>
            <a:off x="6536531" y="2326841"/>
            <a:ext cx="245666" cy="2435659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FB5D2E2-C427-4BEB-9935-CB76F7D6D330}"/>
              </a:ext>
            </a:extLst>
          </p:cNvPr>
          <p:cNvSpPr>
            <a:spLocks noGrp="1"/>
          </p:cNvSpPr>
          <p:nvPr/>
        </p:nvSpPr>
        <p:spPr>
          <a:xfrm>
            <a:off x="6848872" y="2347668"/>
            <a:ext cx="245666" cy="2414832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65DFA8B-FB6D-46D0-8C68-EAEE3D550855}"/>
              </a:ext>
            </a:extLst>
          </p:cNvPr>
          <p:cNvSpPr>
            <a:spLocks noGrp="1"/>
          </p:cNvSpPr>
          <p:nvPr/>
        </p:nvSpPr>
        <p:spPr>
          <a:xfrm>
            <a:off x="7161213" y="2614620"/>
            <a:ext cx="245666" cy="214788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542E8DC-D75E-4F8C-807E-77090FB1972B}"/>
              </a:ext>
            </a:extLst>
          </p:cNvPr>
          <p:cNvSpPr>
            <a:spLocks noGrp="1"/>
          </p:cNvSpPr>
          <p:nvPr/>
        </p:nvSpPr>
        <p:spPr>
          <a:xfrm>
            <a:off x="7473553" y="2538903"/>
            <a:ext cx="245666" cy="2223597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E8BF919-1749-4029-862C-B25B71B125EA}"/>
              </a:ext>
            </a:extLst>
          </p:cNvPr>
          <p:cNvSpPr>
            <a:spLocks noGrp="1"/>
          </p:cNvSpPr>
          <p:nvPr/>
        </p:nvSpPr>
        <p:spPr>
          <a:xfrm>
            <a:off x="7785894" y="2655299"/>
            <a:ext cx="245666" cy="2107201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10A7A553-5FCF-46E5-8B04-BA05610BBD27}"/>
              </a:ext>
            </a:extLst>
          </p:cNvPr>
          <p:cNvSpPr>
            <a:spLocks noGrp="1"/>
          </p:cNvSpPr>
          <p:nvPr/>
        </p:nvSpPr>
        <p:spPr>
          <a:xfrm>
            <a:off x="8098234" y="4743450"/>
            <a:ext cx="245666" cy="190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F0ADAF0-13E4-450B-96A0-57A68D2A6397}"/>
              </a:ext>
            </a:extLst>
          </p:cNvPr>
          <p:cNvSpPr>
            <a:spLocks noGrp="1"/>
          </p:cNvSpPr>
          <p:nvPr/>
        </p:nvSpPr>
        <p:spPr>
          <a:xfrm>
            <a:off x="914400" y="4895850"/>
            <a:ext cx="8572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2016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DC2AE4D-C02C-4AE9-BC17-2D7AD1BE312B}"/>
              </a:ext>
            </a:extLst>
          </p:cNvPr>
          <p:cNvSpPr>
            <a:spLocks noGrp="1"/>
          </p:cNvSpPr>
          <p:nvPr/>
        </p:nvSpPr>
        <p:spPr>
          <a:xfrm>
            <a:off x="4743450" y="21145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9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Nov 2017 peak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46E6ABD-45D7-4651-B62E-3AEE4AA79C78}"/>
              </a:ext>
            </a:extLst>
          </p:cNvPr>
          <p:cNvSpPr>
            <a:spLocks noGrp="1"/>
          </p:cNvSpPr>
          <p:nvPr/>
        </p:nvSpPr>
        <p:spPr>
          <a:xfrm>
            <a:off x="7581900" y="4895850"/>
            <a:ext cx="7620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82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Sep 2018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5F6BC43B-71CD-4151-98B6-4E99E42AEE44}"/>
              </a:ext>
            </a:extLst>
          </p:cNvPr>
          <p:cNvSpPr>
            <a:spLocks noGrp="1"/>
          </p:cNvSpPr>
          <p:nvPr/>
        </p:nvSpPr>
        <p:spPr>
          <a:xfrm>
            <a:off x="8858250" y="2324100"/>
            <a:ext cx="19050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1.18M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C8F51B37-552D-4498-8AFC-A06928A477DC}"/>
              </a:ext>
            </a:extLst>
          </p:cNvPr>
          <p:cNvSpPr>
            <a:spLocks noGrp="1"/>
          </p:cNvSpPr>
          <p:nvPr/>
        </p:nvSpPr>
        <p:spPr>
          <a:xfrm>
            <a:off x="8858250" y="2762250"/>
            <a:ext cx="19050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peak month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B1919B9-DB21-49EC-80C6-C99103833185}"/>
              </a:ext>
            </a:extLst>
          </p:cNvPr>
          <p:cNvSpPr>
            <a:spLocks noGrp="1"/>
          </p:cNvSpPr>
          <p:nvPr/>
        </p:nvSpPr>
        <p:spPr>
          <a:xfrm>
            <a:off x="8858250" y="2990850"/>
            <a:ext cx="19050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product GMV in Nov 2017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5AF63084-5D5A-4D9F-B116-BCB43799893F}"/>
              </a:ext>
            </a:extLst>
          </p:cNvPr>
          <p:cNvSpPr>
            <a:spLocks noGrp="1"/>
          </p:cNvSpPr>
          <p:nvPr/>
        </p:nvSpPr>
        <p:spPr>
          <a:xfrm>
            <a:off x="8858250" y="352425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1.00M+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4ED932A6-0C18-499D-B003-93F59298CDDD}"/>
              </a:ext>
            </a:extLst>
          </p:cNvPr>
          <p:cNvSpPr>
            <a:spLocks noGrp="1"/>
          </p:cNvSpPr>
          <p:nvPr/>
        </p:nvSpPr>
        <p:spPr>
          <a:xfrm>
            <a:off x="8858250" y="396240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late-run scale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F7A39C0-0AEC-4517-A24D-C06F83729163}"/>
              </a:ext>
            </a:extLst>
          </p:cNvPr>
          <p:cNvSpPr>
            <a:spLocks noGrp="1"/>
          </p:cNvSpPr>
          <p:nvPr/>
        </p:nvSpPr>
        <p:spPr>
          <a:xfrm>
            <a:off x="8858250" y="419100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monthly GMV around 1M from Jan-Aug 2018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39B4DD89-310E-4D9B-9014-E91E7EAE9C99}"/>
              </a:ext>
            </a:extLst>
          </p:cNvPr>
          <p:cNvSpPr>
            <a:spLocks noGrp="1"/>
          </p:cNvSpPr>
          <p:nvPr/>
        </p:nvSpPr>
        <p:spPr>
          <a:xfrm>
            <a:off x="933450" y="5219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Executive read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5D93498-A98E-4273-9B88-4882D5E29D40}"/>
              </a:ext>
            </a:extLst>
          </p:cNvPr>
          <p:cNvSpPr>
            <a:spLocks noGrp="1"/>
          </p:cNvSpPr>
          <p:nvPr/>
        </p:nvSpPr>
        <p:spPr>
          <a:xfrm>
            <a:off x="2381250" y="5162550"/>
            <a:ext cx="6858000" cy="5143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GMV curve supports a seller operating cadence: track category mix, active sellers, delivery speed, and state expansion monthly.</a:t>
            </a:r>
          </a:p>
        </p:txBody>
      </p:sp>
    </p:spTree>
    <p:extLst>
      <p:ext uri="{BB962C8B-B14F-4D97-AF65-F5344CB8AC3E}">
        <p14:creationId xmlns:p14="http://schemas.microsoft.com/office/powerpoint/2010/main" val="13483028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25BD09C6-2B04-44B9-AC16-5FBAC8BEFCE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0CB8AF1-BC3D-48A5-BCE3-FABF69D09DA3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07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8CA8A5E-7F0C-4644-8E0E-BCBFA94CE083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D2934402-577B-4FE1-8018-35494D50B512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BDD3567D-62DD-4D35-AD11-BFDA13893BC4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PRODUCT FOCUS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2E88C2-F271-476B-9D4F-3D566FEE2EA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Five categories anchor product GMV and deserve active seller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087DFA4-1127-4234-BF14-F91C125C1902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health_beauty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ACCE17B-AC8C-4607-8BD2-799BCAD20A3C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4D89715-639D-4F57-BB35-1811DE59AB07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393532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E9FED74-07CF-498A-A7B6-D2967C1D5527}"/>
              </a:ext>
            </a:extLst>
          </p:cNvPr>
          <p:cNvSpPr>
            <a:spLocks noGrp="1"/>
          </p:cNvSpPr>
          <p:nvPr/>
        </p:nvSpPr>
        <p:spPr>
          <a:xfrm>
            <a:off x="6838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1.44M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464A063-3B0B-4A14-AD5D-F830CCA21BE4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watches_gifts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AE9F919-1B51-4D95-A09F-BC0558F2B93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3A3C995-173E-4FEE-9CF6-B7549675219B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356478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AADE505-3B94-4436-B15F-4612932C4A7E}"/>
              </a:ext>
            </a:extLst>
          </p:cNvPr>
          <p:cNvSpPr>
            <a:spLocks noGrp="1"/>
          </p:cNvSpPr>
          <p:nvPr/>
        </p:nvSpPr>
        <p:spPr>
          <a:xfrm>
            <a:off x="6838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1.31M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36D4B01-0A6F-4D65-8D55-90B433B8FFFA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bed_bath_table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B0DE6E7-94F7-4F59-AA01-DE3E0E676F96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EED073C-9A8F-4B95-A9CF-65700529C013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390412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1D902F6-2CA2-40C5-925B-BE78C8A69D1F}"/>
              </a:ext>
            </a:extLst>
          </p:cNvPr>
          <p:cNvSpPr>
            <a:spLocks noGrp="1"/>
          </p:cNvSpPr>
          <p:nvPr/>
        </p:nvSpPr>
        <p:spPr>
          <a:xfrm>
            <a:off x="6838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1.24M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2ADCD32-BC64-475F-8F8A-E175D560552A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sports_leisure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817E1B8-4960-483B-8F12-6700BCB197DC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D791DB-8883-4CC0-B4AB-0C19767F76E2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158251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9EC15090-CCA6-4EB5-A858-EAF87716E6C5}"/>
              </a:ext>
            </a:extLst>
          </p:cNvPr>
          <p:cNvSpPr>
            <a:spLocks noGrp="1"/>
          </p:cNvSpPr>
          <p:nvPr/>
        </p:nvSpPr>
        <p:spPr>
          <a:xfrm>
            <a:off x="6838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1.16M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53642E8B-95CB-46BF-8AA6-9E05B1FB27C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computers_accessories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D5C8BFD-4831-47E9-B13B-26DD7C7675E6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A33CB93-1E3C-4202-9260-3E6552B1C72D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2892343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4BAE825-64A4-493A-B204-A6AE0450B414}"/>
              </a:ext>
            </a:extLst>
          </p:cNvPr>
          <p:cNvSpPr>
            <a:spLocks noGrp="1"/>
          </p:cNvSpPr>
          <p:nvPr/>
        </p:nvSpPr>
        <p:spPr>
          <a:xfrm>
            <a:off x="6838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1.06M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BD355E1-C729-4BB6-93EB-287872EE44E4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furniture_decor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6D7DE77-0CCD-4D95-9416-5F3F87E4C36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CBC1B8C-8F23-49BE-9E59-34E73EE1F02B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2464308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A57D0807-4D0B-475A-81A6-9B3445025B45}"/>
              </a:ext>
            </a:extLst>
          </p:cNvPr>
          <p:cNvSpPr>
            <a:spLocks noGrp="1"/>
          </p:cNvSpPr>
          <p:nvPr/>
        </p:nvSpPr>
        <p:spPr>
          <a:xfrm>
            <a:off x="6838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02E96A2-E7FE-4EE5-B815-040CBC48B3CA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housewares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3542428-6CCD-48E4-B58C-17F2B045A9C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FBFC4985-A677-4D79-AEF8-4BB6332ED574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2125415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A3AB4F7E-54F1-45F0-B360-A703503A4895}"/>
              </a:ext>
            </a:extLst>
          </p:cNvPr>
          <p:cNvSpPr>
            <a:spLocks noGrp="1"/>
          </p:cNvSpPr>
          <p:nvPr/>
        </p:nvSpPr>
        <p:spPr>
          <a:xfrm>
            <a:off x="6838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DF510090-A879-48FC-B856-C35638AF91AA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cool_stuff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C2A60607-0B36-4AF6-8F63-E120652C809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095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45D111D7-0B45-4FEC-879B-C6E47746D1A1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1964130" cy="11430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684D209-FC88-414E-88E5-65A1CDF3EAD1}"/>
              </a:ext>
            </a:extLst>
          </p:cNvPr>
          <p:cNvSpPr>
            <a:spLocks noGrp="1"/>
          </p:cNvSpPr>
          <p:nvPr/>
        </p:nvSpPr>
        <p:spPr>
          <a:xfrm>
            <a:off x="6838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0.7M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910E0-BFD9-4EF7-83DC-AE49B5CFD253}"/>
              </a:ext>
            </a:extLst>
          </p:cNvPr>
          <p:cNvSpPr>
            <a:spLocks noGrp="1"/>
          </p:cNvSpPr>
          <p:nvPr/>
        </p:nvSpPr>
        <p:spPr>
          <a:xfrm>
            <a:off x="8334375" y="2095499"/>
            <a:ext cx="2381250" cy="2824163"/>
          </a:xfrm>
          <a:prstGeom prst="rect">
            <a:avLst/>
          </a:prstGeom>
          <a:solidFill>
            <a:srgbClr val="FFF7E6"/>
          </a:solidFill>
          <a:ln w="9525">
            <a:solidFill>
              <a:srgbClr val="D79A31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E833D30B-E52B-4250-A0F7-015806FC5C7E}"/>
              </a:ext>
            </a:extLst>
          </p:cNvPr>
          <p:cNvSpPr>
            <a:spLocks noGrp="1"/>
          </p:cNvSpPr>
          <p:nvPr/>
        </p:nvSpPr>
        <p:spPr>
          <a:xfrm>
            <a:off x="8648700" y="2419350"/>
            <a:ext cx="1762125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C75C43"/>
                </a:solidFill>
                <a:latin typeface="Aptos"/>
                <a:ea typeface="Aptos"/>
                <a:cs typeface="Aptos"/>
              </a:defRPr>
            </a:pPr>
            <a:r>
              <a:rPr sz="12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What to do with this</a:t>
            </a:r>
            <a:r>
              <a:rPr lang="en-SG" sz="1200" b="1" dirty="0">
                <a:solidFill>
                  <a:srgbClr val="C75C43"/>
                </a:solidFill>
                <a:latin typeface="Aptos"/>
                <a:ea typeface="Aptos"/>
                <a:cs typeface="Aptos"/>
              </a:rPr>
              <a:t>?</a:t>
            </a:r>
            <a:endParaRPr sz="1200" b="1" dirty="0">
              <a:solidFill>
                <a:srgbClr val="C75C43"/>
              </a:solidFill>
              <a:latin typeface="Aptos"/>
              <a:ea typeface="Aptos"/>
              <a:cs typeface="Apto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B8C33F7-AE53-4B42-B71C-D989C346B95A}"/>
              </a:ext>
            </a:extLst>
          </p:cNvPr>
          <p:cNvSpPr>
            <a:spLocks noGrp="1"/>
          </p:cNvSpPr>
          <p:nvPr/>
        </p:nvSpPr>
        <p:spPr>
          <a:xfrm>
            <a:off x="8648700" y="2876550"/>
            <a:ext cx="1714500" cy="1352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 top categories as seller-enablement priorities: assortment depth, fulfillment readiness, stock monitoring, and review follow-up.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5F53F20-05FE-4A38-A46C-E8BCE2168693}"/>
              </a:ext>
            </a:extLst>
          </p:cNvPr>
          <p:cNvSpPr>
            <a:spLocks noGrp="1"/>
          </p:cNvSpPr>
          <p:nvPr/>
        </p:nvSpPr>
        <p:spPr>
          <a:xfrm>
            <a:off x="8648700" y="4286250"/>
            <a:ext cx="16954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Quality signal: leading categories maintain review averages near or above 4.0.</a:t>
            </a:r>
          </a:p>
        </p:txBody>
      </p:sp>
    </p:spTree>
    <p:extLst>
      <p:ext uri="{BB962C8B-B14F-4D97-AF65-F5344CB8AC3E}">
        <p14:creationId xmlns:p14="http://schemas.microsoft.com/office/powerpoint/2010/main" val="7973532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Rectangle 47">
            <a:extLst>
              <a:ext uri="{FF2B5EF4-FFF2-40B4-BE49-F238E27FC236}">
                <a16:creationId xmlns:a16="http://schemas.microsoft.com/office/drawing/2014/main" id="{F735D534-F9F1-472F-927E-9FE51073D2C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4CB1A5C-AABA-40ED-AF24-84EFF72D9FB0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08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C8E3018-39EF-4647-A598-1443FEA78C7B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CF4C257C-B9F8-4143-B98A-DE8BD29323FC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131DF3C5-260B-469D-A079-1666D391F0DD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REGIONAL CONCENTRATION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94E57D-2309-430E-B064-ABC9AA376D26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Sao Paulo is the demand engine and the practical delivery benchmark.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6EAA5E5-70A7-4BB3-BAF8-15AF4D7EBE24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SP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655E6E6-42D4-4209-99D7-D769B8D26B6B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30979B4-996D-442E-8F4F-E5A8FF285C4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18312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803A615-895B-43F1-A35A-373F81A145C6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D2DD32-C895-466E-8526-70056B0FE0F0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RJ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0BD4B4D-D0DD-463A-8888-B6FC2BE1307C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1FA8D4-17B4-484A-A092-2ED1B5FA2315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1589009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D6E4ED6-8881-4FFE-9800-2E1275B1E7CF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2.13M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C439A13-48B7-4021-9CBE-CB329F0D5576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MG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C880BC8-16B6-40DE-878B-9AD7F8392F6B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0FF7192-29F1-45DC-B85F-F8DC1F7D6738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138492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6C9AF83-8AAA-438F-9CB0-126CF23A4DDC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1.86M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AFBB009-3E46-497E-8991-E006FE69DA3E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93DDC988-A5F0-4B70-B2E3-074117B8EC0F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E5E1449-0BF8-4FC6-B8F8-BC2F4ECC2D77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660937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961128-DBBB-40A1-8A30-8C90BBDCE164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0.9M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C55C603-D846-4799-ABFB-40A13F25D6EE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PR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5A6A0BDA-FB1C-4EF6-AB77-A804637B424E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A79ECD5-E358-47A6-9E5D-01680F95663C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597598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11147DE4-F78B-471C-BFF9-E2418FB0456E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0.8M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C1FF9D8-8345-4E54-B336-60FFEDEE419A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BA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8CE2EDD-1019-4F52-A9AE-27AB4AFA1E5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764B0E7-28F2-47D2-8B1F-FE0CCBDF5A91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56260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D5633D35-735F-4720-8F47-178E2811B44A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16EAD-9D91-451A-A7F5-19C311EE2839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73E6D07-1EF6-4532-BCBC-97A1909F421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6295FCBB-787F-4A1F-ABB8-80CECB1D9956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55296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27074F-848F-48BC-B21E-07EC3324446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0.6M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927B8437-49BA-4FFA-9A9B-D39FF186E97E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DF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9AC4D469-1C01-4ADB-9A09-1B2C568DBB63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8C4DA526-E24F-4C76-B9F0-9A687A858EA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263553" cy="11430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61C4A7-5D1C-4CEC-9E95-9B977CCAC5F6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0.4M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7AE0EB42-2241-4ADB-8F94-7842FDAFCCF9}"/>
              </a:ext>
            </a:extLst>
          </p:cNvPr>
          <p:cNvSpPr>
            <a:spLocks noGrp="1"/>
          </p:cNvSpPr>
          <p:nvPr/>
        </p:nvSpPr>
        <p:spPr>
          <a:xfrm>
            <a:off x="8763000" y="20764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5.92M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15BB4D91-7A65-446D-A809-EB101C51C599}"/>
              </a:ext>
            </a:extLst>
          </p:cNvPr>
          <p:cNvSpPr>
            <a:spLocks noGrp="1"/>
          </p:cNvSpPr>
          <p:nvPr/>
        </p:nvSpPr>
        <p:spPr>
          <a:xfrm>
            <a:off x="8763000" y="25146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product GMV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111305EA-44D2-439F-8ECF-6EF46329BB56}"/>
              </a:ext>
            </a:extLst>
          </p:cNvPr>
          <p:cNvSpPr>
            <a:spLocks noGrp="1"/>
          </p:cNvSpPr>
          <p:nvPr/>
        </p:nvSpPr>
        <p:spPr>
          <a:xfrm>
            <a:off x="8763000" y="27432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largest state by GMV, orders, sellers, and demand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95DF7484-C644-41C9-885D-7803A68358FC}"/>
              </a:ext>
            </a:extLst>
          </p:cNvPr>
          <p:cNvSpPr>
            <a:spLocks noGrp="1"/>
          </p:cNvSpPr>
          <p:nvPr/>
        </p:nvSpPr>
        <p:spPr>
          <a:xfrm>
            <a:off x="8763000" y="323850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8.7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7868D8D-9750-4184-A390-8A0D30531B0C}"/>
              </a:ext>
            </a:extLst>
          </p:cNvPr>
          <p:cNvSpPr>
            <a:spLocks noGrp="1"/>
          </p:cNvSpPr>
          <p:nvPr/>
        </p:nvSpPr>
        <p:spPr>
          <a:xfrm>
            <a:off x="8763000" y="367665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SP delivery days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C3E763DB-DD76-4964-BEA9-18166759B000}"/>
              </a:ext>
            </a:extLst>
          </p:cNvPr>
          <p:cNvSpPr>
            <a:spLocks noGrp="1"/>
          </p:cNvSpPr>
          <p:nvPr/>
        </p:nvSpPr>
        <p:spPr>
          <a:xfrm>
            <a:off x="8763000" y="390525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faster than other large states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5C7483D3-D7E5-46CC-B9EC-FF75F4076491}"/>
              </a:ext>
            </a:extLst>
          </p:cNvPr>
          <p:cNvSpPr>
            <a:spLocks noGrp="1"/>
          </p:cNvSpPr>
          <p:nvPr/>
        </p:nvSpPr>
        <p:spPr>
          <a:xfrm>
            <a:off x="8763000" y="4400550"/>
            <a:ext cx="20002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19.2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D71F62C-A0A6-4D0C-A673-60878BD7D0F4}"/>
              </a:ext>
            </a:extLst>
          </p:cNvPr>
          <p:cNvSpPr>
            <a:spLocks noGrp="1"/>
          </p:cNvSpPr>
          <p:nvPr/>
        </p:nvSpPr>
        <p:spPr>
          <a:xfrm>
            <a:off x="8763000" y="4838700"/>
            <a:ext cx="2000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BA delivery days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6AFEBA65-5B2D-44E6-A6CD-45B36DDE9457}"/>
              </a:ext>
            </a:extLst>
          </p:cNvPr>
          <p:cNvSpPr>
            <a:spLocks noGrp="1"/>
          </p:cNvSpPr>
          <p:nvPr/>
        </p:nvSpPr>
        <p:spPr>
          <a:xfrm>
            <a:off x="8763000" y="5067300"/>
            <a:ext cx="20002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example of demand with slower fulfillment</a:t>
            </a:r>
          </a:p>
        </p:txBody>
      </p:sp>
    </p:spTree>
    <p:extLst>
      <p:ext uri="{BB962C8B-B14F-4D97-AF65-F5344CB8AC3E}">
        <p14:creationId xmlns:p14="http://schemas.microsoft.com/office/powerpoint/2010/main" val="6575881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>
            <a:extLst>
              <a:ext uri="{FF2B5EF4-FFF2-40B4-BE49-F238E27FC236}">
                <a16:creationId xmlns:a16="http://schemas.microsoft.com/office/drawing/2014/main" id="{693CF00B-82D2-407C-AAF9-D3725DC2979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2E07FA-A6A9-41DA-B676-78A4903DEAF4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09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38C95B-8FF1-4AB3-B990-D1B59145A1AE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0FFA304-C3A9-49F0-9A63-6228F74CF3CE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4413572-2444-4FA6-AD40-EF81845E2E8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FULFILLMENT RISK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AA5E701-D463-4697-8F1C-69997A38FCD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slowest regions turn logistics into a seller-retention and review-risk issue.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6EAD308-7C52-42E0-A6D7-D43CC279B79E}"/>
              </a:ext>
            </a:extLst>
          </p:cNvPr>
          <p:cNvSpPr>
            <a:spLocks noGrp="1"/>
          </p:cNvSpPr>
          <p:nvPr/>
        </p:nvSpPr>
        <p:spPr>
          <a:xfrm>
            <a:off x="895350" y="213360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AM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5B1A531-01AC-4236-BEAB-740F288C34B8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F824427-A03D-4AB9-AE34-CBECDA0BC950}"/>
              </a:ext>
            </a:extLst>
          </p:cNvPr>
          <p:cNvSpPr>
            <a:spLocks noGrp="1"/>
          </p:cNvSpPr>
          <p:nvPr/>
        </p:nvSpPr>
        <p:spPr>
          <a:xfrm>
            <a:off x="2590800" y="2171700"/>
            <a:ext cx="4367318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A8B08BA-F575-4D31-AEED-06E5A861A08A}"/>
              </a:ext>
            </a:extLst>
          </p:cNvPr>
          <p:cNvSpPr>
            <a:spLocks noGrp="1"/>
          </p:cNvSpPr>
          <p:nvPr/>
        </p:nvSpPr>
        <p:spPr>
          <a:xfrm>
            <a:off x="7219950" y="210502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26.3 days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E27C216-F529-4097-B7F0-F79D7F7C5B7C}"/>
              </a:ext>
            </a:extLst>
          </p:cNvPr>
          <p:cNvSpPr>
            <a:spLocks noGrp="1"/>
          </p:cNvSpPr>
          <p:nvPr/>
        </p:nvSpPr>
        <p:spPr>
          <a:xfrm>
            <a:off x="895350" y="250983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FE6CBC6-0712-4815-A998-388FAF9A5D74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1A568CA-7FCF-41F0-905C-631184EF7312}"/>
              </a:ext>
            </a:extLst>
          </p:cNvPr>
          <p:cNvSpPr>
            <a:spLocks noGrp="1"/>
          </p:cNvSpPr>
          <p:nvPr/>
        </p:nvSpPr>
        <p:spPr>
          <a:xfrm>
            <a:off x="2590800" y="2547938"/>
            <a:ext cx="4053946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EF4CCEE-605D-4B32-90AD-B43F0E3443C9}"/>
              </a:ext>
            </a:extLst>
          </p:cNvPr>
          <p:cNvSpPr>
            <a:spLocks noGrp="1"/>
          </p:cNvSpPr>
          <p:nvPr/>
        </p:nvSpPr>
        <p:spPr>
          <a:xfrm>
            <a:off x="7219950" y="248126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24.4 days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5086B2D-3E2B-41B0-B10C-8E4F78E70A7C}"/>
              </a:ext>
            </a:extLst>
          </p:cNvPr>
          <p:cNvSpPr>
            <a:spLocks noGrp="1"/>
          </p:cNvSpPr>
          <p:nvPr/>
        </p:nvSpPr>
        <p:spPr>
          <a:xfrm>
            <a:off x="895350" y="288607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PA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98E4A19-DC81-46C4-A924-6AABAB954849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9E68842-ED4E-4EC5-A6AE-4BAE75BE501C}"/>
              </a:ext>
            </a:extLst>
          </p:cNvPr>
          <p:cNvSpPr>
            <a:spLocks noGrp="1"/>
          </p:cNvSpPr>
          <p:nvPr/>
        </p:nvSpPr>
        <p:spPr>
          <a:xfrm>
            <a:off x="2590800" y="2924175"/>
            <a:ext cx="392959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7DD429A-EB0E-4F50-BA16-26F67E479019}"/>
              </a:ext>
            </a:extLst>
          </p:cNvPr>
          <p:cNvSpPr>
            <a:spLocks noGrp="1"/>
          </p:cNvSpPr>
          <p:nvPr/>
        </p:nvSpPr>
        <p:spPr>
          <a:xfrm>
            <a:off x="7219950" y="285750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23.7 days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D8EC112-D4C4-45CF-88AE-29458D4AE6C9}"/>
              </a:ext>
            </a:extLst>
          </p:cNvPr>
          <p:cNvSpPr>
            <a:spLocks noGrp="1"/>
          </p:cNvSpPr>
          <p:nvPr/>
        </p:nvSpPr>
        <p:spPr>
          <a:xfrm>
            <a:off x="895350" y="326231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MA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C79F191-430C-4D63-A6EF-B18858EC50B0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6C431A8-4B74-452C-813A-A84BEF07E7FA}"/>
              </a:ext>
            </a:extLst>
          </p:cNvPr>
          <p:cNvSpPr>
            <a:spLocks noGrp="1"/>
          </p:cNvSpPr>
          <p:nvPr/>
        </p:nvSpPr>
        <p:spPr>
          <a:xfrm>
            <a:off x="2590800" y="3300413"/>
            <a:ext cx="357974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D55EA83-6FE8-45BB-8482-C23051FA18D6}"/>
              </a:ext>
            </a:extLst>
          </p:cNvPr>
          <p:cNvSpPr>
            <a:spLocks noGrp="1"/>
          </p:cNvSpPr>
          <p:nvPr/>
        </p:nvSpPr>
        <p:spPr>
          <a:xfrm>
            <a:off x="7219950" y="323373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21.6 days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1FAF5D4-2684-4B79-AC50-E46D2B65A8A9}"/>
              </a:ext>
            </a:extLst>
          </p:cNvPr>
          <p:cNvSpPr>
            <a:spLocks noGrp="1"/>
          </p:cNvSpPr>
          <p:nvPr/>
        </p:nvSpPr>
        <p:spPr>
          <a:xfrm>
            <a:off x="895350" y="3638550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84FCFB3-E101-4B81-A87F-B66E32EEEB84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E2D8A92A-5F5A-4FA2-8D00-284AD4D586D3}"/>
              </a:ext>
            </a:extLst>
          </p:cNvPr>
          <p:cNvSpPr>
            <a:spLocks noGrp="1"/>
          </p:cNvSpPr>
          <p:nvPr/>
        </p:nvSpPr>
        <p:spPr>
          <a:xfrm>
            <a:off x="2590800" y="3676650"/>
            <a:ext cx="3551555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C13A63A8-AD14-49E0-B1F8-0F1AFF1EAC05}"/>
              </a:ext>
            </a:extLst>
          </p:cNvPr>
          <p:cNvSpPr>
            <a:spLocks noGrp="1"/>
          </p:cNvSpPr>
          <p:nvPr/>
        </p:nvSpPr>
        <p:spPr>
          <a:xfrm>
            <a:off x="7219950" y="3609975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21.4 days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1036859-0CCA-4334-8538-66B40975175C}"/>
              </a:ext>
            </a:extLst>
          </p:cNvPr>
          <p:cNvSpPr>
            <a:spLocks noGrp="1"/>
          </p:cNvSpPr>
          <p:nvPr/>
        </p:nvSpPr>
        <p:spPr>
          <a:xfrm>
            <a:off x="895350" y="4014788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CE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59354AD-3875-44C8-B0EB-08D41D1A6B62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7030C96-7537-4CDE-A5E7-3183B8B13E54}"/>
              </a:ext>
            </a:extLst>
          </p:cNvPr>
          <p:cNvSpPr>
            <a:spLocks noGrp="1"/>
          </p:cNvSpPr>
          <p:nvPr/>
        </p:nvSpPr>
        <p:spPr>
          <a:xfrm>
            <a:off x="2590800" y="4052888"/>
            <a:ext cx="3468652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01226DDE-7451-461F-BEAE-E3547B3021D3}"/>
              </a:ext>
            </a:extLst>
          </p:cNvPr>
          <p:cNvSpPr>
            <a:spLocks noGrp="1"/>
          </p:cNvSpPr>
          <p:nvPr/>
        </p:nvSpPr>
        <p:spPr>
          <a:xfrm>
            <a:off x="7219950" y="3986213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20.9 days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5A9EA348-1BE4-4258-B1BB-9AA6600A91D7}"/>
              </a:ext>
            </a:extLst>
          </p:cNvPr>
          <p:cNvSpPr>
            <a:spLocks noGrp="1"/>
          </p:cNvSpPr>
          <p:nvPr/>
        </p:nvSpPr>
        <p:spPr>
          <a:xfrm>
            <a:off x="895350" y="4391025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PB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8E008981-3BAC-4F11-B046-EC6F3023E1F7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D9F7C56-3351-4B2E-B401-87AF2A9B610C}"/>
              </a:ext>
            </a:extLst>
          </p:cNvPr>
          <p:cNvSpPr>
            <a:spLocks noGrp="1"/>
          </p:cNvSpPr>
          <p:nvPr/>
        </p:nvSpPr>
        <p:spPr>
          <a:xfrm>
            <a:off x="2590800" y="4429125"/>
            <a:ext cx="3407304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55CB2638-5177-4616-A8B0-52AF4DEE8E56}"/>
              </a:ext>
            </a:extLst>
          </p:cNvPr>
          <p:cNvSpPr>
            <a:spLocks noGrp="1"/>
          </p:cNvSpPr>
          <p:nvPr/>
        </p:nvSpPr>
        <p:spPr>
          <a:xfrm>
            <a:off x="7219950" y="4362450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20.6 days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82821202-C7D8-4AE0-9959-3D31620CC0BC}"/>
              </a:ext>
            </a:extLst>
          </p:cNvPr>
          <p:cNvSpPr>
            <a:spLocks noGrp="1"/>
          </p:cNvSpPr>
          <p:nvPr/>
        </p:nvSpPr>
        <p:spPr>
          <a:xfrm>
            <a:off x="895350" y="4767263"/>
            <a:ext cx="16192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4C681AE0-BC79-4F0C-858A-63A5191406D8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4476750" cy="114300"/>
          </a:xfrm>
          <a:prstGeom prst="rect">
            <a:avLst/>
          </a:prstGeom>
          <a:solidFill>
            <a:srgbClr val="ECE7D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F968FB2A-FD4F-47E3-B664-6BA4FEEF3166}"/>
              </a:ext>
            </a:extLst>
          </p:cNvPr>
          <p:cNvSpPr>
            <a:spLocks noGrp="1"/>
          </p:cNvSpPr>
          <p:nvPr/>
        </p:nvSpPr>
        <p:spPr>
          <a:xfrm>
            <a:off x="2590800" y="4805363"/>
            <a:ext cx="3259737" cy="11430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5D3EA23-E93B-4AAF-8F86-A6B5A498B70C}"/>
              </a:ext>
            </a:extLst>
          </p:cNvPr>
          <p:cNvSpPr>
            <a:spLocks noGrp="1"/>
          </p:cNvSpPr>
          <p:nvPr/>
        </p:nvSpPr>
        <p:spPr>
          <a:xfrm>
            <a:off x="7219950" y="4738688"/>
            <a:ext cx="9144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19.7 days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60B92C6-9406-404F-968C-69B667C6CAC7}"/>
              </a:ext>
            </a:extLst>
          </p:cNvPr>
          <p:cNvSpPr>
            <a:spLocks noGrp="1"/>
          </p:cNvSpPr>
          <p:nvPr/>
        </p:nvSpPr>
        <p:spPr>
          <a:xfrm>
            <a:off x="8553450" y="2324100"/>
            <a:ext cx="2190750" cy="2190750"/>
          </a:xfrm>
          <a:prstGeom prst="rect">
            <a:avLst/>
          </a:prstGeom>
          <a:solidFill>
            <a:srgbClr val="101820"/>
          </a:solidFill>
          <a:ln w="9525">
            <a:solidFill>
              <a:srgbClr val="101820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DA245314-4F78-4293-9E63-304ED76DDA86}"/>
              </a:ext>
            </a:extLst>
          </p:cNvPr>
          <p:cNvSpPr>
            <a:spLocks noGrp="1"/>
          </p:cNvSpPr>
          <p:nvPr/>
        </p:nvSpPr>
        <p:spPr>
          <a:xfrm>
            <a:off x="8858250" y="2667000"/>
            <a:ext cx="161925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Decision implication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9A4CE736-FDA0-4B75-AE3C-0DA46152316A}"/>
              </a:ext>
            </a:extLst>
          </p:cNvPr>
          <p:cNvSpPr>
            <a:spLocks noGrp="1"/>
          </p:cNvSpPr>
          <p:nvPr/>
        </p:nvSpPr>
        <p:spPr>
          <a:xfrm>
            <a:off x="8858250" y="3124200"/>
            <a:ext cx="1600200" cy="10668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Fix carrier paths, seller location mix, and estimated-date accuracy before pushing demand into weak corridors.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CA06435-625A-4553-8C10-7BCE6410C9BF}"/>
              </a:ext>
            </a:extLst>
          </p:cNvPr>
          <p:cNvSpPr>
            <a:spLocks noGrp="1"/>
          </p:cNvSpPr>
          <p:nvPr/>
        </p:nvSpPr>
        <p:spPr>
          <a:xfrm>
            <a:off x="914400" y="5334000"/>
            <a:ext cx="523875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Delivered orders only; states shown have at least 100 orders.</a:t>
            </a:r>
          </a:p>
        </p:txBody>
      </p:sp>
    </p:spTree>
    <p:extLst>
      <p:ext uri="{BB962C8B-B14F-4D97-AF65-F5344CB8AC3E}">
        <p14:creationId xmlns:p14="http://schemas.microsoft.com/office/powerpoint/2010/main" val="1490290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E72EBE19-561C-404E-BE83-EC2C0139930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557FD8A-F090-4690-AB72-C208D4510815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10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4D958C8-E380-4F7A-B46D-C6F765F6B936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9A617A2B-F861-4146-B37A-00937397321A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916BBAD7-C705-43DE-80DE-E0E7224972A0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SELLER HEALTH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159E0B-1D73-4CF7-AEAB-9EB63FF18D21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Seller concentration and activity patterns reveal where platform value needs active management.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50A4E8-B968-4FAB-A977-A6CB45074428}"/>
              </a:ext>
            </a:extLst>
          </p:cNvPr>
          <p:cNvSpPr>
            <a:spLocks noGrp="1"/>
          </p:cNvSpPr>
          <p:nvPr/>
        </p:nvSpPr>
        <p:spPr>
          <a:xfrm>
            <a:off x="1104900" y="2686050"/>
            <a:ext cx="5149002" cy="8191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CE4547-8FB8-49FD-B5E5-17A795D3909F}"/>
              </a:ext>
            </a:extLst>
          </p:cNvPr>
          <p:cNvSpPr>
            <a:spLocks noGrp="1"/>
          </p:cNvSpPr>
          <p:nvPr/>
        </p:nvSpPr>
        <p:spPr>
          <a:xfrm>
            <a:off x="1219200" y="2933700"/>
            <a:ext cx="495850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13.2%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80C6B8-13A7-42F3-B19E-51EB7A54A0E9}"/>
              </a:ext>
            </a:extLst>
          </p:cNvPr>
          <p:cNvSpPr>
            <a:spLocks noGrp="1"/>
          </p:cNvSpPr>
          <p:nvPr/>
        </p:nvSpPr>
        <p:spPr>
          <a:xfrm>
            <a:off x="6253902" y="2686050"/>
            <a:ext cx="1177982" cy="8191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5A04AD3-2410-4378-B6B0-F877BC915D21}"/>
              </a:ext>
            </a:extLst>
          </p:cNvPr>
          <p:cNvSpPr>
            <a:spLocks noGrp="1"/>
          </p:cNvSpPr>
          <p:nvPr/>
        </p:nvSpPr>
        <p:spPr>
          <a:xfrm>
            <a:off x="6368202" y="2933700"/>
            <a:ext cx="987482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45.1%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B368FF-50FB-4E5D-8B73-11D455084FFB}"/>
              </a:ext>
            </a:extLst>
          </p:cNvPr>
          <p:cNvSpPr>
            <a:spLocks noGrp="1"/>
          </p:cNvSpPr>
          <p:nvPr/>
        </p:nvSpPr>
        <p:spPr>
          <a:xfrm>
            <a:off x="7431884" y="2686050"/>
            <a:ext cx="155773" cy="8191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75A6AE-84CC-4EDE-9E5B-671A7C857D21}"/>
              </a:ext>
            </a:extLst>
          </p:cNvPr>
          <p:cNvSpPr>
            <a:spLocks noGrp="1"/>
          </p:cNvSpPr>
          <p:nvPr/>
        </p:nvSpPr>
        <p:spPr>
          <a:xfrm>
            <a:off x="7546184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B5D80CB7-5C8A-462A-9C0E-76582265D9AF}"/>
              </a:ext>
            </a:extLst>
          </p:cNvPr>
          <p:cNvSpPr>
            <a:spLocks noGrp="1"/>
          </p:cNvSpPr>
          <p:nvPr/>
        </p:nvSpPr>
        <p:spPr>
          <a:xfrm>
            <a:off x="7587657" y="2686050"/>
            <a:ext cx="89493" cy="8191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01D0F1E-D931-4DEC-B6D1-DC223653D86D}"/>
              </a:ext>
            </a:extLst>
          </p:cNvPr>
          <p:cNvSpPr>
            <a:spLocks noGrp="1"/>
          </p:cNvSpPr>
          <p:nvPr/>
        </p:nvSpPr>
        <p:spPr>
          <a:xfrm>
            <a:off x="7701957" y="2933700"/>
            <a:ext cx="5143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endParaRPr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129B8A-A0B7-4CE6-A3E1-239411A51B6F}"/>
              </a:ext>
            </a:extLst>
          </p:cNvPr>
          <p:cNvSpPr>
            <a:spLocks noGrp="1"/>
          </p:cNvSpPr>
          <p:nvPr/>
        </p:nvSpPr>
        <p:spPr>
          <a:xfrm>
            <a:off x="1181100" y="4076700"/>
            <a:ext cx="133350" cy="133350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2619063-BC0D-4B3D-95CF-6077670F7AC0}"/>
              </a:ext>
            </a:extLst>
          </p:cNvPr>
          <p:cNvSpPr>
            <a:spLocks noGrp="1"/>
          </p:cNvSpPr>
          <p:nvPr/>
        </p:nvSpPr>
        <p:spPr>
          <a:xfrm>
            <a:off x="1447800" y="40386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10 sellers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C84BEE5-1867-4EDC-9BF2-8A980BD1DBE1}"/>
              </a:ext>
            </a:extLst>
          </p:cNvPr>
          <p:cNvSpPr>
            <a:spLocks noGrp="1"/>
          </p:cNvSpPr>
          <p:nvPr/>
        </p:nvSpPr>
        <p:spPr>
          <a:xfrm>
            <a:off x="3257550" y="40386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EDF07BB-C528-4CCD-9D24-C0C98FDF4DE4}"/>
              </a:ext>
            </a:extLst>
          </p:cNvPr>
          <p:cNvSpPr>
            <a:spLocks noGrp="1"/>
          </p:cNvSpPr>
          <p:nvPr/>
        </p:nvSpPr>
        <p:spPr>
          <a:xfrm>
            <a:off x="4591050" y="40386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account priority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6F33DC34-92A7-4CEE-8914-7CE1E2C96E12}"/>
              </a:ext>
            </a:extLst>
          </p:cNvPr>
          <p:cNvSpPr>
            <a:spLocks noGrp="1"/>
          </p:cNvSpPr>
          <p:nvPr/>
        </p:nvSpPr>
        <p:spPr>
          <a:xfrm>
            <a:off x="1181100" y="4476750"/>
            <a:ext cx="133350" cy="13335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86872D2-6C4F-4FC2-9279-7EC107D550E6}"/>
              </a:ext>
            </a:extLst>
          </p:cNvPr>
          <p:cNvSpPr>
            <a:spLocks noGrp="1"/>
          </p:cNvSpPr>
          <p:nvPr/>
        </p:nvSpPr>
        <p:spPr>
          <a:xfrm>
            <a:off x="1447800" y="4438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100 sellers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090AA96-6BF0-4414-9282-72C4160DA758}"/>
              </a:ext>
            </a:extLst>
          </p:cNvPr>
          <p:cNvSpPr>
            <a:spLocks noGrp="1"/>
          </p:cNvSpPr>
          <p:nvPr/>
        </p:nvSpPr>
        <p:spPr>
          <a:xfrm>
            <a:off x="3257550" y="44386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1807DD-69BA-4A4B-8304-605996EA8A1A}"/>
              </a:ext>
            </a:extLst>
          </p:cNvPr>
          <p:cNvSpPr>
            <a:spLocks noGrp="1"/>
          </p:cNvSpPr>
          <p:nvPr/>
        </p:nvSpPr>
        <p:spPr>
          <a:xfrm>
            <a:off x="4591050" y="44386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dependency risk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60DF7D9-F6F9-4B9A-B51E-736477FF3C09}"/>
              </a:ext>
            </a:extLst>
          </p:cNvPr>
          <p:cNvSpPr>
            <a:spLocks noGrp="1"/>
          </p:cNvSpPr>
          <p:nvPr/>
        </p:nvSpPr>
        <p:spPr>
          <a:xfrm>
            <a:off x="1181100" y="4876800"/>
            <a:ext cx="133350" cy="133350"/>
          </a:xfrm>
          <a:prstGeom prst="rect">
            <a:avLst/>
          </a:prstGeom>
          <a:solidFill>
            <a:srgbClr val="4E7D54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3012165-E2D3-493D-92A8-242E7FE3F17A}"/>
              </a:ext>
            </a:extLst>
          </p:cNvPr>
          <p:cNvSpPr>
            <a:spLocks noGrp="1"/>
          </p:cNvSpPr>
          <p:nvPr/>
        </p:nvSpPr>
        <p:spPr>
          <a:xfrm>
            <a:off x="1447800" y="483870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top 500 sellers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A305C0D-5BA3-4661-8F14-293AEA309FA4}"/>
              </a:ext>
            </a:extLst>
          </p:cNvPr>
          <p:cNvSpPr>
            <a:spLocks noGrp="1"/>
          </p:cNvSpPr>
          <p:nvPr/>
        </p:nvSpPr>
        <p:spPr>
          <a:xfrm>
            <a:off x="3257550" y="4838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78.2%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F1FC659-6E25-4579-BD33-623B60F415B1}"/>
              </a:ext>
            </a:extLst>
          </p:cNvPr>
          <p:cNvSpPr>
            <a:spLocks noGrp="1"/>
          </p:cNvSpPr>
          <p:nvPr/>
        </p:nvSpPr>
        <p:spPr>
          <a:xfrm>
            <a:off x="4591050" y="483870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GMV share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230FC50-2ECD-423E-B0DD-150511ACED61}"/>
              </a:ext>
            </a:extLst>
          </p:cNvPr>
          <p:cNvSpPr>
            <a:spLocks noGrp="1"/>
          </p:cNvSpPr>
          <p:nvPr/>
        </p:nvSpPr>
        <p:spPr>
          <a:xfrm>
            <a:off x="1181100" y="5276850"/>
            <a:ext cx="133350" cy="133350"/>
          </a:xfrm>
          <a:prstGeom prst="rect">
            <a:avLst/>
          </a:prstGeom>
          <a:solidFill>
            <a:srgbClr val="C75C43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D49DAE4-0CF9-4854-B643-958AEDD44744}"/>
              </a:ext>
            </a:extLst>
          </p:cNvPr>
          <p:cNvSpPr>
            <a:spLocks noGrp="1"/>
          </p:cNvSpPr>
          <p:nvPr/>
        </p:nvSpPr>
        <p:spPr>
          <a:xfrm>
            <a:off x="1447800" y="52387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one-month sellers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698BB83-3ADB-477A-A25A-0E164BB642DA}"/>
              </a:ext>
            </a:extLst>
          </p:cNvPr>
          <p:cNvSpPr>
            <a:spLocks noGrp="1"/>
          </p:cNvSpPr>
          <p:nvPr/>
        </p:nvSpPr>
        <p:spPr>
          <a:xfrm>
            <a:off x="3257550" y="523875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751 sellers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C601DEC-908B-42A9-976C-8F242A8F4012}"/>
              </a:ext>
            </a:extLst>
          </p:cNvPr>
          <p:cNvSpPr>
            <a:spLocks noGrp="1"/>
          </p:cNvSpPr>
          <p:nvPr/>
        </p:nvSpPr>
        <p:spPr>
          <a:xfrm>
            <a:off x="4591050" y="52387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20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retention proxy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7E65196-24A1-481B-A675-EFA0BDFA339A}"/>
              </a:ext>
            </a:extLst>
          </p:cNvPr>
          <p:cNvSpPr>
            <a:spLocks noGrp="1"/>
          </p:cNvSpPr>
          <p:nvPr/>
        </p:nvSpPr>
        <p:spPr>
          <a:xfrm>
            <a:off x="8477250" y="2343150"/>
            <a:ext cx="1428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Strategic note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97BC328-17A8-42DC-812F-F3FA4BF31C02}"/>
              </a:ext>
            </a:extLst>
          </p:cNvPr>
          <p:cNvSpPr>
            <a:spLocks noGrp="1"/>
          </p:cNvSpPr>
          <p:nvPr/>
        </p:nvSpPr>
        <p:spPr>
          <a:xfrm>
            <a:off x="8477250" y="2724150"/>
            <a:ext cx="2133600" cy="971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Prioritize high-GMV seller retention, help mid-tier sellers grow, and investigate one-month seller drop-off with internal lifecycle data.</a:t>
            </a:r>
          </a:p>
        </p:txBody>
      </p:sp>
    </p:spTree>
    <p:extLst>
      <p:ext uri="{BB962C8B-B14F-4D97-AF65-F5344CB8AC3E}">
        <p14:creationId xmlns:p14="http://schemas.microsoft.com/office/powerpoint/2010/main" val="1124012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Rectangle 27">
            <a:extLst>
              <a:ext uri="{FF2B5EF4-FFF2-40B4-BE49-F238E27FC236}">
                <a16:creationId xmlns:a16="http://schemas.microsoft.com/office/drawing/2014/main" id="{5E944293-DA94-4048-A538-337555C6279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7F3EA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4269D06-34FD-4DD0-A67D-E92CC4BF7B08}"/>
              </a:ext>
            </a:extLst>
          </p:cNvPr>
          <p:cNvSpPr>
            <a:spLocks noGrp="1"/>
          </p:cNvSpPr>
          <p:nvPr/>
        </p:nvSpPr>
        <p:spPr>
          <a:xfrm>
            <a:off x="685800" y="6477000"/>
            <a:ext cx="40005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Olist marketplace analytics | 11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FDA810E-24DB-4B00-8BD7-66A9B015B21C}"/>
              </a:ext>
            </a:extLst>
          </p:cNvPr>
          <p:cNvSpPr>
            <a:spLocks noGrp="1"/>
          </p:cNvSpPr>
          <p:nvPr/>
        </p:nvSpPr>
        <p:spPr>
          <a:xfrm>
            <a:off x="6858000" y="6477000"/>
            <a:ext cx="4648200" cy="1714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750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Source: Olist Brazilian E-Commerce dataset; DuckDB warehouse outputs</a:t>
            </a:r>
          </a:p>
        </p:txBody>
      </p:sp>
      <p:sp>
        <p:nvSpPr>
          <p:cNvPr id="4" name="kicker-marker">
            <a:extLst>
              <a:ext uri="{FF2B5EF4-FFF2-40B4-BE49-F238E27FC236}">
                <a16:creationId xmlns:a16="http://schemas.microsoft.com/office/drawing/2014/main" id="{7111305E-0573-4D5D-B6A7-F18F9E3E9A50}"/>
              </a:ext>
            </a:extLst>
          </p:cNvPr>
          <p:cNvSpPr>
            <a:spLocks noGrp="1"/>
          </p:cNvSpPr>
          <p:nvPr/>
        </p:nvSpPr>
        <p:spPr>
          <a:xfrm>
            <a:off x="685800" y="476250"/>
            <a:ext cx="76200" cy="76200"/>
          </a:xfrm>
          <a:prstGeom prst="rect">
            <a:avLst/>
          </a:prstGeom>
          <a:solidFill>
            <a:srgbClr val="D79A31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5" name="kicker-label">
            <a:extLst>
              <a:ext uri="{FF2B5EF4-FFF2-40B4-BE49-F238E27FC236}">
                <a16:creationId xmlns:a16="http://schemas.microsoft.com/office/drawing/2014/main" id="{73D7C0F1-ABB1-41FA-9971-C550A26C2D69}"/>
              </a:ext>
            </a:extLst>
          </p:cNvPr>
          <p:cNvSpPr>
            <a:spLocks noGrp="1"/>
          </p:cNvSpPr>
          <p:nvPr/>
        </p:nvSpPr>
        <p:spPr>
          <a:xfrm>
            <a:off x="857250" y="409575"/>
            <a:ext cx="2476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ctr"/>
          <a:lstStyle/>
          <a:p>
            <a:pPr algn="l">
              <a:defRPr sz="900" b="1">
                <a:solidFill>
                  <a:srgbClr val="1F6F8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F6F8B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01B31F-0CD1-4763-B534-3B30F890E7E4}"/>
              </a:ext>
            </a:extLst>
          </p:cNvPr>
          <p:cNvSpPr>
            <a:spLocks noGrp="1"/>
          </p:cNvSpPr>
          <p:nvPr/>
        </p:nvSpPr>
        <p:spPr>
          <a:xfrm>
            <a:off x="685800" y="781050"/>
            <a:ext cx="8191500" cy="8763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5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The next phase should operationalize the warehouse into recurring seller and platform decisions.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1A01AF2-32C7-4917-92C6-760E07293CB9}"/>
              </a:ext>
            </a:extLst>
          </p:cNvPr>
          <p:cNvSpPr>
            <a:spLocks noGrp="1"/>
          </p:cNvSpPr>
          <p:nvPr/>
        </p:nvSpPr>
        <p:spPr>
          <a:xfrm>
            <a:off x="9525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BE02A7A-9599-4783-BBBE-28EB1A3F8CBC}"/>
              </a:ext>
            </a:extLst>
          </p:cNvPr>
          <p:cNvSpPr>
            <a:spLocks noGrp="1"/>
          </p:cNvSpPr>
          <p:nvPr/>
        </p:nvSpPr>
        <p:spPr>
          <a:xfrm>
            <a:off x="11620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4FA3BFA-2ACF-436E-A758-402DB9F72732}"/>
              </a:ext>
            </a:extLst>
          </p:cNvPr>
          <p:cNvSpPr>
            <a:spLocks noGrp="1"/>
          </p:cNvSpPr>
          <p:nvPr/>
        </p:nvSpPr>
        <p:spPr>
          <a:xfrm>
            <a:off x="11620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Stabilize GMV metrics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BDF3191-1CFA-494F-81BD-DF1AB672BE22}"/>
              </a:ext>
            </a:extLst>
          </p:cNvPr>
          <p:cNvSpPr>
            <a:spLocks noGrp="1"/>
          </p:cNvSpPr>
          <p:nvPr/>
        </p:nvSpPr>
        <p:spPr>
          <a:xfrm>
            <a:off x="11620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Lock delivered-only and all-status KPI definitions; keep GMV separate from Olist revenue.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5056A23-1E14-4B78-A3FF-42FAC68A6789}"/>
              </a:ext>
            </a:extLst>
          </p:cNvPr>
          <p:cNvSpPr>
            <a:spLocks noGrp="1"/>
          </p:cNvSpPr>
          <p:nvPr/>
        </p:nvSpPr>
        <p:spPr>
          <a:xfrm>
            <a:off x="30289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5451B02-6451-4721-9D69-01DB89C6C5D6}"/>
              </a:ext>
            </a:extLst>
          </p:cNvPr>
          <p:cNvSpPr>
            <a:spLocks noGrp="1"/>
          </p:cNvSpPr>
          <p:nvPr/>
        </p:nvSpPr>
        <p:spPr>
          <a:xfrm>
            <a:off x="35242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769FD05-322B-45AE-83DB-9B79AF7FEDDF}"/>
              </a:ext>
            </a:extLst>
          </p:cNvPr>
          <p:cNvSpPr>
            <a:spLocks noGrp="1"/>
          </p:cNvSpPr>
          <p:nvPr/>
        </p:nvSpPr>
        <p:spPr>
          <a:xfrm>
            <a:off x="37338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A1D6F5C-2E07-4D6C-AFFC-1AB41C9D4B4A}"/>
              </a:ext>
            </a:extLst>
          </p:cNvPr>
          <p:cNvSpPr>
            <a:spLocks noGrp="1"/>
          </p:cNvSpPr>
          <p:nvPr/>
        </p:nvSpPr>
        <p:spPr>
          <a:xfrm>
            <a:off x="37338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Automate pipeline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5D5A856-3439-46DC-94F2-E8942A57B3C7}"/>
              </a:ext>
            </a:extLst>
          </p:cNvPr>
          <p:cNvSpPr>
            <a:spLocks noGrp="1"/>
          </p:cNvSpPr>
          <p:nvPr/>
        </p:nvSpPr>
        <p:spPr>
          <a:xfrm>
            <a:off x="37338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Schedule ingestion, transformations, and quality checks with visible failure reporting.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E468433-0E4F-418A-B614-8FFA59891495}"/>
              </a:ext>
            </a:extLst>
          </p:cNvPr>
          <p:cNvSpPr>
            <a:spLocks noGrp="1"/>
          </p:cNvSpPr>
          <p:nvPr/>
        </p:nvSpPr>
        <p:spPr>
          <a:xfrm>
            <a:off x="560070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0B857EE-C792-4777-8F19-09672BF3944E}"/>
              </a:ext>
            </a:extLst>
          </p:cNvPr>
          <p:cNvSpPr>
            <a:spLocks noGrp="1"/>
          </p:cNvSpPr>
          <p:nvPr/>
        </p:nvSpPr>
        <p:spPr>
          <a:xfrm>
            <a:off x="6096000" y="2476500"/>
            <a:ext cx="2000250" cy="2000250"/>
          </a:xfrm>
          <a:prstGeom prst="rect">
            <a:avLst/>
          </a:prstGeom>
          <a:solidFill>
            <a:srgbClr val="EAF4F6"/>
          </a:solidFill>
          <a:ln w="9525">
            <a:solidFill>
              <a:srgbClr val="1F6F8B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C3A589-B371-4CCF-A7AF-721C69DF1729}"/>
              </a:ext>
            </a:extLst>
          </p:cNvPr>
          <p:cNvSpPr>
            <a:spLocks noGrp="1"/>
          </p:cNvSpPr>
          <p:nvPr/>
        </p:nvSpPr>
        <p:spPr>
          <a:xfrm>
            <a:off x="630555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696F990-BC87-473A-9FEB-C29E7A3C8305}"/>
              </a:ext>
            </a:extLst>
          </p:cNvPr>
          <p:cNvSpPr>
            <a:spLocks noGrp="1"/>
          </p:cNvSpPr>
          <p:nvPr/>
        </p:nvSpPr>
        <p:spPr>
          <a:xfrm>
            <a:off x="630555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Add seller dashboard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96224C9-A287-4BDA-BDD4-019296CA7D54}"/>
              </a:ext>
            </a:extLst>
          </p:cNvPr>
          <p:cNvSpPr>
            <a:spLocks noGrp="1"/>
          </p:cNvSpPr>
          <p:nvPr/>
        </p:nvSpPr>
        <p:spPr>
          <a:xfrm>
            <a:off x="630555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Publish dashboard pages for GMV, seller health, category, geography, delivery, and reviews.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3BE4B70-62A1-4B4F-AB28-F812EEF98A1E}"/>
              </a:ext>
            </a:extLst>
          </p:cNvPr>
          <p:cNvSpPr>
            <a:spLocks noGrp="1"/>
          </p:cNvSpPr>
          <p:nvPr/>
        </p:nvSpPr>
        <p:spPr>
          <a:xfrm>
            <a:off x="8172450" y="3429000"/>
            <a:ext cx="457200" cy="28575"/>
          </a:xfrm>
          <a:prstGeom prst="rect">
            <a:avLst/>
          </a:prstGeom>
          <a:solidFill>
            <a:srgbClr val="1F6F8B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7C9CB49-ED1B-4EE1-AAFE-9FD2BB6A14F1}"/>
              </a:ext>
            </a:extLst>
          </p:cNvPr>
          <p:cNvSpPr>
            <a:spLocks noGrp="1"/>
          </p:cNvSpPr>
          <p:nvPr/>
        </p:nvSpPr>
        <p:spPr>
          <a:xfrm>
            <a:off x="8667750" y="2476500"/>
            <a:ext cx="2000250" cy="2000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D0C2"/>
            </a:solidFill>
          </a:ln>
        </p:spPr>
        <p:txBody>
          <a:bodyPr/>
          <a:lstStyle/>
          <a:p>
            <a:endParaRPr lang="en-SG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262EB5E-037D-4D85-995F-F13CAE450D4C}"/>
              </a:ext>
            </a:extLst>
          </p:cNvPr>
          <p:cNvSpPr>
            <a:spLocks noGrp="1"/>
          </p:cNvSpPr>
          <p:nvPr/>
        </p:nvSpPr>
        <p:spPr>
          <a:xfrm>
            <a:off x="8877300" y="2686050"/>
            <a:ext cx="4000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F171584-8859-4536-B786-477A148794C1}"/>
              </a:ext>
            </a:extLst>
          </p:cNvPr>
          <p:cNvSpPr>
            <a:spLocks noGrp="1"/>
          </p:cNvSpPr>
          <p:nvPr/>
        </p:nvSpPr>
        <p:spPr>
          <a:xfrm>
            <a:off x="8877300" y="3238500"/>
            <a:ext cx="1524000" cy="2476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5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decisions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533DFBDA-080B-4FC0-8971-E33BC5BBA0DF}"/>
              </a:ext>
            </a:extLst>
          </p:cNvPr>
          <p:cNvSpPr>
            <a:spLocks noGrp="1"/>
          </p:cNvSpPr>
          <p:nvPr/>
        </p:nvSpPr>
        <p:spPr>
          <a:xfrm>
            <a:off x="8877300" y="3695700"/>
            <a:ext cx="1504950" cy="590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0">
                <a:solidFill>
                  <a:srgbClr val="6A6F73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6A6F73"/>
                </a:solidFill>
                <a:latin typeface="Aptos"/>
                <a:ea typeface="Aptos"/>
                <a:cs typeface="Aptos"/>
              </a:rPr>
              <a:t>Tie seller support, category investment, and regional logistics work to monthly reviews.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2AEE43-156A-481E-8281-BA653FF7A5A6}"/>
              </a:ext>
            </a:extLst>
          </p:cNvPr>
          <p:cNvSpPr>
            <a:spLocks noGrp="1"/>
          </p:cNvSpPr>
          <p:nvPr/>
        </p:nvSpPr>
        <p:spPr>
          <a:xfrm>
            <a:off x="952500" y="5219700"/>
            <a:ext cx="1047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Outcome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8C8B9C8-5272-479C-9245-EC33D519E40F}"/>
              </a:ext>
            </a:extLst>
          </p:cNvPr>
          <p:cNvSpPr>
            <a:spLocks noGrp="1"/>
          </p:cNvSpPr>
          <p:nvPr/>
        </p:nvSpPr>
        <p:spPr>
          <a:xfrm>
            <a:off x="2038350" y="5162550"/>
            <a:ext cx="6858000" cy="4572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7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Move from a successful assignment pipeline to a seller-focused decision system teams can trust repeatedly.</a:t>
            </a:r>
          </a:p>
        </p:txBody>
      </p:sp>
    </p:spTree>
    <p:extLst>
      <p:ext uri="{BB962C8B-B14F-4D97-AF65-F5344CB8AC3E}">
        <p14:creationId xmlns:p14="http://schemas.microsoft.com/office/powerpoint/2010/main" val="17688450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F0CB231-25A6-4564-9D31-D428D463D59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1820"/>
          </a:solidFill>
          <a:ln>
            <a:noFill/>
          </a:ln>
        </p:spPr>
        <p:txBody>
          <a:bodyPr/>
          <a:lstStyle/>
          <a:p>
            <a:endParaRPr lang="en-SG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79C6FD9-A400-4180-9CBE-0D6147B5D3A5}"/>
              </a:ext>
            </a:extLst>
          </p:cNvPr>
          <p:cNvSpPr>
            <a:spLocks noGrp="1"/>
          </p:cNvSpPr>
          <p:nvPr/>
        </p:nvSpPr>
        <p:spPr>
          <a:xfrm>
            <a:off x="685800" y="552450"/>
            <a:ext cx="20955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75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Close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BCCDBCA-3297-4B7A-9122-1F094293141F}"/>
              </a:ext>
            </a:extLst>
          </p:cNvPr>
          <p:cNvSpPr>
            <a:spLocks noGrp="1"/>
          </p:cNvSpPr>
          <p:nvPr/>
        </p:nvSpPr>
        <p:spPr>
          <a:xfrm>
            <a:off x="685800" y="1219200"/>
            <a:ext cx="8191500" cy="12382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33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3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The Olist warehouse turns raw marketplace activity into a seller-focused platform operating view.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7852FED-DC8F-4DD4-8E7D-A8CBCA5ECBB8}"/>
              </a:ext>
            </a:extLst>
          </p:cNvPr>
          <p:cNvSpPr>
            <a:spLocks noGrp="1"/>
          </p:cNvSpPr>
          <p:nvPr/>
        </p:nvSpPr>
        <p:spPr>
          <a:xfrm>
            <a:off x="704850" y="2838450"/>
            <a:ext cx="7239000" cy="5715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650" b="0">
                <a:solidFill>
                  <a:srgbClr val="D8E4E8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8E4E8"/>
                </a:solidFill>
                <a:latin typeface="Aptos"/>
                <a:ea typeface="Aptos"/>
                <a:cs typeface="Aptos"/>
              </a:rPr>
              <a:t>Decision makers can see which sellers, categories, regions, and logistics issues deserve attention. Data specialists can see how the metrics were built and checked.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C5B9911-4BFB-4E75-985A-5051E38D51FA}"/>
              </a:ext>
            </a:extLst>
          </p:cNvPr>
          <p:cNvSpPr>
            <a:spLocks noGrp="1"/>
          </p:cNvSpPr>
          <p:nvPr/>
        </p:nvSpPr>
        <p:spPr>
          <a:xfrm>
            <a:off x="81915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Scale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E01E1FE-28C4-4C92-AE3B-65C6FBCCFA25}"/>
              </a:ext>
            </a:extLst>
          </p:cNvPr>
          <p:cNvSpPr>
            <a:spLocks noGrp="1"/>
          </p:cNvSpPr>
          <p:nvPr/>
        </p:nvSpPr>
        <p:spPr>
          <a:xfrm>
            <a:off x="81915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3,095 sellers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591ED42-1A2B-4249-B09D-B0B969DC675E}"/>
              </a:ext>
            </a:extLst>
          </p:cNvPr>
          <p:cNvSpPr>
            <a:spLocks noGrp="1"/>
          </p:cNvSpPr>
          <p:nvPr/>
        </p:nvSpPr>
        <p:spPr>
          <a:xfrm>
            <a:off x="81915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merchant base now visible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DF47124-167C-4861-93B3-00BAF8513D3E}"/>
              </a:ext>
            </a:extLst>
          </p:cNvPr>
          <p:cNvSpPr>
            <a:spLocks noGrp="1"/>
          </p:cNvSpPr>
          <p:nvPr/>
        </p:nvSpPr>
        <p:spPr>
          <a:xfrm>
            <a:off x="3086100" y="4381500"/>
            <a:ext cx="180975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Trust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A126765-C2F8-4722-A3B5-24A67079FEED}"/>
              </a:ext>
            </a:extLst>
          </p:cNvPr>
          <p:cNvSpPr>
            <a:spLocks noGrp="1"/>
          </p:cNvSpPr>
          <p:nvPr/>
        </p:nvSpPr>
        <p:spPr>
          <a:xfrm>
            <a:off x="3086100" y="4819650"/>
            <a:ext cx="180975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15 checks passed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1EB3BD-566B-4125-B9C9-E152526822AF}"/>
              </a:ext>
            </a:extLst>
          </p:cNvPr>
          <p:cNvSpPr>
            <a:spLocks noGrp="1"/>
          </p:cNvSpPr>
          <p:nvPr/>
        </p:nvSpPr>
        <p:spPr>
          <a:xfrm>
            <a:off x="3086100" y="5048250"/>
            <a:ext cx="180975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quality gates built into the pipeline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17DF121-8C2C-40BC-A3F1-3DFE4CDB04E8}"/>
              </a:ext>
            </a:extLst>
          </p:cNvPr>
          <p:cNvSpPr>
            <a:spLocks noGrp="1"/>
          </p:cNvSpPr>
          <p:nvPr/>
        </p:nvSpPr>
        <p:spPr>
          <a:xfrm>
            <a:off x="5448300" y="4381500"/>
            <a:ext cx="2095500" cy="4191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2BF9964-2053-420F-B8F5-EC8B24FC0659}"/>
              </a:ext>
            </a:extLst>
          </p:cNvPr>
          <p:cNvSpPr>
            <a:spLocks noGrp="1"/>
          </p:cNvSpPr>
          <p:nvPr/>
        </p:nvSpPr>
        <p:spPr>
          <a:xfrm>
            <a:off x="5448300" y="4819650"/>
            <a:ext cx="2095500" cy="2095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1050" b="1">
                <a:solidFill>
                  <a:srgbClr val="7FD0E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7FD0E6"/>
                </a:solidFill>
                <a:latin typeface="Aptos"/>
                <a:ea typeface="Aptos"/>
                <a:cs typeface="Aptos"/>
              </a:rPr>
              <a:t>seller + logistics focus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EB10238-4B2B-4438-921B-9DEF0DB6A939}"/>
              </a:ext>
            </a:extLst>
          </p:cNvPr>
          <p:cNvSpPr>
            <a:spLocks noGrp="1"/>
          </p:cNvSpPr>
          <p:nvPr/>
        </p:nvSpPr>
        <p:spPr>
          <a:xfrm>
            <a:off x="5448300" y="5048250"/>
            <a:ext cx="2095500" cy="3619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l">
              <a:defRPr sz="900" b="0">
                <a:solidFill>
                  <a:srgbClr val="B7C7CE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7C7CE"/>
                </a:solidFill>
                <a:latin typeface="Aptos"/>
                <a:ea typeface="Aptos"/>
                <a:cs typeface="Aptos"/>
              </a:rPr>
              <a:t>clear levers for next iteration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6295CD8-C89D-4418-A833-7B2CD657F94C}"/>
              </a:ext>
            </a:extLst>
          </p:cNvPr>
          <p:cNvSpPr>
            <a:spLocks noGrp="1"/>
          </p:cNvSpPr>
          <p:nvPr/>
        </p:nvSpPr>
        <p:spPr>
          <a:xfrm>
            <a:off x="9620250" y="5219700"/>
            <a:ext cx="1238250" cy="43815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3000" b="1">
                <a:solidFill>
                  <a:srgbClr val="D79A31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D79A31"/>
                </a:solidFill>
                <a:latin typeface="Aptos"/>
                <a:ea typeface="Aptos"/>
                <a:cs typeface="Aptos"/>
              </a:rPr>
              <a:t>Q&amp;A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8957F59-B059-46BE-ACCF-8D04177A2B30}"/>
              </a:ext>
            </a:extLst>
          </p:cNvPr>
          <p:cNvSpPr>
            <a:spLocks noGrp="1"/>
          </p:cNvSpPr>
          <p:nvPr/>
        </p:nvSpPr>
        <p:spPr>
          <a:xfrm>
            <a:off x="11144250" y="6362700"/>
            <a:ext cx="381000" cy="228600"/>
          </a:xfrm>
          <a:prstGeom prst="rect">
            <a:avLst/>
          </a:prstGeom>
          <a:ln>
            <a:noFill/>
          </a:ln>
        </p:spPr>
        <p:txBody>
          <a:bodyPr lIns="0" tIns="0" rIns="0" bIns="0" anchor="t"/>
          <a:lstStyle/>
          <a:p>
            <a:pPr algn="r">
              <a:defRPr sz="900" b="0">
                <a:solidFill>
                  <a:srgbClr val="8FA6A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FA6A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940084399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1197</Words>
  <Application>Microsoft Office PowerPoint</Application>
  <DocSecurity>0</DocSecurity>
  <PresentationFormat>Widescreen</PresentationFormat>
  <Paragraphs>252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Aptos</vt:lpstr>
      <vt:lpstr>Calibri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Teofilo Santiago IV</cp:lastModifiedBy>
  <cp:revision>4</cp:revision>
  <dcterms:created xsi:type="dcterms:W3CDTF">2026-06-01T07:47:16Z</dcterms:created>
  <dcterms:modified xsi:type="dcterms:W3CDTF">2026-06-11T01:30:55Z</dcterms:modified>
</cp:coreProperties>
</file>