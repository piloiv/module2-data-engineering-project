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4455" autoAdjust="0"/>
  </p:normalViewPr>
  <p:slideViewPr>
    <p:cSldViewPr snapToGrid="0">
      <p:cViewPr varScale="1">
        <p:scale>
          <a:sx n="79" d="100"/>
          <a:sy n="79" d="100"/>
        </p:scale>
        <p:origin x="171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This project is not just a data pipeline. It is a management review of Olist's early growth pattern. The key framing is that Olist enables sellers across marketplace channels, so the transaction data should be interpreted as evidence of seller success and platform health. Define Product GMV up front as product sales only, excluding freight, and remind the audience that it is not confirmed Olist revenue.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Business case: The problem is not simply whether orders grew. The management question is why monthly Product GMV appears to plateau through much of 2018 and which levers can restart growth. Product GMV means item price only. GTV would add freight. Explain the revenue chain: if sellers sell more, use more services, fulfill better, and stay active, Olist has more opportunities to earn commissions, service fees, logistics revenue, software revenue, and financial-services revenue.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Business model: Olist should not be described as an Amazon-style consumer marketplace. It acts more like a commerce enablement platform for merchants. Sellers need access, tools, logistics, finance, and operating support. Marketplace channels bring buyer demand. End buyers create orders, reviews, and delivery signals, but the main business lever is seller success.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Pipeline: This slide shows how the raw Olist CSV files become reliable business information. The flow is raw data to DuckDB, then dbt models and marts, then quality checks, then dashboard and orchestration. The point for executives is repeatability and trust: the same process can be refreshed and checked again, rather than being a one-time spreadsheet exercise.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Warehouse model: There are two fact tables. </a:t>
            </a:r>
            <a:r>
              <a:rPr dirty="0" err="1"/>
              <a:t>fact_sales</a:t>
            </a:r>
            <a:r>
              <a:rPr dirty="0"/>
              <a:t> is the main item-level transaction fact, with one row per product item sold. </a:t>
            </a:r>
            <a:r>
              <a:rPr dirty="0" err="1"/>
              <a:t>fact_order_payment</a:t>
            </a:r>
            <a:r>
              <a:rPr dirty="0"/>
              <a:t> is an order-level payment fact, with one row per order payment total. Keeping them separate prevents double-counting payment value when an order contains multiple items. The </a:t>
            </a:r>
            <a:r>
              <a:rPr dirty="0" err="1"/>
              <a:t>dbt</a:t>
            </a:r>
            <a:r>
              <a:rPr dirty="0"/>
              <a:t> layer then builds six marts: one executive overview, one monthly trend mart, and four decision marts for seller health, seller concentration, category opportunity, and regional fulfillment. Define the terms clearly: Product GMV is item price only, GTV is item price plus freight, and payment value is separate.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Growth readout: Annual Year 2 volume is much higher than Year 1, but the monthly pattern is the issue management needs to understand. Through much of 2018, GMV sits around a plateau band rather than continuing the earlier acceleration. September 2018 is excluded from trend interpretation because the dataset has only one order in that month.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Seller health: This is where the data becomes actionable. Sellers are grouped into action segments: protect the high-value sellers, grow healthy sellers with more potential, fix sellers with poor experience signals, and activate sellers who appear underdeveloped or one-off. The message is that growth requires account management, not just more dashboard reporting.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Concentration risk: A small number of sellers generate a large share of GMV. This creates opportunity because account teams can focus on the sellers that matter most, but it also creates dependency risk. The recommendation is to retain key sellers while building the healthy mid-tail so Olist is less reliant on a small seller group.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Category opportunity: Categories show where seller enablement can have the biggest commercial impact. Large categories already have proven buyer demand, so Olist can help sellers improve assortment depth, stock readiness, fulfillment monitoring, and review follow-up. The point is to use category data to guide seller support priorities.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Fulfillment friction: Delivery performance is not just an operations metric. For sellers, slow delivery can create poor reviews, weaker repeat demand, and churn risk. The action is to identify weak corridors or states and improve carrier paths, seller location mix, and delivery estimates before pushing more demand into those regions.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Operating model: The dashboard should become a recurring seller review system. Growth trends show where performance is slowing. Seller health creates account actions. Category views guide assortment and support. Fulfillment views identify logistics issues. This turns the warehouse into a management rhythm, not just a technical deliverable.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Roadmap: Product GMV means product sales value only, based on item price. GTV means gross transaction value, which in this project means item price plus freight. Payment value is kept separate at order level because orders can contain multiple items. CAC means seller acquisition cost: how much it costs Olist to onboard a seller. LTV means seller lifetime value: the expected value Olist earns from a seller over the relationship. These economics are not in the public dataset, so they are future internal-data additions.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End by tying the story together. The project provides three things: a business case for reigniting growth, a dashboard that points to seller and operational levers, and a traceable data build that shows how the numbers were created. The 3,095 sellers metric is the visible merchant base. The 38 + 15 checks metric means 38 saved dbt build outcomes (12 model builds and 26 dbt tests) plus 15 SQL quality checks. The 13 growth levers are: 1) protect high-Product GMV sellers; 2) grow healthy mid-tail sellers; 3) fix experience-risk sellers; 4) activate one-month or underdeveloped sellers; 5) reduce concentration dependency by expanding the healthy mid-tail; 6) prioritize proven-demand categories; 7) deepen assortment in large categories; 8) improve stock readiness; 9) monitor category fulfillment risk; 10) follow up reviews in priority categories; 11) fix weak carrier corridors; 12) improve seller location mix or regional coverage; and 13) improve estimated delivery-date accuracy. The recommended plan is to focus on seller productivity, seller retention, category expansion, and fulfillment reliability.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662B9-D455-4E58-852F-A425F2872FFC}"/>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E69A885B-3AF0-4DE6-BBF9-CC78F653351E}"/>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0F0B3E5B-7648-43A4-B1DD-DE0E50E6F7C4}"/>
              </a:ext>
            </a:extLst>
          </p:cNvPr>
          <p:cNvSpPr>
            <a:spLocks noGrp="1"/>
          </p:cNvSpPr>
          <p:nvPr>
            <p:ph type="dt" idx="10"/>
          </p:nvPr>
        </p:nvSpPr>
        <p:spPr/>
        <p:txBody>
          <a:bodyPr/>
          <a:lstStyle/>
          <a:p>
            <a:fld id="{5BCAD085-E8A6-8845-BD4E-CB4CCA059FC4}" type="datetimeFigureOut">
              <a:t>6/13/2026</a:t>
            </a:fld>
            <a:endParaRPr/>
          </a:p>
        </p:txBody>
      </p:sp>
      <p:sp>
        <p:nvSpPr>
          <p:cNvPr id="5" name="Footer Placeholder 4">
            <a:extLst>
              <a:ext uri="{FF2B5EF4-FFF2-40B4-BE49-F238E27FC236}">
                <a16:creationId xmlns:a16="http://schemas.microsoft.com/office/drawing/2014/main" id="{03D4E614-EEC0-4935-A58B-EF9E0D76FE4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E53BEBD5-3EF7-4D13-A05F-5FC8B15A78ED}"/>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9EEDF-0120-45C8-91AE-464D7FA1C68E}"/>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7CCEAEC-7EC4-4BFF-8C75-B5D5C32E7BAD}"/>
              </a:ext>
            </a:extLst>
          </p:cNvPr>
          <p:cNvSpPr>
            <a:spLocks noGrp="1"/>
          </p:cNvSpPr>
          <p:nvPr>
            <p:ph idx="1"/>
          </p:nvPr>
        </p:nvSpPr>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A6FFBEDA-5BE3-4893-9F3C-D0206298D386}"/>
              </a:ext>
            </a:extLst>
          </p:cNvPr>
          <p:cNvSpPr>
            <a:spLocks noGrp="1"/>
          </p:cNvSpPr>
          <p:nvPr>
            <p:ph type="dt" idx="10"/>
          </p:nvPr>
        </p:nvSpPr>
        <p:spPr/>
        <p:txBody>
          <a:bodyPr/>
          <a:lstStyle/>
          <a:p>
            <a:fld id="{5BCAD085-E8A6-8845-BD4E-CB4CCA059FC4}" type="datetimeFigureOut">
              <a:t>6/13/2026</a:t>
            </a:fld>
            <a:endParaRPr/>
          </a:p>
        </p:txBody>
      </p:sp>
      <p:sp>
        <p:nvSpPr>
          <p:cNvPr id="5" name="Footer Placeholder 4">
            <a:extLst>
              <a:ext uri="{FF2B5EF4-FFF2-40B4-BE49-F238E27FC236}">
                <a16:creationId xmlns:a16="http://schemas.microsoft.com/office/drawing/2014/main" id="{7299CFA1-E31F-406D-AC7C-D07B2B4DB8EB}"/>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F8B7D044-CDD9-4CFE-B4DF-7A80EAA99A8C}"/>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3654D-ABD7-492A-A308-9820FEC8CE47}"/>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EFFE4B54-4BF8-4C3E-AF70-A381743946C4}"/>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a:buNone/>
            </a:pPr>
            <a:r>
              <a:t>Click to edit Master text styles</a:t>
            </a:r>
          </a:p>
        </p:txBody>
      </p:sp>
      <p:sp>
        <p:nvSpPr>
          <p:cNvPr id="4" name="Date Placeholder 3">
            <a:extLst>
              <a:ext uri="{FF2B5EF4-FFF2-40B4-BE49-F238E27FC236}">
                <a16:creationId xmlns:a16="http://schemas.microsoft.com/office/drawing/2014/main" id="{493ACD22-1857-44AF-8D6C-CD6DF15B1788}"/>
              </a:ext>
            </a:extLst>
          </p:cNvPr>
          <p:cNvSpPr>
            <a:spLocks noGrp="1"/>
          </p:cNvSpPr>
          <p:nvPr>
            <p:ph type="dt" idx="10"/>
          </p:nvPr>
        </p:nvSpPr>
        <p:spPr/>
        <p:txBody>
          <a:bodyPr/>
          <a:lstStyle/>
          <a:p>
            <a:fld id="{5BCAD085-E8A6-8845-BD4E-CB4CCA059FC4}" type="datetimeFigureOut">
              <a:t>6/13/2026</a:t>
            </a:fld>
            <a:endParaRPr/>
          </a:p>
        </p:txBody>
      </p:sp>
      <p:sp>
        <p:nvSpPr>
          <p:cNvPr id="5" name="Footer Placeholder 4">
            <a:extLst>
              <a:ext uri="{FF2B5EF4-FFF2-40B4-BE49-F238E27FC236}">
                <a16:creationId xmlns:a16="http://schemas.microsoft.com/office/drawing/2014/main" id="{8F2B2152-F390-4F6D-8D2A-BF26B592FBF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06CB9F98-C9C2-4521-B31C-BCD0117CDDDA}"/>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76CF5-66F9-46B3-8085-0D4D61EB86B0}"/>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9F38F008-E76F-464F-9C26-E53677BE7D0A}"/>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Content Placeholder 3">
            <a:extLst>
              <a:ext uri="{FF2B5EF4-FFF2-40B4-BE49-F238E27FC236}">
                <a16:creationId xmlns:a16="http://schemas.microsoft.com/office/drawing/2014/main" id="{C33FDF38-BC03-40A0-920D-9E09A3E60D56}"/>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5" name="Date Placeholder 4">
            <a:extLst>
              <a:ext uri="{FF2B5EF4-FFF2-40B4-BE49-F238E27FC236}">
                <a16:creationId xmlns:a16="http://schemas.microsoft.com/office/drawing/2014/main" id="{2E8E429F-9723-4F2A-BA59-20D8D79C0670}"/>
              </a:ext>
            </a:extLst>
          </p:cNvPr>
          <p:cNvSpPr>
            <a:spLocks noGrp="1"/>
          </p:cNvSpPr>
          <p:nvPr>
            <p:ph type="dt" idx="10"/>
          </p:nvPr>
        </p:nvSpPr>
        <p:spPr/>
        <p:txBody>
          <a:bodyPr/>
          <a:lstStyle/>
          <a:p>
            <a:fld id="{5BCAD085-E8A6-8845-BD4E-CB4CCA059FC4}" type="datetimeFigureOut">
              <a:t>6/13/2026</a:t>
            </a:fld>
            <a:endParaRPr/>
          </a:p>
        </p:txBody>
      </p:sp>
      <p:sp>
        <p:nvSpPr>
          <p:cNvPr id="6" name="Footer Placeholder 5">
            <a:extLst>
              <a:ext uri="{FF2B5EF4-FFF2-40B4-BE49-F238E27FC236}">
                <a16:creationId xmlns:a16="http://schemas.microsoft.com/office/drawing/2014/main" id="{5A50B442-5776-4011-A115-7489C1444FB2}"/>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E2F2D30C-957D-4920-A56A-D6C5031DE153}"/>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BCCDF-2E92-4A97-B893-775261437BA6}"/>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1BFB43E7-791D-4DB2-A3A2-FC4994784E41}"/>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 Master text styles</a:t>
            </a:r>
          </a:p>
        </p:txBody>
      </p:sp>
      <p:sp>
        <p:nvSpPr>
          <p:cNvPr id="4" name="Content Placeholder 3">
            <a:extLst>
              <a:ext uri="{FF2B5EF4-FFF2-40B4-BE49-F238E27FC236}">
                <a16:creationId xmlns:a16="http://schemas.microsoft.com/office/drawing/2014/main" id="{97EE47D9-15FE-4BDD-9C4B-C95E93BD9EF3}"/>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5" name="Text Placeholder 4">
            <a:extLst>
              <a:ext uri="{FF2B5EF4-FFF2-40B4-BE49-F238E27FC236}">
                <a16:creationId xmlns:a16="http://schemas.microsoft.com/office/drawing/2014/main" id="{D3B19433-C964-4B2A-9962-55C8D929FAAA}"/>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 Master text styles</a:t>
            </a:r>
          </a:p>
        </p:txBody>
      </p:sp>
      <p:sp>
        <p:nvSpPr>
          <p:cNvPr id="6" name="Content Placeholder 5">
            <a:extLst>
              <a:ext uri="{FF2B5EF4-FFF2-40B4-BE49-F238E27FC236}">
                <a16:creationId xmlns:a16="http://schemas.microsoft.com/office/drawing/2014/main" id="{C6455F59-D455-4F76-B2B5-3F7F6F9CC45F}"/>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7" name="Date Placeholder 6">
            <a:extLst>
              <a:ext uri="{FF2B5EF4-FFF2-40B4-BE49-F238E27FC236}">
                <a16:creationId xmlns:a16="http://schemas.microsoft.com/office/drawing/2014/main" id="{5D9F3A85-CAE8-483D-989C-1C6C7066C067}"/>
              </a:ext>
            </a:extLst>
          </p:cNvPr>
          <p:cNvSpPr>
            <a:spLocks noGrp="1"/>
          </p:cNvSpPr>
          <p:nvPr>
            <p:ph type="dt" idx="10"/>
          </p:nvPr>
        </p:nvSpPr>
        <p:spPr/>
        <p:txBody>
          <a:bodyPr/>
          <a:lstStyle/>
          <a:p>
            <a:fld id="{5BCAD085-E8A6-8845-BD4E-CB4CCA059FC4}" type="datetimeFigureOut">
              <a:t>6/13/2026</a:t>
            </a:fld>
            <a:endParaRPr/>
          </a:p>
        </p:txBody>
      </p:sp>
      <p:sp>
        <p:nvSpPr>
          <p:cNvPr id="8" name="Footer Placeholder 7">
            <a:extLst>
              <a:ext uri="{FF2B5EF4-FFF2-40B4-BE49-F238E27FC236}">
                <a16:creationId xmlns:a16="http://schemas.microsoft.com/office/drawing/2014/main" id="{A95C4263-6259-4244-9A82-3E87A362CB26}"/>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A97A7151-0B47-4BD0-AFA5-28EDFF16C8D7}"/>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78362-F994-4ACF-BF6E-0BF5060974C3}"/>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57E22437-CE02-469D-B1C1-357DFD65F293}"/>
              </a:ext>
            </a:extLst>
          </p:cNvPr>
          <p:cNvSpPr>
            <a:spLocks noGrp="1"/>
          </p:cNvSpPr>
          <p:nvPr>
            <p:ph type="dt" idx="10"/>
          </p:nvPr>
        </p:nvSpPr>
        <p:spPr/>
        <p:txBody>
          <a:bodyPr/>
          <a:lstStyle/>
          <a:p>
            <a:fld id="{5BCAD085-E8A6-8845-BD4E-CB4CCA059FC4}" type="datetimeFigureOut">
              <a:t>6/13/2026</a:t>
            </a:fld>
            <a:endParaRPr/>
          </a:p>
        </p:txBody>
      </p:sp>
      <p:sp>
        <p:nvSpPr>
          <p:cNvPr id="4" name="Footer Placeholder 3">
            <a:extLst>
              <a:ext uri="{FF2B5EF4-FFF2-40B4-BE49-F238E27FC236}">
                <a16:creationId xmlns:a16="http://schemas.microsoft.com/office/drawing/2014/main" id="{9D1E4A37-9D96-4017-B95D-7489258307B3}"/>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FDE8DEAD-9E9F-47FC-A174-679EA2045C2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08D5EF-3753-4FDA-9C0C-A2C87E006E07}"/>
              </a:ext>
            </a:extLst>
          </p:cNvPr>
          <p:cNvSpPr>
            <a:spLocks noGrp="1"/>
          </p:cNvSpPr>
          <p:nvPr>
            <p:ph type="dt" idx="10"/>
          </p:nvPr>
        </p:nvSpPr>
        <p:spPr/>
        <p:txBody>
          <a:bodyPr/>
          <a:lstStyle/>
          <a:p>
            <a:fld id="{5BCAD085-E8A6-8845-BD4E-CB4CCA059FC4}" type="datetimeFigureOut">
              <a:t>6/13/2026</a:t>
            </a:fld>
            <a:endParaRPr/>
          </a:p>
        </p:txBody>
      </p:sp>
      <p:sp>
        <p:nvSpPr>
          <p:cNvPr id="3" name="Footer Placeholder 2">
            <a:extLst>
              <a:ext uri="{FF2B5EF4-FFF2-40B4-BE49-F238E27FC236}">
                <a16:creationId xmlns:a16="http://schemas.microsoft.com/office/drawing/2014/main" id="{6A4A1E22-A601-4E6B-A733-405ABBEA6796}"/>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25A7241D-68BF-4C32-8C0C-DD11879C5F17}"/>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FDE40-1599-4F44-92BD-9A38EA38E064}"/>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E6820070-66C7-4820-9B9B-FCF4491C0A24}"/>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Text Placeholder 3">
            <a:extLst>
              <a:ext uri="{FF2B5EF4-FFF2-40B4-BE49-F238E27FC236}">
                <a16:creationId xmlns:a16="http://schemas.microsoft.com/office/drawing/2014/main" id="{D6260A44-7727-491D-B911-0EA0CFEBCF87}"/>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buNone/>
            </a:pPr>
            <a:r>
              <a:t>Click to edit Master text styles</a:t>
            </a:r>
          </a:p>
        </p:txBody>
      </p:sp>
      <p:sp>
        <p:nvSpPr>
          <p:cNvPr id="5" name="Date Placeholder 4">
            <a:extLst>
              <a:ext uri="{FF2B5EF4-FFF2-40B4-BE49-F238E27FC236}">
                <a16:creationId xmlns:a16="http://schemas.microsoft.com/office/drawing/2014/main" id="{1EDCE128-99F6-4051-B087-564AE380A384}"/>
              </a:ext>
            </a:extLst>
          </p:cNvPr>
          <p:cNvSpPr>
            <a:spLocks noGrp="1"/>
          </p:cNvSpPr>
          <p:nvPr>
            <p:ph type="dt" idx="10"/>
          </p:nvPr>
        </p:nvSpPr>
        <p:spPr/>
        <p:txBody>
          <a:bodyPr/>
          <a:lstStyle/>
          <a:p>
            <a:fld id="{5BCAD085-E8A6-8845-BD4E-CB4CCA059FC4}" type="datetimeFigureOut">
              <a:t>6/13/2026</a:t>
            </a:fld>
            <a:endParaRPr/>
          </a:p>
        </p:txBody>
      </p:sp>
      <p:sp>
        <p:nvSpPr>
          <p:cNvPr id="6" name="Footer Placeholder 5">
            <a:extLst>
              <a:ext uri="{FF2B5EF4-FFF2-40B4-BE49-F238E27FC236}">
                <a16:creationId xmlns:a16="http://schemas.microsoft.com/office/drawing/2014/main" id="{AA4A95BE-6D0F-44C4-ABF9-B8A615EE1F37}"/>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F5DD0669-269A-4926-9494-34525AAE2E42}"/>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E27AA-C8B1-4455-9442-ECFE12F9EA72}"/>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2526AF4A-1392-4E8D-8D84-839B9A2BD7CF}"/>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12123E67-EA7E-4AE9-B138-52ED653C7622}"/>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buNone/>
            </a:pPr>
            <a:r>
              <a:t>Click to edit Master text styles</a:t>
            </a:r>
          </a:p>
        </p:txBody>
      </p:sp>
      <p:sp>
        <p:nvSpPr>
          <p:cNvPr id="5" name="Date Placeholder 4">
            <a:extLst>
              <a:ext uri="{FF2B5EF4-FFF2-40B4-BE49-F238E27FC236}">
                <a16:creationId xmlns:a16="http://schemas.microsoft.com/office/drawing/2014/main" id="{6FF397D8-9019-468F-9CC0-625328B088CA}"/>
              </a:ext>
            </a:extLst>
          </p:cNvPr>
          <p:cNvSpPr>
            <a:spLocks noGrp="1"/>
          </p:cNvSpPr>
          <p:nvPr>
            <p:ph type="dt" idx="10"/>
          </p:nvPr>
        </p:nvSpPr>
        <p:spPr/>
        <p:txBody>
          <a:bodyPr/>
          <a:lstStyle/>
          <a:p>
            <a:fld id="{5BCAD085-E8A6-8845-BD4E-CB4CCA059FC4}" type="datetimeFigureOut">
              <a:t>6/13/2026</a:t>
            </a:fld>
            <a:endParaRPr/>
          </a:p>
        </p:txBody>
      </p:sp>
      <p:sp>
        <p:nvSpPr>
          <p:cNvPr id="6" name="Footer Placeholder 5">
            <a:extLst>
              <a:ext uri="{FF2B5EF4-FFF2-40B4-BE49-F238E27FC236}">
                <a16:creationId xmlns:a16="http://schemas.microsoft.com/office/drawing/2014/main" id="{F8CDBED9-5364-4730-BF24-2AB099C67E07}"/>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4321AC3-2FF8-493E-901A-9D29BF05ED2E}"/>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B07EC-67D2-499C-9F65-B4111CCC73D0}"/>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BF8F645C-5DF4-4070-BABA-C90D6A31E55A}"/>
              </a:ext>
            </a:extLst>
          </p:cNvPr>
          <p:cNvSpPr>
            <a:spLocks noGrp="1"/>
          </p:cNvSpPr>
          <p:nvPr>
            <p:ph type="body" idx="1"/>
          </p:nvPr>
        </p:nvSpPr>
        <p:spPr/>
        <p:txBody>
          <a:bodyPr vert="eaVert"/>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0E75249F-6798-4FC3-8C40-AF3931275E29}"/>
              </a:ext>
            </a:extLst>
          </p:cNvPr>
          <p:cNvSpPr>
            <a:spLocks noGrp="1"/>
          </p:cNvSpPr>
          <p:nvPr>
            <p:ph type="dt" idx="10"/>
          </p:nvPr>
        </p:nvSpPr>
        <p:spPr/>
        <p:txBody>
          <a:bodyPr/>
          <a:lstStyle/>
          <a:p>
            <a:fld id="{5BCAD085-E8A6-8845-BD4E-CB4CCA059FC4}" type="datetimeFigureOut">
              <a:t>6/13/2026</a:t>
            </a:fld>
            <a:endParaRPr/>
          </a:p>
        </p:txBody>
      </p:sp>
      <p:sp>
        <p:nvSpPr>
          <p:cNvPr id="5" name="Footer Placeholder 4">
            <a:extLst>
              <a:ext uri="{FF2B5EF4-FFF2-40B4-BE49-F238E27FC236}">
                <a16:creationId xmlns:a16="http://schemas.microsoft.com/office/drawing/2014/main" id="{4C98B4B0-295D-4F20-8AAE-3400B717150B}"/>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BD163B1-DD5C-440F-B193-D380C61A8AB6}"/>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8557C32-88EB-4404-A213-D3AF8BD5D5B5}"/>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746C18D2-C92A-45F8-9355-0A548CC6CFE1}"/>
              </a:ext>
            </a:extLst>
          </p:cNvPr>
          <p:cNvSpPr>
            <a:spLocks noGrp="1"/>
          </p:cNvSpPr>
          <p:nvPr>
            <p:ph type="body" idx="1"/>
          </p:nvPr>
        </p:nvSpPr>
        <p:spPr>
          <a:xfrm>
            <a:off x="457200" y="274638"/>
            <a:ext cx="6019800" cy="5851525"/>
          </a:xfrm>
        </p:spPr>
        <p:txBody>
          <a:bodyPr vert="eaVert"/>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F049A015-209E-49B3-87ED-7E5070E34382}"/>
              </a:ext>
            </a:extLst>
          </p:cNvPr>
          <p:cNvSpPr>
            <a:spLocks noGrp="1"/>
          </p:cNvSpPr>
          <p:nvPr>
            <p:ph type="dt" idx="10"/>
          </p:nvPr>
        </p:nvSpPr>
        <p:spPr/>
        <p:txBody>
          <a:bodyPr/>
          <a:lstStyle/>
          <a:p>
            <a:fld id="{5BCAD085-E8A6-8845-BD4E-CB4CCA059FC4}" type="datetimeFigureOut">
              <a:t>6/13/2026</a:t>
            </a:fld>
            <a:endParaRPr/>
          </a:p>
        </p:txBody>
      </p:sp>
      <p:sp>
        <p:nvSpPr>
          <p:cNvPr id="5" name="Footer Placeholder 4">
            <a:extLst>
              <a:ext uri="{FF2B5EF4-FFF2-40B4-BE49-F238E27FC236}">
                <a16:creationId xmlns:a16="http://schemas.microsoft.com/office/drawing/2014/main" id="{4C0B4D16-1604-41AA-B183-C78FD11ACF52}"/>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05C3AA3-D05C-471F-86EA-88E6DD7B8E1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4D4A6F-79E2-4910-8ACD-2378FB776620}"/>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767E08DD-D69E-4FD6-A295-25F57D73A85E}"/>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2DDC2B43-4D9C-49B2-88C5-C0CF27117A11}"/>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6/13/2026</a:t>
            </a:fld>
            <a:endParaRPr/>
          </a:p>
        </p:txBody>
      </p:sp>
      <p:sp>
        <p:nvSpPr>
          <p:cNvPr id="5" name="Footer Placeholder 4">
            <a:extLst>
              <a:ext uri="{FF2B5EF4-FFF2-40B4-BE49-F238E27FC236}">
                <a16:creationId xmlns:a16="http://schemas.microsoft.com/office/drawing/2014/main" id="{8ABD4F7B-8730-481F-AEBD-6F3105E7EE94}"/>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D03FDE8B-63DD-4A31-AD07-86BF3D4CA172}"/>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a:spcBef>
          <a:spcPts val="0"/>
        </a:spcBef>
        <a:buNone/>
        <a:defRPr sz="4400">
          <a:solidFill>
            <a:schemeClr val="tx1"/>
          </a:solidFill>
          <a:latin typeface="+mj-lt"/>
          <a:ea typeface="+mj-lt"/>
          <a:cs typeface="+mj-lt"/>
        </a:defRPr>
      </a:lvl1pPr>
    </p:titleStyle>
    <p:bodyStyle>
      <a:lvl1pPr marL="342900" indent="-342900" algn="l">
        <a:spcBef>
          <a:spcPts val="0"/>
        </a:spcBef>
        <a:buChar char="•"/>
        <a:defRPr sz="3200">
          <a:solidFill>
            <a:schemeClr val="tx1"/>
          </a:solidFill>
          <a:latin typeface="+mn-lt"/>
          <a:ea typeface="+mn-lt"/>
          <a:cs typeface="+mn-lt"/>
        </a:defRPr>
      </a:lvl1pPr>
      <a:lvl2pPr marL="742950" indent="-285750" algn="l">
        <a:spcBef>
          <a:spcPts val="0"/>
        </a:spcBef>
        <a:buChar char="–"/>
        <a:defRPr sz="2800">
          <a:solidFill>
            <a:schemeClr val="tx1"/>
          </a:solidFill>
          <a:latin typeface="+mn-lt"/>
          <a:ea typeface="+mn-lt"/>
          <a:cs typeface="+mn-lt"/>
        </a:defRPr>
      </a:lvl2pPr>
      <a:lvl3pPr marL="1143000" indent="-228600" algn="l">
        <a:spcBef>
          <a:spcPts val="0"/>
        </a:spcBef>
        <a:buChar char="•"/>
        <a:defRPr sz="2400">
          <a:solidFill>
            <a:schemeClr val="tx1"/>
          </a:solidFill>
          <a:latin typeface="+mn-lt"/>
          <a:ea typeface="+mn-lt"/>
          <a:cs typeface="+mn-lt"/>
        </a:defRPr>
      </a:lvl3pPr>
      <a:lvl4pPr marL="1600200" indent="-228600" algn="l">
        <a:spcBef>
          <a:spcPts val="0"/>
        </a:spcBef>
        <a:buChar char="–"/>
        <a:defRPr sz="2000">
          <a:solidFill>
            <a:schemeClr val="tx1"/>
          </a:solidFill>
          <a:latin typeface="+mn-lt"/>
          <a:ea typeface="+mn-lt"/>
          <a:cs typeface="+mn-lt"/>
        </a:defRPr>
      </a:lvl4pPr>
      <a:lvl5pPr marL="2057400" indent="-228600" algn="l">
        <a:spcBef>
          <a:spcPts val="0"/>
        </a:spcBef>
        <a:buChar char="»"/>
        <a:defRPr sz="2000">
          <a:solidFill>
            <a:schemeClr val="tx1"/>
          </a:solidFill>
          <a:latin typeface="+mn-lt"/>
          <a:ea typeface="+mn-lt"/>
          <a:cs typeface="+mn-lt"/>
        </a:defRPr>
      </a:lvl5pPr>
      <a:lvl6pPr marL="2514600" indent="-228600" algn="l">
        <a:spcBef>
          <a:spcPts val="0"/>
        </a:spcBef>
        <a:buChar char="•"/>
        <a:defRPr sz="2000">
          <a:solidFill>
            <a:schemeClr val="tx1"/>
          </a:solidFill>
          <a:latin typeface="+mn-lt"/>
          <a:ea typeface="+mn-lt"/>
          <a:cs typeface="+mn-lt"/>
        </a:defRPr>
      </a:lvl6pPr>
      <a:lvl7pPr marL="2971800" indent="-228600" algn="l">
        <a:spcBef>
          <a:spcPts val="0"/>
        </a:spcBef>
        <a:buChar char="•"/>
        <a:defRPr sz="2000">
          <a:solidFill>
            <a:schemeClr val="tx1"/>
          </a:solidFill>
          <a:latin typeface="+mn-lt"/>
          <a:ea typeface="+mn-lt"/>
          <a:cs typeface="+mn-lt"/>
        </a:defRPr>
      </a:lvl7pPr>
      <a:lvl8pPr marL="3429000" indent="-228600" algn="l">
        <a:spcBef>
          <a:spcPts val="0"/>
        </a:spcBef>
        <a:buChar char="•"/>
        <a:defRPr sz="2000">
          <a:solidFill>
            <a:schemeClr val="tx1"/>
          </a:solidFill>
          <a:latin typeface="+mn-lt"/>
          <a:ea typeface="+mn-lt"/>
          <a:cs typeface="+mn-lt"/>
        </a:defRPr>
      </a:lvl8pPr>
      <a:lvl9pPr marL="3886200" indent="-228600" algn="l">
        <a:spcBef>
          <a:spcPts val="0"/>
        </a:spcBef>
        <a:buChar char="•"/>
        <a:defRPr sz="20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B2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56DE95B-FD54-439E-99F7-53D84FDB192E}"/>
              </a:ext>
            </a:extLst>
          </p:cNvPr>
          <p:cNvSpPr>
            <a:spLocks noGrp="1"/>
          </p:cNvSpPr>
          <p:nvPr/>
        </p:nvSpPr>
        <p:spPr>
          <a:xfrm>
            <a:off x="594360" y="411480"/>
            <a:ext cx="3657600" cy="228600"/>
          </a:xfrm>
          <a:prstGeom prst="rect">
            <a:avLst/>
          </a:prstGeom>
          <a:noFill/>
        </p:spPr>
        <p:txBody>
          <a:bodyPr wrap="square">
            <a:normAutofit/>
          </a:bodyPr>
          <a:lstStyle/>
          <a:p>
            <a:pPr algn="l">
              <a:buNone/>
            </a:pPr>
            <a:r>
              <a:rPr sz="800" b="1">
                <a:solidFill>
                  <a:srgbClr val="CE8227"/>
                </a:solidFill>
                <a:latin typeface="Aptos"/>
                <a:ea typeface="Aptos"/>
                <a:cs typeface="Aptos"/>
              </a:rPr>
              <a:t>OLIST SELLER ENABLEMENT</a:t>
            </a:r>
          </a:p>
        </p:txBody>
      </p:sp>
      <p:sp>
        <p:nvSpPr>
          <p:cNvPr id="3" name="TextBox 2">
            <a:extLst>
              <a:ext uri="{FF2B5EF4-FFF2-40B4-BE49-F238E27FC236}">
                <a16:creationId xmlns:a16="http://schemas.microsoft.com/office/drawing/2014/main" id="{81783983-748B-43BE-B147-EC00FFB5F485}"/>
              </a:ext>
            </a:extLst>
          </p:cNvPr>
          <p:cNvSpPr>
            <a:spLocks noGrp="1"/>
          </p:cNvSpPr>
          <p:nvPr/>
        </p:nvSpPr>
        <p:spPr>
          <a:xfrm>
            <a:off x="594360" y="960120"/>
            <a:ext cx="6400800" cy="1234440"/>
          </a:xfrm>
          <a:prstGeom prst="rect">
            <a:avLst/>
          </a:prstGeom>
          <a:noFill/>
        </p:spPr>
        <p:txBody>
          <a:bodyPr wrap="square">
            <a:normAutofit fontScale="90000"/>
          </a:bodyPr>
          <a:lstStyle/>
          <a:p>
            <a:pPr algn="l">
              <a:buNone/>
            </a:pPr>
            <a:r>
              <a:rPr sz="3000" b="1">
                <a:solidFill>
                  <a:srgbClr val="FFFFFF"/>
                </a:solidFill>
                <a:latin typeface="Aptos"/>
                <a:ea typeface="Aptos"/>
                <a:cs typeface="Aptos"/>
              </a:rPr>
              <a:t>A modern data stack turns marketplace-channel activity into seller-growth decisions.</a:t>
            </a:r>
          </a:p>
        </p:txBody>
      </p:sp>
      <p:sp>
        <p:nvSpPr>
          <p:cNvPr id="4" name="TextBox 3">
            <a:extLst>
              <a:ext uri="{FF2B5EF4-FFF2-40B4-BE49-F238E27FC236}">
                <a16:creationId xmlns:a16="http://schemas.microsoft.com/office/drawing/2014/main" id="{A2B5B362-933A-4148-B5CA-B788158830E5}"/>
              </a:ext>
            </a:extLst>
          </p:cNvPr>
          <p:cNvSpPr>
            <a:spLocks noGrp="1"/>
          </p:cNvSpPr>
          <p:nvPr/>
        </p:nvSpPr>
        <p:spPr>
          <a:xfrm>
            <a:off x="594360" y="2331720"/>
            <a:ext cx="5852160" cy="475488"/>
          </a:xfrm>
          <a:prstGeom prst="rect">
            <a:avLst/>
          </a:prstGeom>
          <a:noFill/>
        </p:spPr>
        <p:txBody>
          <a:bodyPr wrap="square">
            <a:normAutofit/>
          </a:bodyPr>
          <a:lstStyle/>
          <a:p>
            <a:pPr algn="l">
              <a:buNone/>
            </a:pPr>
            <a:r>
              <a:rPr sz="1200" b="0" dirty="0">
                <a:solidFill>
                  <a:srgbClr val="D2DADC"/>
                </a:solidFill>
                <a:latin typeface="Aptos"/>
                <a:ea typeface="Aptos"/>
                <a:cs typeface="Aptos"/>
              </a:rPr>
              <a:t>Management is reviewing </a:t>
            </a:r>
            <a:r>
              <a:rPr sz="1200" b="0" dirty="0" err="1">
                <a:solidFill>
                  <a:srgbClr val="D2DADC"/>
                </a:solidFill>
                <a:latin typeface="Aptos"/>
                <a:ea typeface="Aptos"/>
                <a:cs typeface="Aptos"/>
              </a:rPr>
              <a:t>Olist's</a:t>
            </a:r>
            <a:r>
              <a:rPr sz="1200" b="0" dirty="0">
                <a:solidFill>
                  <a:srgbClr val="D2DADC"/>
                </a:solidFill>
                <a:latin typeface="Aptos"/>
                <a:ea typeface="Aptos"/>
                <a:cs typeface="Aptos"/>
              </a:rPr>
              <a:t> first observed operating years: rapid early growth has leveled into a 2018 plateau, so the data model must show which levers can restart growth.</a:t>
            </a:r>
          </a:p>
        </p:txBody>
      </p:sp>
      <p:sp>
        <p:nvSpPr>
          <p:cNvPr id="5" name="TextBox 4">
            <a:extLst>
              <a:ext uri="{FF2B5EF4-FFF2-40B4-BE49-F238E27FC236}">
                <a16:creationId xmlns:a16="http://schemas.microsoft.com/office/drawing/2014/main" id="{606A8F95-3445-4710-9F65-B6F611757C82}"/>
              </a:ext>
            </a:extLst>
          </p:cNvPr>
          <p:cNvSpPr>
            <a:spLocks noGrp="1"/>
          </p:cNvSpPr>
          <p:nvPr/>
        </p:nvSpPr>
        <p:spPr>
          <a:xfrm>
            <a:off x="594360" y="4023360"/>
            <a:ext cx="1554480" cy="320040"/>
          </a:xfrm>
          <a:prstGeom prst="rect">
            <a:avLst/>
          </a:prstGeom>
          <a:noFill/>
        </p:spPr>
        <p:txBody>
          <a:bodyPr wrap="square">
            <a:normAutofit/>
          </a:bodyPr>
          <a:lstStyle/>
          <a:p>
            <a:pPr algn="l">
              <a:buNone/>
            </a:pPr>
            <a:r>
              <a:rPr sz="2200" b="1">
                <a:solidFill>
                  <a:srgbClr val="FFFFFF"/>
                </a:solidFill>
                <a:latin typeface="Aptos"/>
                <a:ea typeface="Aptos"/>
                <a:cs typeface="Aptos"/>
              </a:rPr>
              <a:t>98.7K</a:t>
            </a:r>
          </a:p>
        </p:txBody>
      </p:sp>
      <p:sp>
        <p:nvSpPr>
          <p:cNvPr id="6" name="TextBox 5">
            <a:extLst>
              <a:ext uri="{FF2B5EF4-FFF2-40B4-BE49-F238E27FC236}">
                <a16:creationId xmlns:a16="http://schemas.microsoft.com/office/drawing/2014/main" id="{8D57DED0-A59E-428D-BC2B-68A0ECEEED26}"/>
              </a:ext>
            </a:extLst>
          </p:cNvPr>
          <p:cNvSpPr>
            <a:spLocks noGrp="1"/>
          </p:cNvSpPr>
          <p:nvPr/>
        </p:nvSpPr>
        <p:spPr>
          <a:xfrm>
            <a:off x="594360" y="4370832"/>
            <a:ext cx="1645920" cy="228600"/>
          </a:xfrm>
          <a:prstGeom prst="rect">
            <a:avLst/>
          </a:prstGeom>
          <a:noFill/>
        </p:spPr>
        <p:txBody>
          <a:bodyPr wrap="square">
            <a:noAutofit/>
          </a:bodyPr>
          <a:lstStyle/>
          <a:p>
            <a:pPr algn="l">
              <a:buNone/>
            </a:pPr>
            <a:r>
              <a:rPr sz="1100" b="1" dirty="0">
                <a:solidFill>
                  <a:srgbClr val="E6AA50"/>
                </a:solidFill>
                <a:latin typeface="Aptos"/>
                <a:ea typeface="Aptos"/>
                <a:cs typeface="Aptos"/>
              </a:rPr>
              <a:t>orders</a:t>
            </a:r>
          </a:p>
        </p:txBody>
      </p:sp>
      <p:sp>
        <p:nvSpPr>
          <p:cNvPr id="7" name="TextBox 6">
            <a:extLst>
              <a:ext uri="{FF2B5EF4-FFF2-40B4-BE49-F238E27FC236}">
                <a16:creationId xmlns:a16="http://schemas.microsoft.com/office/drawing/2014/main" id="{64DD2612-3E27-4D6B-BF17-4951D8542BEE}"/>
              </a:ext>
            </a:extLst>
          </p:cNvPr>
          <p:cNvSpPr>
            <a:spLocks noGrp="1"/>
          </p:cNvSpPr>
          <p:nvPr/>
        </p:nvSpPr>
        <p:spPr>
          <a:xfrm>
            <a:off x="594360" y="4617720"/>
            <a:ext cx="1828800" cy="320040"/>
          </a:xfrm>
          <a:prstGeom prst="rect">
            <a:avLst/>
          </a:prstGeom>
          <a:noFill/>
        </p:spPr>
        <p:txBody>
          <a:bodyPr wrap="square">
            <a:normAutofit/>
          </a:bodyPr>
          <a:lstStyle/>
          <a:p>
            <a:pPr algn="l">
              <a:buNone/>
            </a:pPr>
            <a:r>
              <a:rPr sz="1000" b="0" dirty="0">
                <a:solidFill>
                  <a:srgbClr val="BEC6C8"/>
                </a:solidFill>
                <a:latin typeface="Aptos"/>
                <a:ea typeface="Aptos"/>
                <a:cs typeface="Aptos"/>
              </a:rPr>
              <a:t>order-item fact grain</a:t>
            </a:r>
          </a:p>
        </p:txBody>
      </p:sp>
      <p:sp>
        <p:nvSpPr>
          <p:cNvPr id="8" name="TextBox 7">
            <a:extLst>
              <a:ext uri="{FF2B5EF4-FFF2-40B4-BE49-F238E27FC236}">
                <a16:creationId xmlns:a16="http://schemas.microsoft.com/office/drawing/2014/main" id="{BAD8B750-77F9-40F3-8B3F-D9E170EAD0A4}"/>
              </a:ext>
            </a:extLst>
          </p:cNvPr>
          <p:cNvSpPr>
            <a:spLocks noGrp="1"/>
          </p:cNvSpPr>
          <p:nvPr/>
        </p:nvSpPr>
        <p:spPr>
          <a:xfrm>
            <a:off x="2331720" y="4023360"/>
            <a:ext cx="1554480" cy="320040"/>
          </a:xfrm>
          <a:prstGeom prst="rect">
            <a:avLst/>
          </a:prstGeom>
          <a:noFill/>
        </p:spPr>
        <p:txBody>
          <a:bodyPr wrap="square">
            <a:normAutofit/>
          </a:bodyPr>
          <a:lstStyle/>
          <a:p>
            <a:pPr algn="l">
              <a:buNone/>
            </a:pPr>
            <a:r>
              <a:rPr sz="2200" b="1">
                <a:solidFill>
                  <a:srgbClr val="FFFFFF"/>
                </a:solidFill>
                <a:latin typeface="Aptos"/>
                <a:ea typeface="Aptos"/>
                <a:cs typeface="Aptos"/>
              </a:rPr>
              <a:t>3,095</a:t>
            </a:r>
          </a:p>
        </p:txBody>
      </p:sp>
      <p:sp>
        <p:nvSpPr>
          <p:cNvPr id="9" name="TextBox 8">
            <a:extLst>
              <a:ext uri="{FF2B5EF4-FFF2-40B4-BE49-F238E27FC236}">
                <a16:creationId xmlns:a16="http://schemas.microsoft.com/office/drawing/2014/main" id="{FAB04774-4C36-41E0-A55A-C54C63E78084}"/>
              </a:ext>
            </a:extLst>
          </p:cNvPr>
          <p:cNvSpPr>
            <a:spLocks noGrp="1"/>
          </p:cNvSpPr>
          <p:nvPr/>
        </p:nvSpPr>
        <p:spPr>
          <a:xfrm>
            <a:off x="2331720" y="4370832"/>
            <a:ext cx="1645920" cy="228600"/>
          </a:xfrm>
          <a:prstGeom prst="rect">
            <a:avLst/>
          </a:prstGeom>
          <a:noFill/>
        </p:spPr>
        <p:txBody>
          <a:bodyPr wrap="square">
            <a:noAutofit/>
          </a:bodyPr>
          <a:lstStyle/>
          <a:p>
            <a:pPr algn="l">
              <a:buNone/>
            </a:pPr>
            <a:r>
              <a:rPr sz="1100" b="1">
                <a:solidFill>
                  <a:srgbClr val="E6AA50"/>
                </a:solidFill>
                <a:latin typeface="Aptos"/>
                <a:ea typeface="Aptos"/>
                <a:cs typeface="Aptos"/>
              </a:rPr>
              <a:t>sellers</a:t>
            </a:r>
          </a:p>
        </p:txBody>
      </p:sp>
      <p:sp>
        <p:nvSpPr>
          <p:cNvPr id="10" name="TextBox 9">
            <a:extLst>
              <a:ext uri="{FF2B5EF4-FFF2-40B4-BE49-F238E27FC236}">
                <a16:creationId xmlns:a16="http://schemas.microsoft.com/office/drawing/2014/main" id="{F4737137-DD61-43FF-A588-9AA3750EDB40}"/>
              </a:ext>
            </a:extLst>
          </p:cNvPr>
          <p:cNvSpPr>
            <a:spLocks noGrp="1"/>
          </p:cNvSpPr>
          <p:nvPr/>
        </p:nvSpPr>
        <p:spPr>
          <a:xfrm>
            <a:off x="2331720" y="4617720"/>
            <a:ext cx="1828800" cy="320040"/>
          </a:xfrm>
          <a:prstGeom prst="rect">
            <a:avLst/>
          </a:prstGeom>
          <a:noFill/>
        </p:spPr>
        <p:txBody>
          <a:bodyPr wrap="square">
            <a:normAutofit/>
          </a:bodyPr>
          <a:lstStyle/>
          <a:p>
            <a:pPr algn="l">
              <a:buNone/>
            </a:pPr>
            <a:r>
              <a:rPr sz="1000" b="0">
                <a:solidFill>
                  <a:srgbClr val="BEC6C8"/>
                </a:solidFill>
                <a:latin typeface="Aptos"/>
                <a:ea typeface="Aptos"/>
                <a:cs typeface="Aptos"/>
              </a:rPr>
              <a:t>merchant base visible</a:t>
            </a:r>
          </a:p>
        </p:txBody>
      </p:sp>
      <p:sp>
        <p:nvSpPr>
          <p:cNvPr id="11" name="TextBox 10">
            <a:extLst>
              <a:ext uri="{FF2B5EF4-FFF2-40B4-BE49-F238E27FC236}">
                <a16:creationId xmlns:a16="http://schemas.microsoft.com/office/drawing/2014/main" id="{B91A3AFF-164C-428B-8E73-CBEE17AFFC1B}"/>
              </a:ext>
            </a:extLst>
          </p:cNvPr>
          <p:cNvSpPr>
            <a:spLocks noGrp="1"/>
          </p:cNvSpPr>
          <p:nvPr/>
        </p:nvSpPr>
        <p:spPr>
          <a:xfrm>
            <a:off x="4069080" y="4023360"/>
            <a:ext cx="1554480" cy="320040"/>
          </a:xfrm>
          <a:prstGeom prst="rect">
            <a:avLst/>
          </a:prstGeom>
          <a:noFill/>
        </p:spPr>
        <p:txBody>
          <a:bodyPr wrap="square">
            <a:normAutofit/>
          </a:bodyPr>
          <a:lstStyle/>
          <a:p>
            <a:pPr algn="l">
              <a:buNone/>
            </a:pPr>
            <a:r>
              <a:rPr sz="2200" b="1">
                <a:solidFill>
                  <a:srgbClr val="FFFFFF"/>
                </a:solidFill>
                <a:latin typeface="Aptos"/>
                <a:ea typeface="Aptos"/>
                <a:cs typeface="Aptos"/>
              </a:rPr>
              <a:t>$13.59M</a:t>
            </a:r>
          </a:p>
        </p:txBody>
      </p:sp>
      <p:sp>
        <p:nvSpPr>
          <p:cNvPr id="12" name="TextBox 11">
            <a:extLst>
              <a:ext uri="{FF2B5EF4-FFF2-40B4-BE49-F238E27FC236}">
                <a16:creationId xmlns:a16="http://schemas.microsoft.com/office/drawing/2014/main" id="{F7DCC21F-0936-40B6-B09E-DDBCF4AF53A1}"/>
              </a:ext>
            </a:extLst>
          </p:cNvPr>
          <p:cNvSpPr>
            <a:spLocks noGrp="1"/>
          </p:cNvSpPr>
          <p:nvPr/>
        </p:nvSpPr>
        <p:spPr>
          <a:xfrm>
            <a:off x="4069080" y="4370832"/>
            <a:ext cx="1645920" cy="228600"/>
          </a:xfrm>
          <a:prstGeom prst="rect">
            <a:avLst/>
          </a:prstGeom>
          <a:noFill/>
        </p:spPr>
        <p:txBody>
          <a:bodyPr wrap="square">
            <a:noAutofit/>
          </a:bodyPr>
          <a:lstStyle/>
          <a:p>
            <a:pPr algn="l">
              <a:buNone/>
            </a:pPr>
            <a:r>
              <a:rPr sz="1100" b="1">
                <a:solidFill>
                  <a:srgbClr val="E6AA50"/>
                </a:solidFill>
                <a:latin typeface="Aptos"/>
                <a:ea typeface="Aptos"/>
                <a:cs typeface="Aptos"/>
              </a:rPr>
              <a:t>Product GMV</a:t>
            </a:r>
          </a:p>
        </p:txBody>
      </p:sp>
      <p:sp>
        <p:nvSpPr>
          <p:cNvPr id="13" name="TextBox 12">
            <a:extLst>
              <a:ext uri="{FF2B5EF4-FFF2-40B4-BE49-F238E27FC236}">
                <a16:creationId xmlns:a16="http://schemas.microsoft.com/office/drawing/2014/main" id="{1006F9D5-7593-4A3D-A3B1-631845F6A0CB}"/>
              </a:ext>
            </a:extLst>
          </p:cNvPr>
          <p:cNvSpPr>
            <a:spLocks noGrp="1"/>
          </p:cNvSpPr>
          <p:nvPr/>
        </p:nvSpPr>
        <p:spPr>
          <a:xfrm>
            <a:off x="4069080" y="4617720"/>
            <a:ext cx="1828800" cy="320040"/>
          </a:xfrm>
          <a:prstGeom prst="rect">
            <a:avLst/>
          </a:prstGeom>
          <a:noFill/>
        </p:spPr>
        <p:txBody>
          <a:bodyPr wrap="square">
            <a:noAutofit/>
          </a:bodyPr>
          <a:lstStyle/>
          <a:p>
            <a:pPr algn="l">
              <a:buNone/>
            </a:pPr>
            <a:r>
              <a:rPr sz="1000" b="0">
                <a:solidFill>
                  <a:srgbClr val="BEC6C8"/>
                </a:solidFill>
                <a:latin typeface="Aptos"/>
                <a:ea typeface="Aptos"/>
                <a:cs typeface="Aptos"/>
              </a:rPr>
              <a:t>product sales only; excludes freight and is not Olist revenue</a:t>
            </a:r>
          </a:p>
        </p:txBody>
      </p:sp>
      <p:sp>
        <p:nvSpPr>
          <p:cNvPr id="14" name="TextBox 13">
            <a:extLst>
              <a:ext uri="{FF2B5EF4-FFF2-40B4-BE49-F238E27FC236}">
                <a16:creationId xmlns:a16="http://schemas.microsoft.com/office/drawing/2014/main" id="{B5EB111E-E0C3-4D3D-B955-7E0A972BC017}"/>
              </a:ext>
            </a:extLst>
          </p:cNvPr>
          <p:cNvSpPr>
            <a:spLocks noGrp="1"/>
          </p:cNvSpPr>
          <p:nvPr/>
        </p:nvSpPr>
        <p:spPr>
          <a:xfrm>
            <a:off x="5989320" y="4023360"/>
            <a:ext cx="1554480" cy="320040"/>
          </a:xfrm>
          <a:prstGeom prst="rect">
            <a:avLst/>
          </a:prstGeom>
          <a:noFill/>
        </p:spPr>
        <p:txBody>
          <a:bodyPr wrap="square">
            <a:normAutofit/>
          </a:bodyPr>
          <a:lstStyle/>
          <a:p>
            <a:pPr algn="l">
              <a:buNone/>
            </a:pPr>
            <a:r>
              <a:rPr sz="2200" b="1">
                <a:solidFill>
                  <a:srgbClr val="FFFFFF"/>
                </a:solidFill>
                <a:latin typeface="Aptos"/>
                <a:ea typeface="Aptos"/>
                <a:cs typeface="Aptos"/>
              </a:rPr>
              <a:t>4.03</a:t>
            </a:r>
          </a:p>
        </p:txBody>
      </p:sp>
      <p:sp>
        <p:nvSpPr>
          <p:cNvPr id="15" name="TextBox 14">
            <a:extLst>
              <a:ext uri="{FF2B5EF4-FFF2-40B4-BE49-F238E27FC236}">
                <a16:creationId xmlns:a16="http://schemas.microsoft.com/office/drawing/2014/main" id="{811B83F7-9DE7-43D0-AA25-77B4E5A2F787}"/>
              </a:ext>
            </a:extLst>
          </p:cNvPr>
          <p:cNvSpPr>
            <a:spLocks noGrp="1"/>
          </p:cNvSpPr>
          <p:nvPr/>
        </p:nvSpPr>
        <p:spPr>
          <a:xfrm>
            <a:off x="5989320" y="4370832"/>
            <a:ext cx="1645920" cy="228600"/>
          </a:xfrm>
          <a:prstGeom prst="rect">
            <a:avLst/>
          </a:prstGeom>
          <a:noFill/>
        </p:spPr>
        <p:txBody>
          <a:bodyPr wrap="square">
            <a:noAutofit/>
          </a:bodyPr>
          <a:lstStyle/>
          <a:p>
            <a:pPr algn="l">
              <a:buNone/>
            </a:pPr>
            <a:r>
              <a:rPr sz="1100" b="1">
                <a:solidFill>
                  <a:srgbClr val="E6AA50"/>
                </a:solidFill>
                <a:latin typeface="Aptos"/>
                <a:ea typeface="Aptos"/>
                <a:cs typeface="Aptos"/>
              </a:rPr>
              <a:t>avg review</a:t>
            </a:r>
          </a:p>
        </p:txBody>
      </p:sp>
      <p:sp>
        <p:nvSpPr>
          <p:cNvPr id="16" name="TextBox 15">
            <a:extLst>
              <a:ext uri="{FF2B5EF4-FFF2-40B4-BE49-F238E27FC236}">
                <a16:creationId xmlns:a16="http://schemas.microsoft.com/office/drawing/2014/main" id="{DC26AC62-CE86-4732-904C-A917CEAD29C2}"/>
              </a:ext>
            </a:extLst>
          </p:cNvPr>
          <p:cNvSpPr>
            <a:spLocks noGrp="1"/>
          </p:cNvSpPr>
          <p:nvPr/>
        </p:nvSpPr>
        <p:spPr>
          <a:xfrm>
            <a:off x="5989320" y="4617720"/>
            <a:ext cx="1828800" cy="320040"/>
          </a:xfrm>
          <a:prstGeom prst="rect">
            <a:avLst/>
          </a:prstGeom>
          <a:noFill/>
        </p:spPr>
        <p:txBody>
          <a:bodyPr wrap="square">
            <a:normAutofit/>
          </a:bodyPr>
          <a:lstStyle/>
          <a:p>
            <a:pPr algn="l">
              <a:buNone/>
            </a:pPr>
            <a:r>
              <a:rPr sz="1000" b="0">
                <a:solidFill>
                  <a:srgbClr val="BEC6C8"/>
                </a:solidFill>
                <a:latin typeface="Aptos"/>
                <a:ea typeface="Aptos"/>
                <a:cs typeface="Aptos"/>
              </a:rPr>
              <a:t>experience signal</a:t>
            </a:r>
          </a:p>
        </p:txBody>
      </p:sp>
      <p:sp>
        <p:nvSpPr>
          <p:cNvPr id="17" name="Rectangle 16">
            <a:extLst>
              <a:ext uri="{FF2B5EF4-FFF2-40B4-BE49-F238E27FC236}">
                <a16:creationId xmlns:a16="http://schemas.microsoft.com/office/drawing/2014/main" id="{8B4116FA-ADF5-4E7A-A766-48E63634088C}"/>
              </a:ext>
            </a:extLst>
          </p:cNvPr>
          <p:cNvSpPr>
            <a:spLocks noGrp="1"/>
          </p:cNvSpPr>
          <p:nvPr/>
        </p:nvSpPr>
        <p:spPr>
          <a:xfrm>
            <a:off x="8458200" y="731520"/>
            <a:ext cx="2468880" cy="4480560"/>
          </a:xfrm>
          <a:prstGeom prst="rect">
            <a:avLst/>
          </a:prstGeom>
          <a:solidFill>
            <a:srgbClr val="163F4E"/>
          </a:solidFill>
          <a:ln w="8890">
            <a:solidFill>
              <a:srgbClr val="163F4E"/>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8E2F96C-C321-4C17-896F-D930B10B08FD}"/>
              </a:ext>
            </a:extLst>
          </p:cNvPr>
          <p:cNvSpPr>
            <a:spLocks noGrp="1"/>
          </p:cNvSpPr>
          <p:nvPr/>
        </p:nvSpPr>
        <p:spPr>
          <a:xfrm>
            <a:off x="8732520" y="1051560"/>
            <a:ext cx="1645920" cy="274320"/>
          </a:xfrm>
          <a:prstGeom prst="rect">
            <a:avLst/>
          </a:prstGeom>
          <a:noFill/>
        </p:spPr>
        <p:txBody>
          <a:bodyPr wrap="square">
            <a:normAutofit/>
          </a:bodyPr>
          <a:lstStyle/>
          <a:p>
            <a:pPr algn="l">
              <a:buNone/>
            </a:pPr>
            <a:r>
              <a:rPr sz="1000" b="1">
                <a:solidFill>
                  <a:srgbClr val="CE8227"/>
                </a:solidFill>
                <a:latin typeface="Aptos"/>
                <a:ea typeface="Aptos"/>
                <a:cs typeface="Aptos"/>
              </a:rPr>
              <a:t>Thesis</a:t>
            </a:r>
          </a:p>
        </p:txBody>
      </p:sp>
      <p:sp>
        <p:nvSpPr>
          <p:cNvPr id="19" name="TextBox 18">
            <a:extLst>
              <a:ext uri="{FF2B5EF4-FFF2-40B4-BE49-F238E27FC236}">
                <a16:creationId xmlns:a16="http://schemas.microsoft.com/office/drawing/2014/main" id="{F15B0D81-58E3-484F-A353-169B6A8EA1C3}"/>
              </a:ext>
            </a:extLst>
          </p:cNvPr>
          <p:cNvSpPr>
            <a:spLocks noGrp="1"/>
          </p:cNvSpPr>
          <p:nvPr/>
        </p:nvSpPr>
        <p:spPr>
          <a:xfrm>
            <a:off x="8732520" y="1508760"/>
            <a:ext cx="1783080" cy="1463040"/>
          </a:xfrm>
          <a:prstGeom prst="rect">
            <a:avLst/>
          </a:prstGeom>
          <a:noFill/>
        </p:spPr>
        <p:txBody>
          <a:bodyPr wrap="square">
            <a:normAutofit/>
          </a:bodyPr>
          <a:lstStyle/>
          <a:p>
            <a:pPr algn="l">
              <a:buNone/>
            </a:pPr>
            <a:r>
              <a:rPr sz="1800" b="1">
                <a:solidFill>
                  <a:srgbClr val="FFFFFF"/>
                </a:solidFill>
                <a:latin typeface="Aptos"/>
                <a:ea typeface="Aptos"/>
                <a:cs typeface="Aptos"/>
              </a:rPr>
              <a:t>Olist wins when sellers grow across channels, fulfill reliably, and keep selling.</a:t>
            </a:r>
          </a:p>
        </p:txBody>
      </p:sp>
      <p:sp>
        <p:nvSpPr>
          <p:cNvPr id="20" name="TextBox 19">
            <a:extLst>
              <a:ext uri="{FF2B5EF4-FFF2-40B4-BE49-F238E27FC236}">
                <a16:creationId xmlns:a16="http://schemas.microsoft.com/office/drawing/2014/main" id="{CDFE34CF-55AF-496A-873B-64F762DC2AFE}"/>
              </a:ext>
            </a:extLst>
          </p:cNvPr>
          <p:cNvSpPr>
            <a:spLocks noGrp="1"/>
          </p:cNvSpPr>
          <p:nvPr/>
        </p:nvSpPr>
        <p:spPr>
          <a:xfrm>
            <a:off x="8732520" y="3632835"/>
            <a:ext cx="1828800" cy="822960"/>
          </a:xfrm>
          <a:prstGeom prst="rect">
            <a:avLst/>
          </a:prstGeom>
          <a:noFill/>
        </p:spPr>
        <p:txBody>
          <a:bodyPr wrap="square">
            <a:noAutofit/>
          </a:bodyPr>
          <a:lstStyle/>
          <a:p>
            <a:pPr algn="l">
              <a:buNone/>
            </a:pPr>
            <a:r>
              <a:rPr sz="1200" b="0" dirty="0">
                <a:solidFill>
                  <a:srgbClr val="D2DADC"/>
                </a:solidFill>
                <a:latin typeface="Aptos"/>
                <a:ea typeface="Aptos"/>
                <a:cs typeface="Aptos"/>
              </a:rPr>
              <a:t>Public transactions are evidence of seller outcomes; internal take-rate, SaaS, logistics, and financial-service economics are the next layer.</a:t>
            </a:r>
          </a:p>
        </p:txBody>
      </p:sp>
      <p:sp>
        <p:nvSpPr>
          <p:cNvPr id="21" name="TextBox 20">
            <a:extLst>
              <a:ext uri="{FF2B5EF4-FFF2-40B4-BE49-F238E27FC236}">
                <a16:creationId xmlns:a16="http://schemas.microsoft.com/office/drawing/2014/main" id="{6C1ED93D-6257-401D-873A-73D444646738}"/>
              </a:ext>
            </a:extLst>
          </p:cNvPr>
          <p:cNvSpPr>
            <a:spLocks noGrp="1"/>
          </p:cNvSpPr>
          <p:nvPr/>
        </p:nvSpPr>
        <p:spPr>
          <a:xfrm>
            <a:off x="566928" y="6519672"/>
            <a:ext cx="5029200" cy="164592"/>
          </a:xfrm>
          <a:prstGeom prst="rect">
            <a:avLst/>
          </a:prstGeom>
          <a:noFill/>
        </p:spPr>
        <p:txBody>
          <a:bodyPr wrap="square">
            <a:normAutofit/>
          </a:bodyPr>
          <a:lstStyle/>
          <a:p>
            <a:pPr algn="l">
              <a:buNone/>
            </a:pPr>
            <a:r>
              <a:rPr sz="650" b="0">
                <a:solidFill>
                  <a:srgbClr val="B9BEBE"/>
                </a:solidFill>
                <a:latin typeface="Aptos"/>
                <a:ea typeface="Aptos"/>
                <a:cs typeface="Aptos"/>
              </a:rPr>
              <a:t>Source: Olist Brazilian E-Commerce dataset; DuckDB/dbt warehouse marts</a:t>
            </a:r>
          </a:p>
        </p:txBody>
      </p:sp>
      <p:sp>
        <p:nvSpPr>
          <p:cNvPr id="22" name="TextBox 21">
            <a:extLst>
              <a:ext uri="{FF2B5EF4-FFF2-40B4-BE49-F238E27FC236}">
                <a16:creationId xmlns:a16="http://schemas.microsoft.com/office/drawing/2014/main" id="{5DC75E7A-F8C7-428B-A15B-7D1B9F7DBD88}"/>
              </a:ext>
            </a:extLst>
          </p:cNvPr>
          <p:cNvSpPr>
            <a:spLocks noGrp="1"/>
          </p:cNvSpPr>
          <p:nvPr/>
        </p:nvSpPr>
        <p:spPr>
          <a:xfrm>
            <a:off x="11292840" y="6519672"/>
            <a:ext cx="320040" cy="164592"/>
          </a:xfrm>
          <a:prstGeom prst="rect">
            <a:avLst/>
          </a:prstGeom>
          <a:noFill/>
        </p:spPr>
        <p:txBody>
          <a:bodyPr wrap="square">
            <a:normAutofit/>
          </a:bodyPr>
          <a:lstStyle/>
          <a:p>
            <a:pPr algn="r">
              <a:buNone/>
            </a:pPr>
            <a:r>
              <a:rPr sz="650">
                <a:solidFill>
                  <a:srgbClr val="96968C"/>
                </a:solidFill>
                <a:latin typeface="Aptos"/>
                <a:ea typeface="Aptos"/>
                <a:cs typeface="Aptos"/>
              </a:rPr>
              <a:t>01</a:t>
            </a:r>
          </a:p>
        </p:txBody>
      </p:sp>
    </p:spTree>
    <p:extLst>
      <p:ext uri="{BB962C8B-B14F-4D97-AF65-F5344CB8AC3E}">
        <p14:creationId xmlns:p14="http://schemas.microsoft.com/office/powerpoint/2010/main" val="8442500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ACFB14-79DA-4F32-9915-3B38CC444FF3}"/>
              </a:ext>
            </a:extLst>
          </p:cNvPr>
          <p:cNvSpPr>
            <a:spLocks noGrp="1"/>
          </p:cNvSpPr>
          <p:nvPr/>
        </p:nvSpPr>
        <p:spPr>
          <a:xfrm>
            <a:off x="566928" y="256032"/>
            <a:ext cx="2560320" cy="201168"/>
          </a:xfrm>
          <a:prstGeom prst="rect">
            <a:avLst/>
          </a:prstGeom>
          <a:noFill/>
        </p:spPr>
        <p:txBody>
          <a:bodyPr wrap="square">
            <a:normAutofit/>
          </a:bodyPr>
          <a:lstStyle/>
          <a:p>
            <a:pPr algn="l">
              <a:buNone/>
            </a:pPr>
            <a:r>
              <a:rPr sz="750" b="1">
                <a:solidFill>
                  <a:srgbClr val="CE8227"/>
                </a:solidFill>
                <a:latin typeface="Aptos"/>
                <a:ea typeface="Aptos"/>
                <a:cs typeface="Aptos"/>
              </a:rPr>
              <a:t>BUSINESS CASE</a:t>
            </a:r>
          </a:p>
        </p:txBody>
      </p:sp>
      <p:sp>
        <p:nvSpPr>
          <p:cNvPr id="3" name="TextBox 2">
            <a:extLst>
              <a:ext uri="{FF2B5EF4-FFF2-40B4-BE49-F238E27FC236}">
                <a16:creationId xmlns:a16="http://schemas.microsoft.com/office/drawing/2014/main" id="{95A67057-A9FF-4BF8-856D-9DB4E500CDE8}"/>
              </a:ext>
            </a:extLst>
          </p:cNvPr>
          <p:cNvSpPr>
            <a:spLocks noGrp="1"/>
          </p:cNvSpPr>
          <p:nvPr/>
        </p:nvSpPr>
        <p:spPr>
          <a:xfrm>
            <a:off x="566928" y="530352"/>
            <a:ext cx="7955279" cy="822960"/>
          </a:xfrm>
          <a:prstGeom prst="rect">
            <a:avLst/>
          </a:prstGeom>
          <a:noFill/>
        </p:spPr>
        <p:txBody>
          <a:bodyPr wrap="square">
            <a:normAutofit/>
          </a:bodyPr>
          <a:lstStyle/>
          <a:p>
            <a:pPr algn="l">
              <a:buNone/>
            </a:pPr>
            <a:r>
              <a:rPr sz="2400" b="1">
                <a:solidFill>
                  <a:srgbClr val="11202A"/>
                </a:solidFill>
                <a:latin typeface="Aptos"/>
                <a:ea typeface="Aptos"/>
                <a:cs typeface="Aptos"/>
              </a:rPr>
              <a:t>Rapid early growth has leveled off; management needs to know which levers can reignite growth.</a:t>
            </a:r>
          </a:p>
        </p:txBody>
      </p:sp>
      <p:sp>
        <p:nvSpPr>
          <p:cNvPr id="4" name="TextBox 3">
            <a:extLst>
              <a:ext uri="{FF2B5EF4-FFF2-40B4-BE49-F238E27FC236}">
                <a16:creationId xmlns:a16="http://schemas.microsoft.com/office/drawing/2014/main" id="{FEC6050F-1972-4E31-9A2B-F073C41CBFA5}"/>
              </a:ext>
            </a:extLst>
          </p:cNvPr>
          <p:cNvSpPr>
            <a:spLocks noGrp="1"/>
          </p:cNvSpPr>
          <p:nvPr/>
        </p:nvSpPr>
        <p:spPr>
          <a:xfrm>
            <a:off x="731520" y="2152650"/>
            <a:ext cx="1554480" cy="320040"/>
          </a:xfrm>
          <a:prstGeom prst="rect">
            <a:avLst/>
          </a:prstGeom>
          <a:noFill/>
        </p:spPr>
        <p:txBody>
          <a:bodyPr wrap="square">
            <a:normAutofit fontScale="77500" lnSpcReduction="20000"/>
          </a:bodyPr>
          <a:lstStyle/>
          <a:p>
            <a:pPr algn="l">
              <a:buNone/>
            </a:pPr>
            <a:r>
              <a:rPr sz="2200" b="1">
                <a:solidFill>
                  <a:srgbClr val="1C6F82"/>
                </a:solidFill>
                <a:latin typeface="Aptos"/>
                <a:ea typeface="Aptos"/>
                <a:cs typeface="Aptos"/>
              </a:rPr>
              <a:t>3,095</a:t>
            </a:r>
          </a:p>
        </p:txBody>
      </p:sp>
      <p:sp>
        <p:nvSpPr>
          <p:cNvPr id="5" name="TextBox 4">
            <a:extLst>
              <a:ext uri="{FF2B5EF4-FFF2-40B4-BE49-F238E27FC236}">
                <a16:creationId xmlns:a16="http://schemas.microsoft.com/office/drawing/2014/main" id="{9CDFFF6A-B4BD-4ABA-9132-F161EAA36425}"/>
              </a:ext>
            </a:extLst>
          </p:cNvPr>
          <p:cNvSpPr>
            <a:spLocks noGrp="1"/>
          </p:cNvSpPr>
          <p:nvPr/>
        </p:nvSpPr>
        <p:spPr>
          <a:xfrm>
            <a:off x="731520" y="2500122"/>
            <a:ext cx="1645920" cy="228600"/>
          </a:xfrm>
          <a:prstGeom prst="rect">
            <a:avLst/>
          </a:prstGeom>
          <a:noFill/>
        </p:spPr>
        <p:txBody>
          <a:bodyPr wrap="square">
            <a:normAutofit/>
          </a:bodyPr>
          <a:lstStyle/>
          <a:p>
            <a:pPr algn="l">
              <a:buNone/>
            </a:pPr>
            <a:r>
              <a:rPr sz="850" b="1">
                <a:solidFill>
                  <a:srgbClr val="1C6F82"/>
                </a:solidFill>
                <a:latin typeface="Aptos"/>
                <a:ea typeface="Aptos"/>
                <a:cs typeface="Aptos"/>
              </a:rPr>
              <a:t>active sellers</a:t>
            </a:r>
          </a:p>
        </p:txBody>
      </p:sp>
      <p:sp>
        <p:nvSpPr>
          <p:cNvPr id="6" name="TextBox 5">
            <a:extLst>
              <a:ext uri="{FF2B5EF4-FFF2-40B4-BE49-F238E27FC236}">
                <a16:creationId xmlns:a16="http://schemas.microsoft.com/office/drawing/2014/main" id="{166894C3-5454-41E1-B4C5-8E756683BE3A}"/>
              </a:ext>
            </a:extLst>
          </p:cNvPr>
          <p:cNvSpPr>
            <a:spLocks noGrp="1"/>
          </p:cNvSpPr>
          <p:nvPr/>
        </p:nvSpPr>
        <p:spPr>
          <a:xfrm>
            <a:off x="731520" y="2747010"/>
            <a:ext cx="1828800" cy="320040"/>
          </a:xfrm>
          <a:prstGeom prst="rect">
            <a:avLst/>
          </a:prstGeom>
          <a:noFill/>
        </p:spPr>
        <p:txBody>
          <a:bodyPr wrap="square">
            <a:normAutofit/>
          </a:bodyPr>
          <a:lstStyle/>
          <a:p>
            <a:pPr algn="l">
              <a:buNone/>
            </a:pPr>
            <a:r>
              <a:rPr sz="650" b="0">
                <a:solidFill>
                  <a:srgbClr val="56636C"/>
                </a:solidFill>
                <a:latin typeface="Aptos"/>
                <a:ea typeface="Aptos"/>
                <a:cs typeface="Aptos"/>
              </a:rPr>
              <a:t>merchant base</a:t>
            </a:r>
          </a:p>
        </p:txBody>
      </p:sp>
      <p:sp>
        <p:nvSpPr>
          <p:cNvPr id="7" name="TextBox 6">
            <a:extLst>
              <a:ext uri="{FF2B5EF4-FFF2-40B4-BE49-F238E27FC236}">
                <a16:creationId xmlns:a16="http://schemas.microsoft.com/office/drawing/2014/main" id="{1A4C0D3C-C3E9-4065-B0A8-45D5228C9C9A}"/>
              </a:ext>
            </a:extLst>
          </p:cNvPr>
          <p:cNvSpPr>
            <a:spLocks noGrp="1"/>
          </p:cNvSpPr>
          <p:nvPr/>
        </p:nvSpPr>
        <p:spPr>
          <a:xfrm>
            <a:off x="2880360" y="2152650"/>
            <a:ext cx="1554480" cy="320040"/>
          </a:xfrm>
          <a:prstGeom prst="rect">
            <a:avLst/>
          </a:prstGeom>
          <a:noFill/>
        </p:spPr>
        <p:txBody>
          <a:bodyPr wrap="square">
            <a:normAutofit fontScale="77500" lnSpcReduction="20000"/>
          </a:bodyPr>
          <a:lstStyle/>
          <a:p>
            <a:pPr algn="l">
              <a:buNone/>
            </a:pPr>
            <a:r>
              <a:rPr sz="2200" b="1">
                <a:solidFill>
                  <a:srgbClr val="1C6F82"/>
                </a:solidFill>
                <a:latin typeface="Aptos"/>
                <a:ea typeface="Aptos"/>
                <a:cs typeface="Aptos"/>
              </a:rPr>
              <a:t>$13.59M</a:t>
            </a:r>
          </a:p>
        </p:txBody>
      </p:sp>
      <p:sp>
        <p:nvSpPr>
          <p:cNvPr id="8" name="TextBox 7">
            <a:extLst>
              <a:ext uri="{FF2B5EF4-FFF2-40B4-BE49-F238E27FC236}">
                <a16:creationId xmlns:a16="http://schemas.microsoft.com/office/drawing/2014/main" id="{CE50B790-4347-4EAD-8084-ED867352DBA4}"/>
              </a:ext>
            </a:extLst>
          </p:cNvPr>
          <p:cNvSpPr>
            <a:spLocks noGrp="1"/>
          </p:cNvSpPr>
          <p:nvPr/>
        </p:nvSpPr>
        <p:spPr>
          <a:xfrm>
            <a:off x="2880360" y="2500122"/>
            <a:ext cx="1645920" cy="228600"/>
          </a:xfrm>
          <a:prstGeom prst="rect">
            <a:avLst/>
          </a:prstGeom>
          <a:noFill/>
        </p:spPr>
        <p:txBody>
          <a:bodyPr wrap="square">
            <a:normAutofit/>
          </a:bodyPr>
          <a:lstStyle/>
          <a:p>
            <a:pPr algn="l">
              <a:buNone/>
            </a:pPr>
            <a:r>
              <a:rPr sz="850" b="1">
                <a:solidFill>
                  <a:srgbClr val="1C6F82"/>
                </a:solidFill>
                <a:latin typeface="Aptos"/>
                <a:ea typeface="Aptos"/>
                <a:cs typeface="Aptos"/>
              </a:rPr>
              <a:t>Product GMV</a:t>
            </a:r>
          </a:p>
        </p:txBody>
      </p:sp>
      <p:sp>
        <p:nvSpPr>
          <p:cNvPr id="9" name="TextBox 8">
            <a:extLst>
              <a:ext uri="{FF2B5EF4-FFF2-40B4-BE49-F238E27FC236}">
                <a16:creationId xmlns:a16="http://schemas.microsoft.com/office/drawing/2014/main" id="{90FA7138-2F8D-4EDF-B5C6-99DE0D2E27C1}"/>
              </a:ext>
            </a:extLst>
          </p:cNvPr>
          <p:cNvSpPr>
            <a:spLocks noGrp="1"/>
          </p:cNvSpPr>
          <p:nvPr/>
        </p:nvSpPr>
        <p:spPr>
          <a:xfrm>
            <a:off x="2880360" y="2747010"/>
            <a:ext cx="1828800" cy="320040"/>
          </a:xfrm>
          <a:prstGeom prst="rect">
            <a:avLst/>
          </a:prstGeom>
          <a:noFill/>
        </p:spPr>
        <p:txBody>
          <a:bodyPr wrap="square">
            <a:normAutofit/>
          </a:bodyPr>
          <a:lstStyle/>
          <a:p>
            <a:pPr algn="l">
              <a:buNone/>
            </a:pPr>
            <a:r>
              <a:rPr sz="650" b="0">
                <a:solidFill>
                  <a:srgbClr val="56636C"/>
                </a:solidFill>
                <a:latin typeface="Aptos"/>
                <a:ea typeface="Aptos"/>
                <a:cs typeface="Aptos"/>
              </a:rPr>
              <a:t>product sales only</a:t>
            </a:r>
          </a:p>
        </p:txBody>
      </p:sp>
      <p:sp>
        <p:nvSpPr>
          <p:cNvPr id="10" name="TextBox 9">
            <a:extLst>
              <a:ext uri="{FF2B5EF4-FFF2-40B4-BE49-F238E27FC236}">
                <a16:creationId xmlns:a16="http://schemas.microsoft.com/office/drawing/2014/main" id="{5FAD5A73-78D1-4CD7-9FB2-95521C29725F}"/>
              </a:ext>
            </a:extLst>
          </p:cNvPr>
          <p:cNvSpPr>
            <a:spLocks noGrp="1"/>
          </p:cNvSpPr>
          <p:nvPr/>
        </p:nvSpPr>
        <p:spPr>
          <a:xfrm>
            <a:off x="5029200" y="2152650"/>
            <a:ext cx="1554480" cy="320040"/>
          </a:xfrm>
          <a:prstGeom prst="rect">
            <a:avLst/>
          </a:prstGeom>
          <a:noFill/>
        </p:spPr>
        <p:txBody>
          <a:bodyPr wrap="square">
            <a:normAutofit fontScale="77500" lnSpcReduction="20000"/>
          </a:bodyPr>
          <a:lstStyle/>
          <a:p>
            <a:pPr algn="l">
              <a:buNone/>
            </a:pPr>
            <a:r>
              <a:rPr sz="2200" b="1">
                <a:solidFill>
                  <a:srgbClr val="1C6F82"/>
                </a:solidFill>
                <a:latin typeface="Aptos"/>
                <a:ea typeface="Aptos"/>
                <a:cs typeface="Aptos"/>
              </a:rPr>
              <a:t>45.1%</a:t>
            </a:r>
          </a:p>
        </p:txBody>
      </p:sp>
      <p:sp>
        <p:nvSpPr>
          <p:cNvPr id="11" name="TextBox 10">
            <a:extLst>
              <a:ext uri="{FF2B5EF4-FFF2-40B4-BE49-F238E27FC236}">
                <a16:creationId xmlns:a16="http://schemas.microsoft.com/office/drawing/2014/main" id="{94D0B19A-0078-4090-AA4F-AD24C1DA47C3}"/>
              </a:ext>
            </a:extLst>
          </p:cNvPr>
          <p:cNvSpPr>
            <a:spLocks noGrp="1"/>
          </p:cNvSpPr>
          <p:nvPr/>
        </p:nvSpPr>
        <p:spPr>
          <a:xfrm>
            <a:off x="5029200" y="2500122"/>
            <a:ext cx="1645920" cy="228600"/>
          </a:xfrm>
          <a:prstGeom prst="rect">
            <a:avLst/>
          </a:prstGeom>
          <a:noFill/>
        </p:spPr>
        <p:txBody>
          <a:bodyPr wrap="square">
            <a:normAutofit/>
          </a:bodyPr>
          <a:lstStyle/>
          <a:p>
            <a:pPr algn="l">
              <a:buNone/>
            </a:pPr>
            <a:r>
              <a:rPr sz="850" b="1">
                <a:solidFill>
                  <a:srgbClr val="1C6F82"/>
                </a:solidFill>
                <a:latin typeface="Aptos"/>
                <a:ea typeface="Aptos"/>
                <a:cs typeface="Aptos"/>
              </a:rPr>
              <a:t>top 100 share</a:t>
            </a:r>
          </a:p>
        </p:txBody>
      </p:sp>
      <p:sp>
        <p:nvSpPr>
          <p:cNvPr id="12" name="TextBox 11">
            <a:extLst>
              <a:ext uri="{FF2B5EF4-FFF2-40B4-BE49-F238E27FC236}">
                <a16:creationId xmlns:a16="http://schemas.microsoft.com/office/drawing/2014/main" id="{6A5ECBEB-C9EC-4212-AB41-6AADEDCB4CAE}"/>
              </a:ext>
            </a:extLst>
          </p:cNvPr>
          <p:cNvSpPr>
            <a:spLocks noGrp="1"/>
          </p:cNvSpPr>
          <p:nvPr/>
        </p:nvSpPr>
        <p:spPr>
          <a:xfrm>
            <a:off x="5029200" y="2747010"/>
            <a:ext cx="1828800" cy="320040"/>
          </a:xfrm>
          <a:prstGeom prst="rect">
            <a:avLst/>
          </a:prstGeom>
          <a:noFill/>
        </p:spPr>
        <p:txBody>
          <a:bodyPr wrap="square">
            <a:normAutofit/>
          </a:bodyPr>
          <a:lstStyle/>
          <a:p>
            <a:pPr algn="l">
              <a:buNone/>
            </a:pPr>
            <a:r>
              <a:rPr sz="650" b="0">
                <a:solidFill>
                  <a:srgbClr val="56636C"/>
                </a:solidFill>
                <a:latin typeface="Aptos"/>
                <a:ea typeface="Aptos"/>
                <a:cs typeface="Aptos"/>
              </a:rPr>
              <a:t>dependency risk</a:t>
            </a:r>
          </a:p>
        </p:txBody>
      </p:sp>
      <p:sp>
        <p:nvSpPr>
          <p:cNvPr id="13" name="Rectangle 12">
            <a:extLst>
              <a:ext uri="{FF2B5EF4-FFF2-40B4-BE49-F238E27FC236}">
                <a16:creationId xmlns:a16="http://schemas.microsoft.com/office/drawing/2014/main" id="{73709056-4F6A-4DFD-8295-BAE1D66D6838}"/>
              </a:ext>
            </a:extLst>
          </p:cNvPr>
          <p:cNvSpPr>
            <a:spLocks noGrp="1"/>
          </p:cNvSpPr>
          <p:nvPr/>
        </p:nvSpPr>
        <p:spPr>
          <a:xfrm>
            <a:off x="7680960" y="1558290"/>
            <a:ext cx="2834640" cy="3520440"/>
          </a:xfrm>
          <a:prstGeom prst="rect">
            <a:avLst/>
          </a:prstGeom>
          <a:solidFill>
            <a:srgbClr val="FFFCF6"/>
          </a:solidFill>
          <a:ln w="8890">
            <a:solidFill>
              <a:srgbClr val="DBD3C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4021EF2F-4BF7-43D6-8638-572241EABB8E}"/>
              </a:ext>
            </a:extLst>
          </p:cNvPr>
          <p:cNvSpPr>
            <a:spLocks noGrp="1"/>
          </p:cNvSpPr>
          <p:nvPr/>
        </p:nvSpPr>
        <p:spPr>
          <a:xfrm>
            <a:off x="7955279" y="1832610"/>
            <a:ext cx="1737360" cy="274320"/>
          </a:xfrm>
          <a:prstGeom prst="rect">
            <a:avLst/>
          </a:prstGeom>
          <a:noFill/>
        </p:spPr>
        <p:txBody>
          <a:bodyPr wrap="square">
            <a:normAutofit/>
          </a:bodyPr>
          <a:lstStyle/>
          <a:p>
            <a:pPr algn="l">
              <a:buNone/>
            </a:pPr>
            <a:r>
              <a:rPr sz="1100" b="1">
                <a:solidFill>
                  <a:srgbClr val="CE8227"/>
                </a:solidFill>
                <a:latin typeface="Aptos"/>
                <a:ea typeface="Aptos"/>
                <a:cs typeface="Aptos"/>
              </a:rPr>
              <a:t>Why it matters</a:t>
            </a:r>
          </a:p>
        </p:txBody>
      </p:sp>
      <p:sp>
        <p:nvSpPr>
          <p:cNvPr id="15" name="TextBox 14">
            <a:extLst>
              <a:ext uri="{FF2B5EF4-FFF2-40B4-BE49-F238E27FC236}">
                <a16:creationId xmlns:a16="http://schemas.microsoft.com/office/drawing/2014/main" id="{999E173F-354B-4BC8-9BB1-05E4F0B8F20E}"/>
              </a:ext>
            </a:extLst>
          </p:cNvPr>
          <p:cNvSpPr>
            <a:spLocks noGrp="1"/>
          </p:cNvSpPr>
          <p:nvPr/>
        </p:nvSpPr>
        <p:spPr>
          <a:xfrm>
            <a:off x="7955279" y="2289810"/>
            <a:ext cx="2240280" cy="2148840"/>
          </a:xfrm>
          <a:prstGeom prst="rect">
            <a:avLst/>
          </a:prstGeom>
          <a:noFill/>
        </p:spPr>
        <p:txBody>
          <a:bodyPr wrap="square">
            <a:normAutofit lnSpcReduction="10000"/>
          </a:bodyPr>
          <a:lstStyle/>
          <a:p>
            <a:pPr algn="l">
              <a:buNone/>
            </a:pPr>
            <a:r>
              <a:rPr sz="1100" b="0">
                <a:solidFill>
                  <a:srgbClr val="11202A"/>
                </a:solidFill>
                <a:latin typeface="Aptos"/>
                <a:ea typeface="Aptos"/>
                <a:cs typeface="Aptos"/>
              </a:rPr>
              <a:t>1. Olist enables sellers across marketplaces.</a:t>
            </a:r>
          </a:p>
          <a:p>
            <a:pPr algn="l">
              <a:buNone/>
            </a:pPr>
            <a:endParaRPr sz="1100" b="0">
              <a:solidFill>
                <a:srgbClr val="11202A"/>
              </a:solidFill>
              <a:latin typeface="Aptos"/>
              <a:ea typeface="Aptos"/>
              <a:cs typeface="Aptos"/>
            </a:endParaRPr>
          </a:p>
          <a:p>
            <a:pPr algn="l">
              <a:buNone/>
            </a:pPr>
            <a:r>
              <a:rPr sz="1100" b="0">
                <a:solidFill>
                  <a:srgbClr val="11202A"/>
                </a:solidFill>
                <a:latin typeface="Aptos"/>
                <a:ea typeface="Aptos"/>
                <a:cs typeface="Aptos"/>
              </a:rPr>
              <a:t>2. Revenue follows seller success: commissions, services, logistics, software, and financial products.</a:t>
            </a:r>
          </a:p>
          <a:p>
            <a:pPr algn="l">
              <a:buNone/>
            </a:pPr>
            <a:endParaRPr sz="1100" b="0">
              <a:solidFill>
                <a:srgbClr val="11202A"/>
              </a:solidFill>
              <a:latin typeface="Aptos"/>
              <a:ea typeface="Aptos"/>
              <a:cs typeface="Aptos"/>
            </a:endParaRPr>
          </a:p>
          <a:p>
            <a:pPr algn="l">
              <a:buNone/>
            </a:pPr>
            <a:r>
              <a:rPr sz="1100" b="0">
                <a:solidFill>
                  <a:srgbClr val="11202A"/>
                </a:solidFill>
                <a:latin typeface="Aptos"/>
                <a:ea typeface="Aptos"/>
                <a:cs typeface="Aptos"/>
              </a:rPr>
              <a:t>3. Buyer orders reveal seller outcomes.</a:t>
            </a:r>
          </a:p>
          <a:p>
            <a:pPr algn="l">
              <a:buNone/>
            </a:pPr>
            <a:endParaRPr sz="1100" b="0">
              <a:solidFill>
                <a:srgbClr val="11202A"/>
              </a:solidFill>
              <a:latin typeface="Aptos"/>
              <a:ea typeface="Aptos"/>
              <a:cs typeface="Aptos"/>
            </a:endParaRPr>
          </a:p>
          <a:p>
            <a:pPr algn="l">
              <a:buNone/>
            </a:pPr>
            <a:r>
              <a:rPr sz="1100" b="0">
                <a:solidFill>
                  <a:srgbClr val="11202A"/>
                </a:solidFill>
                <a:latin typeface="Aptos"/>
                <a:ea typeface="Aptos"/>
                <a:cs typeface="Aptos"/>
              </a:rPr>
              <a:t>4. GMV shows activity, not Olist revenue.</a:t>
            </a:r>
          </a:p>
        </p:txBody>
      </p:sp>
      <p:sp>
        <p:nvSpPr>
          <p:cNvPr id="16" name="TextBox 15">
            <a:extLst>
              <a:ext uri="{FF2B5EF4-FFF2-40B4-BE49-F238E27FC236}">
                <a16:creationId xmlns:a16="http://schemas.microsoft.com/office/drawing/2014/main" id="{3A6B51B7-B25B-4370-A94C-8FD8D528A18F}"/>
              </a:ext>
            </a:extLst>
          </p:cNvPr>
          <p:cNvSpPr>
            <a:spLocks noGrp="1"/>
          </p:cNvSpPr>
          <p:nvPr/>
        </p:nvSpPr>
        <p:spPr>
          <a:xfrm>
            <a:off x="731520" y="4667250"/>
            <a:ext cx="1371600" cy="228600"/>
          </a:xfrm>
          <a:prstGeom prst="rect">
            <a:avLst/>
          </a:prstGeom>
          <a:noFill/>
        </p:spPr>
        <p:txBody>
          <a:bodyPr wrap="square">
            <a:normAutofit/>
          </a:bodyPr>
          <a:lstStyle/>
          <a:p>
            <a:pPr algn="l">
              <a:buNone/>
            </a:pPr>
            <a:r>
              <a:rPr sz="800" b="1">
                <a:solidFill>
                  <a:srgbClr val="CE8227"/>
                </a:solidFill>
                <a:latin typeface="Aptos"/>
                <a:ea typeface="Aptos"/>
                <a:cs typeface="Aptos"/>
              </a:rPr>
              <a:t>Decision lens</a:t>
            </a:r>
          </a:p>
        </p:txBody>
      </p:sp>
      <p:sp>
        <p:nvSpPr>
          <p:cNvPr id="17" name="TextBox 16">
            <a:extLst>
              <a:ext uri="{FF2B5EF4-FFF2-40B4-BE49-F238E27FC236}">
                <a16:creationId xmlns:a16="http://schemas.microsoft.com/office/drawing/2014/main" id="{5C2BB441-AB04-4764-BDE6-A4D5D2A284FE}"/>
              </a:ext>
            </a:extLst>
          </p:cNvPr>
          <p:cNvSpPr>
            <a:spLocks noGrp="1"/>
          </p:cNvSpPr>
          <p:nvPr/>
        </p:nvSpPr>
        <p:spPr>
          <a:xfrm>
            <a:off x="1965960" y="4603242"/>
            <a:ext cx="5943600" cy="502920"/>
          </a:xfrm>
          <a:prstGeom prst="rect">
            <a:avLst/>
          </a:prstGeom>
          <a:noFill/>
        </p:spPr>
        <p:txBody>
          <a:bodyPr wrap="square">
            <a:normAutofit fontScale="83201" lnSpcReduction="10000"/>
          </a:bodyPr>
          <a:lstStyle/>
          <a:p>
            <a:pPr algn="l">
              <a:buNone/>
            </a:pPr>
            <a:r>
              <a:rPr sz="1600" b="1">
                <a:solidFill>
                  <a:srgbClr val="11202A"/>
                </a:solidFill>
                <a:latin typeface="Aptos"/>
                <a:ea typeface="Aptos"/>
                <a:cs typeface="Aptos"/>
              </a:rPr>
              <a:t>Use the dashboard to decide where sellers can grow GMV, improve fulfillment, stay active, and create more revenue opportunities for Olist.</a:t>
            </a:r>
          </a:p>
        </p:txBody>
      </p:sp>
      <p:sp>
        <p:nvSpPr>
          <p:cNvPr id="18" name="TextBox 17">
            <a:extLst>
              <a:ext uri="{FF2B5EF4-FFF2-40B4-BE49-F238E27FC236}">
                <a16:creationId xmlns:a16="http://schemas.microsoft.com/office/drawing/2014/main" id="{C4EF59C5-F685-470D-9D03-711EE46F87E7}"/>
              </a:ext>
            </a:extLst>
          </p:cNvPr>
          <p:cNvSpPr>
            <a:spLocks noGrp="1"/>
          </p:cNvSpPr>
          <p:nvPr/>
        </p:nvSpPr>
        <p:spPr>
          <a:xfrm>
            <a:off x="566928" y="6519672"/>
            <a:ext cx="5029200" cy="164592"/>
          </a:xfrm>
          <a:prstGeom prst="rect">
            <a:avLst/>
          </a:prstGeom>
          <a:noFill/>
        </p:spPr>
        <p:txBody>
          <a:bodyPr wrap="square">
            <a:normAutofit/>
          </a:bodyPr>
          <a:lstStyle/>
          <a:p>
            <a:pPr algn="l">
              <a:buNone/>
            </a:pPr>
            <a:r>
              <a:rPr sz="650" b="0">
                <a:solidFill>
                  <a:srgbClr val="96968C"/>
                </a:solidFill>
                <a:latin typeface="Aptos"/>
                <a:ea typeface="Aptos"/>
                <a:cs typeface="Aptos"/>
              </a:rPr>
              <a:t>Source: Olist Brazilian E-Commerce dataset; DuckDB/dbt warehouse marts</a:t>
            </a:r>
          </a:p>
        </p:txBody>
      </p:sp>
      <p:sp>
        <p:nvSpPr>
          <p:cNvPr id="19" name="TextBox 18">
            <a:extLst>
              <a:ext uri="{FF2B5EF4-FFF2-40B4-BE49-F238E27FC236}">
                <a16:creationId xmlns:a16="http://schemas.microsoft.com/office/drawing/2014/main" id="{1AE80C89-2E00-4BDF-AF7D-9BFCC4C13D31}"/>
              </a:ext>
            </a:extLst>
          </p:cNvPr>
          <p:cNvSpPr>
            <a:spLocks noGrp="1"/>
          </p:cNvSpPr>
          <p:nvPr/>
        </p:nvSpPr>
        <p:spPr>
          <a:xfrm>
            <a:off x="11292840" y="6519672"/>
            <a:ext cx="320040" cy="164592"/>
          </a:xfrm>
          <a:prstGeom prst="rect">
            <a:avLst/>
          </a:prstGeom>
          <a:noFill/>
        </p:spPr>
        <p:txBody>
          <a:bodyPr wrap="square">
            <a:normAutofit/>
          </a:bodyPr>
          <a:lstStyle/>
          <a:p>
            <a:pPr algn="r">
              <a:buNone/>
            </a:pPr>
            <a:r>
              <a:rPr sz="650">
                <a:solidFill>
                  <a:srgbClr val="96968C"/>
                </a:solidFill>
                <a:latin typeface="Aptos"/>
                <a:ea typeface="Aptos"/>
                <a:cs typeface="Aptos"/>
              </a:rPr>
              <a:t>02</a:t>
            </a:r>
          </a:p>
        </p:txBody>
      </p:sp>
    </p:spTree>
    <p:extLst>
      <p:ext uri="{BB962C8B-B14F-4D97-AF65-F5344CB8AC3E}">
        <p14:creationId xmlns:p14="http://schemas.microsoft.com/office/powerpoint/2010/main" val="607497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364621-7E74-42A2-B198-51F49320A54F}"/>
              </a:ext>
            </a:extLst>
          </p:cNvPr>
          <p:cNvSpPr>
            <a:spLocks noGrp="1"/>
          </p:cNvSpPr>
          <p:nvPr/>
        </p:nvSpPr>
        <p:spPr>
          <a:xfrm>
            <a:off x="566928" y="256032"/>
            <a:ext cx="2651760" cy="201168"/>
          </a:xfrm>
          <a:prstGeom prst="rect">
            <a:avLst/>
          </a:prstGeom>
          <a:noFill/>
        </p:spPr>
        <p:txBody>
          <a:bodyPr wrap="square">
            <a:normAutofit/>
          </a:bodyPr>
          <a:lstStyle/>
          <a:p>
            <a:pPr algn="l">
              <a:buNone/>
            </a:pPr>
            <a:r>
              <a:rPr sz="750" b="1">
                <a:solidFill>
                  <a:srgbClr val="CE8227"/>
                </a:solidFill>
                <a:latin typeface="Aptos"/>
                <a:ea typeface="Aptos"/>
                <a:cs typeface="Aptos"/>
              </a:rPr>
              <a:t>BUSINESS MODEL</a:t>
            </a:r>
          </a:p>
        </p:txBody>
      </p:sp>
      <p:sp>
        <p:nvSpPr>
          <p:cNvPr id="3" name="TextBox 2">
            <a:extLst>
              <a:ext uri="{FF2B5EF4-FFF2-40B4-BE49-F238E27FC236}">
                <a16:creationId xmlns:a16="http://schemas.microsoft.com/office/drawing/2014/main" id="{46B27333-97E5-437E-AEF4-2F364DD33D08}"/>
              </a:ext>
            </a:extLst>
          </p:cNvPr>
          <p:cNvSpPr>
            <a:spLocks noGrp="1"/>
          </p:cNvSpPr>
          <p:nvPr/>
        </p:nvSpPr>
        <p:spPr>
          <a:xfrm>
            <a:off x="566928" y="530352"/>
            <a:ext cx="8686800" cy="822960"/>
          </a:xfrm>
          <a:prstGeom prst="rect">
            <a:avLst/>
          </a:prstGeom>
          <a:noFill/>
        </p:spPr>
        <p:txBody>
          <a:bodyPr wrap="square">
            <a:normAutofit/>
          </a:bodyPr>
          <a:lstStyle/>
          <a:p>
            <a:pPr algn="l">
              <a:buNone/>
            </a:pPr>
            <a:r>
              <a:rPr sz="2400" b="1">
                <a:solidFill>
                  <a:srgbClr val="11202A"/>
                </a:solidFill>
                <a:latin typeface="Aptos"/>
                <a:ea typeface="Aptos"/>
                <a:cs typeface="Aptos"/>
              </a:rPr>
              <a:t>Olist enables sellers across marketplaces; the dataset captures transaction signals from that ecosystem.</a:t>
            </a:r>
          </a:p>
        </p:txBody>
      </p:sp>
      <p:sp>
        <p:nvSpPr>
          <p:cNvPr id="4" name="Rectangle 3">
            <a:extLst>
              <a:ext uri="{FF2B5EF4-FFF2-40B4-BE49-F238E27FC236}">
                <a16:creationId xmlns:a16="http://schemas.microsoft.com/office/drawing/2014/main" id="{6C2F4DBE-E8FE-4F5D-886B-E6FCCE50AC08}"/>
              </a:ext>
            </a:extLst>
          </p:cNvPr>
          <p:cNvSpPr>
            <a:spLocks noGrp="1"/>
          </p:cNvSpPr>
          <p:nvPr/>
        </p:nvSpPr>
        <p:spPr>
          <a:xfrm>
            <a:off x="1485900" y="1752599"/>
            <a:ext cx="1691640" cy="1234440"/>
          </a:xfrm>
          <a:prstGeom prst="rect">
            <a:avLst/>
          </a:prstGeom>
          <a:solidFill>
            <a:srgbClr val="FFFCF6"/>
          </a:solidFill>
          <a:ln w="8890">
            <a:solidFill>
              <a:srgbClr val="9EB9C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F62069F-C0AA-4DCE-9F0D-C5B4EBF8BC27}"/>
              </a:ext>
            </a:extLst>
          </p:cNvPr>
          <p:cNvSpPr>
            <a:spLocks noGrp="1"/>
          </p:cNvSpPr>
          <p:nvPr/>
        </p:nvSpPr>
        <p:spPr>
          <a:xfrm>
            <a:off x="1632204" y="1999488"/>
            <a:ext cx="1234440" cy="228600"/>
          </a:xfrm>
          <a:prstGeom prst="rect">
            <a:avLst/>
          </a:prstGeom>
          <a:noFill/>
        </p:spPr>
        <p:txBody>
          <a:bodyPr wrap="square">
            <a:noAutofit/>
          </a:bodyPr>
          <a:lstStyle/>
          <a:p>
            <a:pPr algn="l">
              <a:buNone/>
            </a:pPr>
            <a:r>
              <a:rPr sz="1100" b="1" dirty="0">
                <a:solidFill>
                  <a:srgbClr val="1C6F82"/>
                </a:solidFill>
                <a:latin typeface="Aptos"/>
                <a:ea typeface="Aptos"/>
                <a:cs typeface="Aptos"/>
              </a:rPr>
              <a:t>SME sellers</a:t>
            </a:r>
          </a:p>
        </p:txBody>
      </p:sp>
      <p:sp>
        <p:nvSpPr>
          <p:cNvPr id="6" name="TextBox 5">
            <a:extLst>
              <a:ext uri="{FF2B5EF4-FFF2-40B4-BE49-F238E27FC236}">
                <a16:creationId xmlns:a16="http://schemas.microsoft.com/office/drawing/2014/main" id="{090CE345-50A0-465E-BECE-522EB6BE04D9}"/>
              </a:ext>
            </a:extLst>
          </p:cNvPr>
          <p:cNvSpPr>
            <a:spLocks noGrp="1"/>
          </p:cNvSpPr>
          <p:nvPr/>
        </p:nvSpPr>
        <p:spPr>
          <a:xfrm>
            <a:off x="1632204" y="2365248"/>
            <a:ext cx="1325880" cy="347472"/>
          </a:xfrm>
          <a:prstGeom prst="rect">
            <a:avLst/>
          </a:prstGeom>
          <a:noFill/>
        </p:spPr>
        <p:txBody>
          <a:bodyPr wrap="square">
            <a:noAutofit/>
          </a:bodyPr>
          <a:lstStyle/>
          <a:p>
            <a:pPr algn="l">
              <a:buNone/>
            </a:pPr>
            <a:r>
              <a:rPr sz="1000" b="0" dirty="0">
                <a:solidFill>
                  <a:srgbClr val="56636C"/>
                </a:solidFill>
                <a:latin typeface="Aptos"/>
                <a:ea typeface="Aptos"/>
                <a:cs typeface="Aptos"/>
              </a:rPr>
              <a:t>need reach, tools, logistics, finance</a:t>
            </a:r>
          </a:p>
        </p:txBody>
      </p:sp>
      <p:sp>
        <p:nvSpPr>
          <p:cNvPr id="7" name="Connector 6">
            <a:extLst>
              <a:ext uri="{FF2B5EF4-FFF2-40B4-BE49-F238E27FC236}">
                <a16:creationId xmlns:a16="http://schemas.microsoft.com/office/drawing/2014/main" id="{94725815-D4E2-4E51-9353-915E13702BA0}"/>
              </a:ext>
            </a:extLst>
          </p:cNvPr>
          <p:cNvSpPr>
            <a:spLocks noGrp="1"/>
          </p:cNvSpPr>
          <p:nvPr/>
        </p:nvSpPr>
        <p:spPr>
          <a:xfrm>
            <a:off x="3177540" y="2365248"/>
            <a:ext cx="640080" cy="0"/>
          </a:xfrm>
          <a:prstGeom prst="line">
            <a:avLst/>
          </a:prstGeom>
          <a:ln w="20320">
            <a:solidFill>
              <a:srgbClr val="1C6F82"/>
            </a:solidFill>
          </a:ln>
        </p:spPr>
        <p:style>
          <a:lnRef idx="2">
            <a:schemeClr val="accent1"/>
          </a:lnRef>
          <a:fillRef idx="0">
            <a:schemeClr val="accent1"/>
          </a:fillRef>
          <a:effectRef idx="1">
            <a:schemeClr val="accent1"/>
          </a:effectRef>
          <a:fontRef idx="minor">
            <a:schemeClr val="tx1"/>
          </a:fontRef>
        </p:style>
        <p:txBody>
          <a:bodyPr/>
          <a:lstStyle/>
          <a:p>
            <a:endParaRPr lang="en-SG"/>
          </a:p>
        </p:txBody>
      </p:sp>
      <p:sp>
        <p:nvSpPr>
          <p:cNvPr id="8" name="Rectangle 7">
            <a:extLst>
              <a:ext uri="{FF2B5EF4-FFF2-40B4-BE49-F238E27FC236}">
                <a16:creationId xmlns:a16="http://schemas.microsoft.com/office/drawing/2014/main" id="{26F0AAA8-0A6C-4634-97F2-A88C018FC01C}"/>
              </a:ext>
            </a:extLst>
          </p:cNvPr>
          <p:cNvSpPr>
            <a:spLocks noGrp="1"/>
          </p:cNvSpPr>
          <p:nvPr/>
        </p:nvSpPr>
        <p:spPr>
          <a:xfrm>
            <a:off x="3817620" y="1752599"/>
            <a:ext cx="1691640" cy="1234440"/>
          </a:xfrm>
          <a:prstGeom prst="rect">
            <a:avLst/>
          </a:prstGeom>
          <a:solidFill>
            <a:srgbClr val="E8F3F6"/>
          </a:solidFill>
          <a:ln w="8890">
            <a:solidFill>
              <a:srgbClr val="9EB9C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A1C9724-5395-446B-A645-BBC2CA23A7B6}"/>
              </a:ext>
            </a:extLst>
          </p:cNvPr>
          <p:cNvSpPr>
            <a:spLocks noGrp="1"/>
          </p:cNvSpPr>
          <p:nvPr/>
        </p:nvSpPr>
        <p:spPr>
          <a:xfrm>
            <a:off x="3963924" y="1999488"/>
            <a:ext cx="1234440" cy="228600"/>
          </a:xfrm>
          <a:prstGeom prst="rect">
            <a:avLst/>
          </a:prstGeom>
          <a:noFill/>
        </p:spPr>
        <p:txBody>
          <a:bodyPr wrap="square">
            <a:noAutofit/>
          </a:bodyPr>
          <a:lstStyle/>
          <a:p>
            <a:pPr algn="l">
              <a:buNone/>
            </a:pPr>
            <a:r>
              <a:rPr sz="1100" b="1">
                <a:solidFill>
                  <a:srgbClr val="1C6F82"/>
                </a:solidFill>
                <a:latin typeface="Aptos"/>
                <a:ea typeface="Aptos"/>
                <a:cs typeface="Aptos"/>
              </a:rPr>
              <a:t>Olist platform</a:t>
            </a:r>
          </a:p>
        </p:txBody>
      </p:sp>
      <p:sp>
        <p:nvSpPr>
          <p:cNvPr id="10" name="TextBox 9">
            <a:extLst>
              <a:ext uri="{FF2B5EF4-FFF2-40B4-BE49-F238E27FC236}">
                <a16:creationId xmlns:a16="http://schemas.microsoft.com/office/drawing/2014/main" id="{F747065F-6AAE-4AFF-83E4-D12DBA632743}"/>
              </a:ext>
            </a:extLst>
          </p:cNvPr>
          <p:cNvSpPr>
            <a:spLocks noGrp="1"/>
          </p:cNvSpPr>
          <p:nvPr/>
        </p:nvSpPr>
        <p:spPr>
          <a:xfrm>
            <a:off x="3963924" y="2365248"/>
            <a:ext cx="1325880" cy="347472"/>
          </a:xfrm>
          <a:prstGeom prst="rect">
            <a:avLst/>
          </a:prstGeom>
          <a:noFill/>
        </p:spPr>
        <p:txBody>
          <a:bodyPr wrap="square">
            <a:noAutofit/>
          </a:bodyPr>
          <a:lstStyle/>
          <a:p>
            <a:pPr algn="l">
              <a:buNone/>
            </a:pPr>
            <a:r>
              <a:rPr sz="1000" b="0">
                <a:solidFill>
                  <a:srgbClr val="56636C"/>
                </a:solidFill>
                <a:latin typeface="Aptos"/>
                <a:ea typeface="Aptos"/>
                <a:cs typeface="Aptos"/>
              </a:rPr>
              <a:t>operating layer for seller success</a:t>
            </a:r>
          </a:p>
        </p:txBody>
      </p:sp>
      <p:sp>
        <p:nvSpPr>
          <p:cNvPr id="11" name="Connector 10">
            <a:extLst>
              <a:ext uri="{FF2B5EF4-FFF2-40B4-BE49-F238E27FC236}">
                <a16:creationId xmlns:a16="http://schemas.microsoft.com/office/drawing/2014/main" id="{FF84163D-DF31-4643-B352-D03AC37DAB48}"/>
              </a:ext>
            </a:extLst>
          </p:cNvPr>
          <p:cNvSpPr>
            <a:spLocks noGrp="1"/>
          </p:cNvSpPr>
          <p:nvPr/>
        </p:nvSpPr>
        <p:spPr>
          <a:xfrm>
            <a:off x="5509260" y="2365248"/>
            <a:ext cx="640080" cy="0"/>
          </a:xfrm>
          <a:prstGeom prst="line">
            <a:avLst/>
          </a:prstGeom>
          <a:ln w="20320">
            <a:solidFill>
              <a:srgbClr val="1C6F82"/>
            </a:solidFill>
          </a:ln>
        </p:spPr>
        <p:style>
          <a:lnRef idx="2">
            <a:schemeClr val="accent1"/>
          </a:lnRef>
          <a:fillRef idx="0">
            <a:schemeClr val="accent1"/>
          </a:fillRef>
          <a:effectRef idx="1">
            <a:schemeClr val="accent1"/>
          </a:effectRef>
          <a:fontRef idx="minor">
            <a:schemeClr val="tx1"/>
          </a:fontRef>
        </p:style>
        <p:txBody>
          <a:bodyPr/>
          <a:lstStyle/>
          <a:p>
            <a:endParaRPr lang="en-SG"/>
          </a:p>
        </p:txBody>
      </p:sp>
      <p:sp>
        <p:nvSpPr>
          <p:cNvPr id="12" name="Rectangle 11">
            <a:extLst>
              <a:ext uri="{FF2B5EF4-FFF2-40B4-BE49-F238E27FC236}">
                <a16:creationId xmlns:a16="http://schemas.microsoft.com/office/drawing/2014/main" id="{637B2BAF-F108-4723-AEF6-7E227407AE88}"/>
              </a:ext>
            </a:extLst>
          </p:cNvPr>
          <p:cNvSpPr>
            <a:spLocks noGrp="1"/>
          </p:cNvSpPr>
          <p:nvPr/>
        </p:nvSpPr>
        <p:spPr>
          <a:xfrm>
            <a:off x="6149340" y="1752599"/>
            <a:ext cx="1691640" cy="1234440"/>
          </a:xfrm>
          <a:prstGeom prst="rect">
            <a:avLst/>
          </a:prstGeom>
          <a:solidFill>
            <a:srgbClr val="FFFCF6"/>
          </a:solidFill>
          <a:ln w="8890">
            <a:solidFill>
              <a:srgbClr val="9EB9C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796F6F8-E8D6-409F-8546-AAC36B26874B}"/>
              </a:ext>
            </a:extLst>
          </p:cNvPr>
          <p:cNvSpPr>
            <a:spLocks noGrp="1"/>
          </p:cNvSpPr>
          <p:nvPr/>
        </p:nvSpPr>
        <p:spPr>
          <a:xfrm>
            <a:off x="6295644" y="1999488"/>
            <a:ext cx="1234440" cy="228600"/>
          </a:xfrm>
          <a:prstGeom prst="rect">
            <a:avLst/>
          </a:prstGeom>
          <a:noFill/>
        </p:spPr>
        <p:txBody>
          <a:bodyPr wrap="square">
            <a:noAutofit/>
          </a:bodyPr>
          <a:lstStyle/>
          <a:p>
            <a:pPr algn="l">
              <a:buNone/>
            </a:pPr>
            <a:r>
              <a:rPr sz="1100" b="1">
                <a:solidFill>
                  <a:srgbClr val="1C6F82"/>
                </a:solidFill>
                <a:latin typeface="Aptos"/>
                <a:ea typeface="Aptos"/>
                <a:cs typeface="Aptos"/>
              </a:rPr>
              <a:t>Marketplace channels</a:t>
            </a:r>
          </a:p>
        </p:txBody>
      </p:sp>
      <p:sp>
        <p:nvSpPr>
          <p:cNvPr id="14" name="TextBox 13">
            <a:extLst>
              <a:ext uri="{FF2B5EF4-FFF2-40B4-BE49-F238E27FC236}">
                <a16:creationId xmlns:a16="http://schemas.microsoft.com/office/drawing/2014/main" id="{908D4526-2B5E-44AF-B787-E2E1DB90A0CD}"/>
              </a:ext>
            </a:extLst>
          </p:cNvPr>
          <p:cNvSpPr>
            <a:spLocks noGrp="1"/>
          </p:cNvSpPr>
          <p:nvPr/>
        </p:nvSpPr>
        <p:spPr>
          <a:xfrm>
            <a:off x="6295644" y="2365248"/>
            <a:ext cx="1325880" cy="347472"/>
          </a:xfrm>
          <a:prstGeom prst="rect">
            <a:avLst/>
          </a:prstGeom>
          <a:noFill/>
        </p:spPr>
        <p:txBody>
          <a:bodyPr wrap="square">
            <a:noAutofit/>
          </a:bodyPr>
          <a:lstStyle/>
          <a:p>
            <a:pPr algn="l">
              <a:buNone/>
            </a:pPr>
            <a:r>
              <a:rPr sz="1000" b="0">
                <a:solidFill>
                  <a:srgbClr val="56636C"/>
                </a:solidFill>
                <a:latin typeface="Aptos"/>
                <a:ea typeface="Aptos"/>
                <a:cs typeface="Aptos"/>
              </a:rPr>
              <a:t>distribution and buyer demand</a:t>
            </a:r>
          </a:p>
        </p:txBody>
      </p:sp>
      <p:sp>
        <p:nvSpPr>
          <p:cNvPr id="15" name="Connector 14">
            <a:extLst>
              <a:ext uri="{FF2B5EF4-FFF2-40B4-BE49-F238E27FC236}">
                <a16:creationId xmlns:a16="http://schemas.microsoft.com/office/drawing/2014/main" id="{7EE1CBD4-7A65-45C9-B33C-06883D6F7564}"/>
              </a:ext>
            </a:extLst>
          </p:cNvPr>
          <p:cNvSpPr>
            <a:spLocks noGrp="1"/>
          </p:cNvSpPr>
          <p:nvPr/>
        </p:nvSpPr>
        <p:spPr>
          <a:xfrm>
            <a:off x="7840979" y="2365248"/>
            <a:ext cx="640080" cy="0"/>
          </a:xfrm>
          <a:prstGeom prst="line">
            <a:avLst/>
          </a:prstGeom>
          <a:ln w="20320">
            <a:solidFill>
              <a:srgbClr val="1C6F82"/>
            </a:solidFill>
          </a:ln>
        </p:spPr>
        <p:style>
          <a:lnRef idx="2">
            <a:schemeClr val="accent1"/>
          </a:lnRef>
          <a:fillRef idx="0">
            <a:schemeClr val="accent1"/>
          </a:fillRef>
          <a:effectRef idx="1">
            <a:schemeClr val="accent1"/>
          </a:effectRef>
          <a:fontRef idx="minor">
            <a:schemeClr val="tx1"/>
          </a:fontRef>
        </p:style>
        <p:txBody>
          <a:bodyPr/>
          <a:lstStyle/>
          <a:p>
            <a:endParaRPr lang="en-SG"/>
          </a:p>
        </p:txBody>
      </p:sp>
      <p:sp>
        <p:nvSpPr>
          <p:cNvPr id="16" name="Rectangle 15">
            <a:extLst>
              <a:ext uri="{FF2B5EF4-FFF2-40B4-BE49-F238E27FC236}">
                <a16:creationId xmlns:a16="http://schemas.microsoft.com/office/drawing/2014/main" id="{75821E9E-231D-4840-8A86-B49F85C6675D}"/>
              </a:ext>
            </a:extLst>
          </p:cNvPr>
          <p:cNvSpPr>
            <a:spLocks noGrp="1"/>
          </p:cNvSpPr>
          <p:nvPr/>
        </p:nvSpPr>
        <p:spPr>
          <a:xfrm>
            <a:off x="8481059" y="1752599"/>
            <a:ext cx="1691640" cy="1234440"/>
          </a:xfrm>
          <a:prstGeom prst="rect">
            <a:avLst/>
          </a:prstGeom>
          <a:solidFill>
            <a:srgbClr val="FFFCF6"/>
          </a:solidFill>
          <a:ln w="8890">
            <a:solidFill>
              <a:srgbClr val="9EB9C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1D557F7-0CB4-4BAB-9C10-4FE1A0A60B0D}"/>
              </a:ext>
            </a:extLst>
          </p:cNvPr>
          <p:cNvSpPr>
            <a:spLocks noGrp="1"/>
          </p:cNvSpPr>
          <p:nvPr/>
        </p:nvSpPr>
        <p:spPr>
          <a:xfrm>
            <a:off x="8627363" y="1999488"/>
            <a:ext cx="1234440" cy="228600"/>
          </a:xfrm>
          <a:prstGeom prst="rect">
            <a:avLst/>
          </a:prstGeom>
          <a:noFill/>
        </p:spPr>
        <p:txBody>
          <a:bodyPr wrap="square">
            <a:noAutofit/>
          </a:bodyPr>
          <a:lstStyle/>
          <a:p>
            <a:pPr algn="l">
              <a:buNone/>
            </a:pPr>
            <a:r>
              <a:rPr sz="1100" b="1">
                <a:solidFill>
                  <a:srgbClr val="1C6F82"/>
                </a:solidFill>
                <a:latin typeface="Aptos"/>
                <a:ea typeface="Aptos"/>
                <a:cs typeface="Aptos"/>
              </a:rPr>
              <a:t>End buyers</a:t>
            </a:r>
          </a:p>
        </p:txBody>
      </p:sp>
      <p:sp>
        <p:nvSpPr>
          <p:cNvPr id="18" name="TextBox 17">
            <a:extLst>
              <a:ext uri="{FF2B5EF4-FFF2-40B4-BE49-F238E27FC236}">
                <a16:creationId xmlns:a16="http://schemas.microsoft.com/office/drawing/2014/main" id="{A31CD7FE-69B8-4424-96D8-321A0D4E3FDB}"/>
              </a:ext>
            </a:extLst>
          </p:cNvPr>
          <p:cNvSpPr>
            <a:spLocks noGrp="1"/>
          </p:cNvSpPr>
          <p:nvPr/>
        </p:nvSpPr>
        <p:spPr>
          <a:xfrm>
            <a:off x="8627363" y="2365248"/>
            <a:ext cx="1325880" cy="347472"/>
          </a:xfrm>
          <a:prstGeom prst="rect">
            <a:avLst/>
          </a:prstGeom>
          <a:noFill/>
        </p:spPr>
        <p:txBody>
          <a:bodyPr wrap="square">
            <a:noAutofit/>
          </a:bodyPr>
          <a:lstStyle/>
          <a:p>
            <a:pPr algn="l">
              <a:buNone/>
            </a:pPr>
            <a:r>
              <a:rPr sz="1000" b="0">
                <a:solidFill>
                  <a:srgbClr val="56636C"/>
                </a:solidFill>
                <a:latin typeface="Aptos"/>
                <a:ea typeface="Aptos"/>
                <a:cs typeface="Aptos"/>
              </a:rPr>
              <a:t>orders, reviews, delivery signals</a:t>
            </a:r>
          </a:p>
        </p:txBody>
      </p:sp>
      <p:sp>
        <p:nvSpPr>
          <p:cNvPr id="19" name="Rectangle 18">
            <a:extLst>
              <a:ext uri="{FF2B5EF4-FFF2-40B4-BE49-F238E27FC236}">
                <a16:creationId xmlns:a16="http://schemas.microsoft.com/office/drawing/2014/main" id="{B9C1A26C-114B-4F66-8DBE-E05C4D89CF9D}"/>
              </a:ext>
            </a:extLst>
          </p:cNvPr>
          <p:cNvSpPr>
            <a:spLocks noGrp="1"/>
          </p:cNvSpPr>
          <p:nvPr/>
        </p:nvSpPr>
        <p:spPr>
          <a:xfrm>
            <a:off x="1089660" y="3496056"/>
            <a:ext cx="4526280" cy="1463040"/>
          </a:xfrm>
          <a:prstGeom prst="rect">
            <a:avLst/>
          </a:prstGeom>
          <a:solidFill>
            <a:srgbClr val="FFFCF6"/>
          </a:solidFill>
          <a:ln w="8890">
            <a:solidFill>
              <a:srgbClr val="DBD3C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94EFC98F-6D0F-4344-B2C5-2B5E7D50B0B2}"/>
              </a:ext>
            </a:extLst>
          </p:cNvPr>
          <p:cNvSpPr>
            <a:spLocks noGrp="1"/>
          </p:cNvSpPr>
          <p:nvPr/>
        </p:nvSpPr>
        <p:spPr>
          <a:xfrm>
            <a:off x="1318260" y="3770376"/>
            <a:ext cx="1737360" cy="228600"/>
          </a:xfrm>
          <a:prstGeom prst="rect">
            <a:avLst/>
          </a:prstGeom>
          <a:noFill/>
        </p:spPr>
        <p:txBody>
          <a:bodyPr wrap="square">
            <a:normAutofit fontScale="92500" lnSpcReduction="20000"/>
          </a:bodyPr>
          <a:lstStyle/>
          <a:p>
            <a:pPr algn="l">
              <a:buNone/>
            </a:pPr>
            <a:r>
              <a:rPr sz="1100" b="1">
                <a:solidFill>
                  <a:srgbClr val="CE8227"/>
                </a:solidFill>
                <a:latin typeface="Aptos"/>
                <a:ea typeface="Aptos"/>
                <a:cs typeface="Aptos"/>
              </a:rPr>
              <a:t>Revenue logic</a:t>
            </a:r>
          </a:p>
        </p:txBody>
      </p:sp>
      <p:sp>
        <p:nvSpPr>
          <p:cNvPr id="21" name="TextBox 20">
            <a:extLst>
              <a:ext uri="{FF2B5EF4-FFF2-40B4-BE49-F238E27FC236}">
                <a16:creationId xmlns:a16="http://schemas.microsoft.com/office/drawing/2014/main" id="{74789DAB-5828-446C-9D09-23EB10EB30B3}"/>
              </a:ext>
            </a:extLst>
          </p:cNvPr>
          <p:cNvSpPr>
            <a:spLocks noGrp="1"/>
          </p:cNvSpPr>
          <p:nvPr/>
        </p:nvSpPr>
        <p:spPr>
          <a:xfrm>
            <a:off x="1318260" y="4136136"/>
            <a:ext cx="3749039" cy="502920"/>
          </a:xfrm>
          <a:prstGeom prst="rect">
            <a:avLst/>
          </a:prstGeom>
          <a:noFill/>
        </p:spPr>
        <p:txBody>
          <a:bodyPr wrap="square">
            <a:normAutofit fontScale="84615" lnSpcReduction="20000"/>
          </a:bodyPr>
          <a:lstStyle/>
          <a:p>
            <a:pPr algn="l">
              <a:buNone/>
            </a:pPr>
            <a:r>
              <a:rPr sz="1300" b="1">
                <a:solidFill>
                  <a:srgbClr val="11202A"/>
                </a:solidFill>
                <a:latin typeface="Aptos"/>
                <a:ea typeface="Aptos"/>
                <a:cs typeface="Aptos"/>
              </a:rPr>
              <a:t>Olist monetizes seller success through commissions, marketplace services, logistics, software subscriptions, and financial products.</a:t>
            </a:r>
          </a:p>
        </p:txBody>
      </p:sp>
      <p:sp>
        <p:nvSpPr>
          <p:cNvPr id="22" name="Rectangle 21">
            <a:extLst>
              <a:ext uri="{FF2B5EF4-FFF2-40B4-BE49-F238E27FC236}">
                <a16:creationId xmlns:a16="http://schemas.microsoft.com/office/drawing/2014/main" id="{D39FA185-EDE4-4FB3-B23E-7E105D931BCE}"/>
              </a:ext>
            </a:extLst>
          </p:cNvPr>
          <p:cNvSpPr>
            <a:spLocks noGrp="1"/>
          </p:cNvSpPr>
          <p:nvPr/>
        </p:nvSpPr>
        <p:spPr>
          <a:xfrm>
            <a:off x="6164580" y="3496056"/>
            <a:ext cx="4526280" cy="1463040"/>
          </a:xfrm>
          <a:prstGeom prst="rect">
            <a:avLst/>
          </a:prstGeom>
          <a:solidFill>
            <a:srgbClr val="FFFCF6"/>
          </a:solidFill>
          <a:ln w="8890">
            <a:solidFill>
              <a:srgbClr val="DBD3C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7AEDF1D3-E0D4-43E1-831D-C52E31FAD835}"/>
              </a:ext>
            </a:extLst>
          </p:cNvPr>
          <p:cNvSpPr>
            <a:spLocks noGrp="1"/>
          </p:cNvSpPr>
          <p:nvPr/>
        </p:nvSpPr>
        <p:spPr>
          <a:xfrm>
            <a:off x="6393180" y="3770376"/>
            <a:ext cx="1737360" cy="228600"/>
          </a:xfrm>
          <a:prstGeom prst="rect">
            <a:avLst/>
          </a:prstGeom>
          <a:noFill/>
        </p:spPr>
        <p:txBody>
          <a:bodyPr wrap="square">
            <a:normAutofit fontScale="92500" lnSpcReduction="20000"/>
          </a:bodyPr>
          <a:lstStyle/>
          <a:p>
            <a:pPr algn="l">
              <a:buNone/>
            </a:pPr>
            <a:r>
              <a:rPr sz="1100" b="1">
                <a:solidFill>
                  <a:srgbClr val="CE8227"/>
                </a:solidFill>
                <a:latin typeface="Aptos"/>
                <a:ea typeface="Aptos"/>
                <a:cs typeface="Aptos"/>
              </a:rPr>
              <a:t>Dataset read</a:t>
            </a:r>
          </a:p>
        </p:txBody>
      </p:sp>
      <p:sp>
        <p:nvSpPr>
          <p:cNvPr id="24" name="TextBox 23">
            <a:extLst>
              <a:ext uri="{FF2B5EF4-FFF2-40B4-BE49-F238E27FC236}">
                <a16:creationId xmlns:a16="http://schemas.microsoft.com/office/drawing/2014/main" id="{D47C4771-F2CB-4413-9ED6-F7D90A490C7D}"/>
              </a:ext>
            </a:extLst>
          </p:cNvPr>
          <p:cNvSpPr>
            <a:spLocks noGrp="1"/>
          </p:cNvSpPr>
          <p:nvPr/>
        </p:nvSpPr>
        <p:spPr>
          <a:xfrm>
            <a:off x="6393180" y="4136136"/>
            <a:ext cx="3749039" cy="502920"/>
          </a:xfrm>
          <a:prstGeom prst="rect">
            <a:avLst/>
          </a:prstGeom>
          <a:noFill/>
        </p:spPr>
        <p:txBody>
          <a:bodyPr wrap="square">
            <a:normAutofit fontScale="84615" lnSpcReduction="20000"/>
          </a:bodyPr>
          <a:lstStyle/>
          <a:p>
            <a:pPr algn="l">
              <a:buNone/>
            </a:pPr>
            <a:r>
              <a:rPr sz="1300" b="1">
                <a:solidFill>
                  <a:srgbClr val="11202A"/>
                </a:solidFill>
                <a:latin typeface="Aptos"/>
                <a:ea typeface="Aptos"/>
                <a:cs typeface="Aptos"/>
              </a:rPr>
              <a:t>The order-item window runs from Sep 4, 2016 to Sep 3, 2018. The management review focuses on Oct 2016-Sep 2018 and treats boundary months as partial artifacts.</a:t>
            </a:r>
          </a:p>
        </p:txBody>
      </p:sp>
      <p:sp>
        <p:nvSpPr>
          <p:cNvPr id="25" name="TextBox 24">
            <a:extLst>
              <a:ext uri="{FF2B5EF4-FFF2-40B4-BE49-F238E27FC236}">
                <a16:creationId xmlns:a16="http://schemas.microsoft.com/office/drawing/2014/main" id="{C2F047AB-F406-451D-AE14-15DBEB93FEED}"/>
              </a:ext>
            </a:extLst>
          </p:cNvPr>
          <p:cNvSpPr>
            <a:spLocks noGrp="1"/>
          </p:cNvSpPr>
          <p:nvPr/>
        </p:nvSpPr>
        <p:spPr>
          <a:xfrm>
            <a:off x="868680" y="5260848"/>
            <a:ext cx="1554480" cy="320040"/>
          </a:xfrm>
          <a:prstGeom prst="rect">
            <a:avLst/>
          </a:prstGeom>
          <a:noFill/>
        </p:spPr>
        <p:txBody>
          <a:bodyPr wrap="square">
            <a:normAutofit fontScale="77500" lnSpcReduction="20000"/>
          </a:bodyPr>
          <a:lstStyle/>
          <a:p>
            <a:pPr algn="l">
              <a:buNone/>
            </a:pPr>
            <a:r>
              <a:rPr sz="2200" b="1">
                <a:solidFill>
                  <a:srgbClr val="CE8227"/>
                </a:solidFill>
                <a:latin typeface="Aptos"/>
                <a:ea typeface="Aptos"/>
                <a:cs typeface="Aptos"/>
              </a:rPr>
              <a:t>13.59M</a:t>
            </a:r>
          </a:p>
        </p:txBody>
      </p:sp>
      <p:sp>
        <p:nvSpPr>
          <p:cNvPr id="26" name="TextBox 25">
            <a:extLst>
              <a:ext uri="{FF2B5EF4-FFF2-40B4-BE49-F238E27FC236}">
                <a16:creationId xmlns:a16="http://schemas.microsoft.com/office/drawing/2014/main" id="{41B3934F-24A0-42DF-9BF6-3ADF6B71ED41}"/>
              </a:ext>
            </a:extLst>
          </p:cNvPr>
          <p:cNvSpPr>
            <a:spLocks noGrp="1"/>
          </p:cNvSpPr>
          <p:nvPr/>
        </p:nvSpPr>
        <p:spPr>
          <a:xfrm>
            <a:off x="868680" y="5608320"/>
            <a:ext cx="1737360" cy="228600"/>
          </a:xfrm>
          <a:prstGeom prst="rect">
            <a:avLst/>
          </a:prstGeom>
          <a:noFill/>
        </p:spPr>
        <p:txBody>
          <a:bodyPr wrap="square">
            <a:noAutofit/>
          </a:bodyPr>
          <a:lstStyle/>
          <a:p>
            <a:pPr algn="l">
              <a:buNone/>
            </a:pPr>
            <a:r>
              <a:rPr sz="1000" b="1" dirty="0">
                <a:solidFill>
                  <a:srgbClr val="CE8227"/>
                </a:solidFill>
                <a:latin typeface="Aptos"/>
                <a:ea typeface="Aptos"/>
                <a:cs typeface="Aptos"/>
              </a:rPr>
              <a:t>Product GMV</a:t>
            </a:r>
          </a:p>
        </p:txBody>
      </p:sp>
      <p:sp>
        <p:nvSpPr>
          <p:cNvPr id="27" name="TextBox 26">
            <a:extLst>
              <a:ext uri="{FF2B5EF4-FFF2-40B4-BE49-F238E27FC236}">
                <a16:creationId xmlns:a16="http://schemas.microsoft.com/office/drawing/2014/main" id="{B24A280C-7867-439E-BF35-F91C89B79741}"/>
              </a:ext>
            </a:extLst>
          </p:cNvPr>
          <p:cNvSpPr>
            <a:spLocks noGrp="1"/>
          </p:cNvSpPr>
          <p:nvPr/>
        </p:nvSpPr>
        <p:spPr>
          <a:xfrm>
            <a:off x="868680" y="5782056"/>
            <a:ext cx="1874519" cy="320040"/>
          </a:xfrm>
          <a:prstGeom prst="rect">
            <a:avLst/>
          </a:prstGeom>
          <a:noFill/>
        </p:spPr>
        <p:txBody>
          <a:bodyPr wrap="square">
            <a:normAutofit/>
          </a:bodyPr>
          <a:lstStyle/>
          <a:p>
            <a:pPr algn="l">
              <a:buNone/>
            </a:pPr>
            <a:r>
              <a:rPr sz="1000" b="0" dirty="0">
                <a:solidFill>
                  <a:srgbClr val="56636C"/>
                </a:solidFill>
                <a:latin typeface="Aptos"/>
                <a:ea typeface="Aptos"/>
                <a:cs typeface="Aptos"/>
              </a:rPr>
              <a:t>product sales signal</a:t>
            </a:r>
          </a:p>
        </p:txBody>
      </p:sp>
      <p:sp>
        <p:nvSpPr>
          <p:cNvPr id="28" name="TextBox 27">
            <a:extLst>
              <a:ext uri="{FF2B5EF4-FFF2-40B4-BE49-F238E27FC236}">
                <a16:creationId xmlns:a16="http://schemas.microsoft.com/office/drawing/2014/main" id="{FE11A140-3539-492E-8BF7-26A169F84313}"/>
              </a:ext>
            </a:extLst>
          </p:cNvPr>
          <p:cNvSpPr>
            <a:spLocks noGrp="1"/>
          </p:cNvSpPr>
          <p:nvPr/>
        </p:nvSpPr>
        <p:spPr>
          <a:xfrm>
            <a:off x="2880360" y="5260848"/>
            <a:ext cx="1554480" cy="320040"/>
          </a:xfrm>
          <a:prstGeom prst="rect">
            <a:avLst/>
          </a:prstGeom>
          <a:noFill/>
        </p:spPr>
        <p:txBody>
          <a:bodyPr wrap="square">
            <a:normAutofit fontScale="77500" lnSpcReduction="20000"/>
          </a:bodyPr>
          <a:lstStyle/>
          <a:p>
            <a:pPr algn="l">
              <a:buNone/>
            </a:pPr>
            <a:r>
              <a:rPr sz="2200" b="1">
                <a:solidFill>
                  <a:srgbClr val="CE8227"/>
                </a:solidFill>
                <a:latin typeface="Aptos"/>
                <a:ea typeface="Aptos"/>
                <a:cs typeface="Aptos"/>
              </a:rPr>
              <a:t>98.7K</a:t>
            </a:r>
          </a:p>
        </p:txBody>
      </p:sp>
      <p:sp>
        <p:nvSpPr>
          <p:cNvPr id="29" name="TextBox 28">
            <a:extLst>
              <a:ext uri="{FF2B5EF4-FFF2-40B4-BE49-F238E27FC236}">
                <a16:creationId xmlns:a16="http://schemas.microsoft.com/office/drawing/2014/main" id="{CE2D44A3-8A3D-4E14-B8CA-5D41253FC994}"/>
              </a:ext>
            </a:extLst>
          </p:cNvPr>
          <p:cNvSpPr>
            <a:spLocks noGrp="1"/>
          </p:cNvSpPr>
          <p:nvPr/>
        </p:nvSpPr>
        <p:spPr>
          <a:xfrm>
            <a:off x="2880360" y="5608320"/>
            <a:ext cx="1737360" cy="228600"/>
          </a:xfrm>
          <a:prstGeom prst="rect">
            <a:avLst/>
          </a:prstGeom>
          <a:noFill/>
        </p:spPr>
        <p:txBody>
          <a:bodyPr wrap="square">
            <a:noAutofit/>
          </a:bodyPr>
          <a:lstStyle/>
          <a:p>
            <a:pPr algn="l">
              <a:buNone/>
            </a:pPr>
            <a:r>
              <a:rPr sz="1000" b="1">
                <a:solidFill>
                  <a:srgbClr val="CE8227"/>
                </a:solidFill>
                <a:latin typeface="Aptos"/>
                <a:ea typeface="Aptos"/>
                <a:cs typeface="Aptos"/>
              </a:rPr>
              <a:t>orders</a:t>
            </a:r>
          </a:p>
        </p:txBody>
      </p:sp>
      <p:sp>
        <p:nvSpPr>
          <p:cNvPr id="30" name="TextBox 29">
            <a:extLst>
              <a:ext uri="{FF2B5EF4-FFF2-40B4-BE49-F238E27FC236}">
                <a16:creationId xmlns:a16="http://schemas.microsoft.com/office/drawing/2014/main" id="{3A8FA9E1-913A-42E1-895D-D3D9ED042D1D}"/>
              </a:ext>
            </a:extLst>
          </p:cNvPr>
          <p:cNvSpPr>
            <a:spLocks noGrp="1"/>
          </p:cNvSpPr>
          <p:nvPr/>
        </p:nvSpPr>
        <p:spPr>
          <a:xfrm>
            <a:off x="2880360" y="5782056"/>
            <a:ext cx="1874519" cy="320040"/>
          </a:xfrm>
          <a:prstGeom prst="rect">
            <a:avLst/>
          </a:prstGeom>
          <a:noFill/>
        </p:spPr>
        <p:txBody>
          <a:bodyPr wrap="square">
            <a:normAutofit/>
          </a:bodyPr>
          <a:lstStyle/>
          <a:p>
            <a:pPr algn="l">
              <a:buNone/>
            </a:pPr>
            <a:r>
              <a:rPr sz="1000" b="0">
                <a:solidFill>
                  <a:srgbClr val="56636C"/>
                </a:solidFill>
                <a:latin typeface="Aptos"/>
                <a:ea typeface="Aptos"/>
                <a:cs typeface="Aptos"/>
              </a:rPr>
              <a:t>transaction base</a:t>
            </a:r>
          </a:p>
        </p:txBody>
      </p:sp>
      <p:sp>
        <p:nvSpPr>
          <p:cNvPr id="31" name="TextBox 30">
            <a:extLst>
              <a:ext uri="{FF2B5EF4-FFF2-40B4-BE49-F238E27FC236}">
                <a16:creationId xmlns:a16="http://schemas.microsoft.com/office/drawing/2014/main" id="{F25CE12C-2F33-4803-AA95-A3757159CEDB}"/>
              </a:ext>
            </a:extLst>
          </p:cNvPr>
          <p:cNvSpPr>
            <a:spLocks noGrp="1"/>
          </p:cNvSpPr>
          <p:nvPr/>
        </p:nvSpPr>
        <p:spPr>
          <a:xfrm>
            <a:off x="4892040" y="5260848"/>
            <a:ext cx="1554480" cy="320040"/>
          </a:xfrm>
          <a:prstGeom prst="rect">
            <a:avLst/>
          </a:prstGeom>
          <a:noFill/>
        </p:spPr>
        <p:txBody>
          <a:bodyPr wrap="square">
            <a:normAutofit fontScale="77500" lnSpcReduction="20000"/>
          </a:bodyPr>
          <a:lstStyle/>
          <a:p>
            <a:pPr algn="l">
              <a:buNone/>
            </a:pPr>
            <a:r>
              <a:rPr sz="2200" b="1">
                <a:solidFill>
                  <a:srgbClr val="CE8227"/>
                </a:solidFill>
                <a:latin typeface="Aptos"/>
                <a:ea typeface="Aptos"/>
                <a:cs typeface="Aptos"/>
              </a:rPr>
              <a:t>3,095</a:t>
            </a:r>
          </a:p>
        </p:txBody>
      </p:sp>
      <p:sp>
        <p:nvSpPr>
          <p:cNvPr id="32" name="TextBox 31">
            <a:extLst>
              <a:ext uri="{FF2B5EF4-FFF2-40B4-BE49-F238E27FC236}">
                <a16:creationId xmlns:a16="http://schemas.microsoft.com/office/drawing/2014/main" id="{171E6442-C9D1-483E-904E-8C51504B9E68}"/>
              </a:ext>
            </a:extLst>
          </p:cNvPr>
          <p:cNvSpPr>
            <a:spLocks noGrp="1"/>
          </p:cNvSpPr>
          <p:nvPr/>
        </p:nvSpPr>
        <p:spPr>
          <a:xfrm>
            <a:off x="4892040" y="5608320"/>
            <a:ext cx="1737360" cy="228600"/>
          </a:xfrm>
          <a:prstGeom prst="rect">
            <a:avLst/>
          </a:prstGeom>
          <a:noFill/>
        </p:spPr>
        <p:txBody>
          <a:bodyPr wrap="square">
            <a:noAutofit/>
          </a:bodyPr>
          <a:lstStyle/>
          <a:p>
            <a:pPr algn="l">
              <a:buNone/>
            </a:pPr>
            <a:r>
              <a:rPr sz="1000" b="1">
                <a:solidFill>
                  <a:srgbClr val="CE8227"/>
                </a:solidFill>
                <a:latin typeface="Aptos"/>
                <a:ea typeface="Aptos"/>
                <a:cs typeface="Aptos"/>
              </a:rPr>
              <a:t>sellers</a:t>
            </a:r>
          </a:p>
        </p:txBody>
      </p:sp>
      <p:sp>
        <p:nvSpPr>
          <p:cNvPr id="33" name="TextBox 32">
            <a:extLst>
              <a:ext uri="{FF2B5EF4-FFF2-40B4-BE49-F238E27FC236}">
                <a16:creationId xmlns:a16="http://schemas.microsoft.com/office/drawing/2014/main" id="{DAF82877-DD0C-405B-B87F-9D5AB4F7314E}"/>
              </a:ext>
            </a:extLst>
          </p:cNvPr>
          <p:cNvSpPr>
            <a:spLocks noGrp="1"/>
          </p:cNvSpPr>
          <p:nvPr/>
        </p:nvSpPr>
        <p:spPr>
          <a:xfrm>
            <a:off x="4892040" y="5782056"/>
            <a:ext cx="1874519" cy="320040"/>
          </a:xfrm>
          <a:prstGeom prst="rect">
            <a:avLst/>
          </a:prstGeom>
          <a:noFill/>
        </p:spPr>
        <p:txBody>
          <a:bodyPr wrap="square">
            <a:normAutofit/>
          </a:bodyPr>
          <a:lstStyle/>
          <a:p>
            <a:pPr algn="l">
              <a:buNone/>
            </a:pPr>
            <a:r>
              <a:rPr sz="1000" b="0">
                <a:solidFill>
                  <a:srgbClr val="56636C"/>
                </a:solidFill>
                <a:latin typeface="Aptos"/>
                <a:ea typeface="Aptos"/>
                <a:cs typeface="Aptos"/>
              </a:rPr>
              <a:t>merchant supply base</a:t>
            </a:r>
          </a:p>
        </p:txBody>
      </p:sp>
      <p:sp>
        <p:nvSpPr>
          <p:cNvPr id="34" name="TextBox 33">
            <a:extLst>
              <a:ext uri="{FF2B5EF4-FFF2-40B4-BE49-F238E27FC236}">
                <a16:creationId xmlns:a16="http://schemas.microsoft.com/office/drawing/2014/main" id="{549F4AE3-3792-41C8-A5C0-6EDA9C471B03}"/>
              </a:ext>
            </a:extLst>
          </p:cNvPr>
          <p:cNvSpPr>
            <a:spLocks noGrp="1"/>
          </p:cNvSpPr>
          <p:nvPr/>
        </p:nvSpPr>
        <p:spPr>
          <a:xfrm>
            <a:off x="7315200" y="5315712"/>
            <a:ext cx="2971800" cy="384048"/>
          </a:xfrm>
          <a:prstGeom prst="rect">
            <a:avLst/>
          </a:prstGeom>
          <a:noFill/>
        </p:spPr>
        <p:txBody>
          <a:bodyPr wrap="square">
            <a:noAutofit/>
          </a:bodyPr>
          <a:lstStyle/>
          <a:p>
            <a:pPr algn="l">
              <a:buNone/>
            </a:pPr>
            <a:r>
              <a:rPr sz="1000" b="1" dirty="0">
                <a:solidFill>
                  <a:srgbClr val="11202A"/>
                </a:solidFill>
                <a:latin typeface="Aptos"/>
                <a:ea typeface="Aptos"/>
                <a:cs typeface="Aptos"/>
              </a:rPr>
              <a:t>Therefore the growth lever is seller success: more active sellers, higher seller productivity, better fulfillment, and stronger retention.</a:t>
            </a:r>
          </a:p>
        </p:txBody>
      </p:sp>
      <p:sp>
        <p:nvSpPr>
          <p:cNvPr id="35" name="TextBox 34">
            <a:extLst>
              <a:ext uri="{FF2B5EF4-FFF2-40B4-BE49-F238E27FC236}">
                <a16:creationId xmlns:a16="http://schemas.microsoft.com/office/drawing/2014/main" id="{CFD40457-1381-4B35-9B87-C8BC37877180}"/>
              </a:ext>
            </a:extLst>
          </p:cNvPr>
          <p:cNvSpPr>
            <a:spLocks noGrp="1"/>
          </p:cNvSpPr>
          <p:nvPr/>
        </p:nvSpPr>
        <p:spPr>
          <a:xfrm>
            <a:off x="566928" y="6519672"/>
            <a:ext cx="5029200" cy="164592"/>
          </a:xfrm>
          <a:prstGeom prst="rect">
            <a:avLst/>
          </a:prstGeom>
          <a:noFill/>
        </p:spPr>
        <p:txBody>
          <a:bodyPr wrap="square">
            <a:normAutofit/>
          </a:bodyPr>
          <a:lstStyle/>
          <a:p>
            <a:pPr algn="l">
              <a:buNone/>
            </a:pPr>
            <a:r>
              <a:rPr sz="650" b="0">
                <a:solidFill>
                  <a:srgbClr val="96968C"/>
                </a:solidFill>
                <a:latin typeface="Aptos"/>
                <a:ea typeface="Aptos"/>
                <a:cs typeface="Aptos"/>
              </a:rPr>
              <a:t>Source: Olist Brazilian E-Commerce dataset; DuckDB/dbt warehouse marts</a:t>
            </a:r>
          </a:p>
        </p:txBody>
      </p:sp>
      <p:sp>
        <p:nvSpPr>
          <p:cNvPr id="36" name="TextBox 35">
            <a:extLst>
              <a:ext uri="{FF2B5EF4-FFF2-40B4-BE49-F238E27FC236}">
                <a16:creationId xmlns:a16="http://schemas.microsoft.com/office/drawing/2014/main" id="{0B673A54-DC77-410A-BF60-EA6A12B1DFFA}"/>
              </a:ext>
            </a:extLst>
          </p:cNvPr>
          <p:cNvSpPr>
            <a:spLocks noGrp="1"/>
          </p:cNvSpPr>
          <p:nvPr/>
        </p:nvSpPr>
        <p:spPr>
          <a:xfrm>
            <a:off x="11292840" y="6519672"/>
            <a:ext cx="320040" cy="164592"/>
          </a:xfrm>
          <a:prstGeom prst="rect">
            <a:avLst/>
          </a:prstGeom>
          <a:noFill/>
        </p:spPr>
        <p:txBody>
          <a:bodyPr wrap="square">
            <a:normAutofit/>
          </a:bodyPr>
          <a:lstStyle/>
          <a:p>
            <a:pPr algn="r">
              <a:buNone/>
            </a:pPr>
            <a:r>
              <a:rPr sz="650">
                <a:solidFill>
                  <a:srgbClr val="96968C"/>
                </a:solidFill>
                <a:latin typeface="Aptos"/>
                <a:ea typeface="Aptos"/>
                <a:cs typeface="Aptos"/>
              </a:rPr>
              <a:t>03</a:t>
            </a:r>
          </a:p>
        </p:txBody>
      </p:sp>
    </p:spTree>
    <p:extLst>
      <p:ext uri="{BB962C8B-B14F-4D97-AF65-F5344CB8AC3E}">
        <p14:creationId xmlns:p14="http://schemas.microsoft.com/office/powerpoint/2010/main" val="967638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81D8CA-E691-4D5D-862A-8B3C3AA81B90}"/>
              </a:ext>
            </a:extLst>
          </p:cNvPr>
          <p:cNvSpPr>
            <a:spLocks noGrp="1"/>
          </p:cNvSpPr>
          <p:nvPr/>
        </p:nvSpPr>
        <p:spPr>
          <a:xfrm>
            <a:off x="566928" y="256032"/>
            <a:ext cx="2560320" cy="201168"/>
          </a:xfrm>
          <a:prstGeom prst="rect">
            <a:avLst/>
          </a:prstGeom>
          <a:noFill/>
        </p:spPr>
        <p:txBody>
          <a:bodyPr wrap="square">
            <a:normAutofit/>
          </a:bodyPr>
          <a:lstStyle/>
          <a:p>
            <a:pPr algn="l">
              <a:buNone/>
            </a:pPr>
            <a:r>
              <a:rPr sz="750" b="1">
                <a:solidFill>
                  <a:srgbClr val="CE8227"/>
                </a:solidFill>
                <a:latin typeface="Aptos"/>
                <a:ea typeface="Aptos"/>
                <a:cs typeface="Aptos"/>
              </a:rPr>
              <a:t>MODERNIZED PIPELINE</a:t>
            </a:r>
          </a:p>
        </p:txBody>
      </p:sp>
      <p:sp>
        <p:nvSpPr>
          <p:cNvPr id="3" name="TextBox 2">
            <a:extLst>
              <a:ext uri="{FF2B5EF4-FFF2-40B4-BE49-F238E27FC236}">
                <a16:creationId xmlns:a16="http://schemas.microsoft.com/office/drawing/2014/main" id="{06CF9D8A-9C17-4624-9DC7-1ABE6BD59F19}"/>
              </a:ext>
            </a:extLst>
          </p:cNvPr>
          <p:cNvSpPr>
            <a:spLocks noGrp="1"/>
          </p:cNvSpPr>
          <p:nvPr/>
        </p:nvSpPr>
        <p:spPr>
          <a:xfrm>
            <a:off x="566928" y="530352"/>
            <a:ext cx="7955279" cy="822960"/>
          </a:xfrm>
          <a:prstGeom prst="rect">
            <a:avLst/>
          </a:prstGeom>
          <a:noFill/>
        </p:spPr>
        <p:txBody>
          <a:bodyPr wrap="square">
            <a:normAutofit/>
          </a:bodyPr>
          <a:lstStyle/>
          <a:p>
            <a:pPr algn="l">
              <a:buNone/>
            </a:pPr>
            <a:r>
              <a:rPr sz="2400" b="1">
                <a:solidFill>
                  <a:srgbClr val="11202A"/>
                </a:solidFill>
                <a:latin typeface="Aptos"/>
                <a:ea typeface="Aptos"/>
                <a:cs typeface="Aptos"/>
              </a:rPr>
              <a:t>Raw files now flow through dbt, quality checks, orchestration, and dashboarding.</a:t>
            </a:r>
          </a:p>
        </p:txBody>
      </p:sp>
      <p:sp>
        <p:nvSpPr>
          <p:cNvPr id="4" name="Rectangle 3">
            <a:extLst>
              <a:ext uri="{FF2B5EF4-FFF2-40B4-BE49-F238E27FC236}">
                <a16:creationId xmlns:a16="http://schemas.microsoft.com/office/drawing/2014/main" id="{60B646DA-D869-48A7-B49D-C61D060C855C}"/>
              </a:ext>
            </a:extLst>
          </p:cNvPr>
          <p:cNvSpPr>
            <a:spLocks noGrp="1"/>
          </p:cNvSpPr>
          <p:nvPr/>
        </p:nvSpPr>
        <p:spPr>
          <a:xfrm>
            <a:off x="594360" y="2103120"/>
            <a:ext cx="1325880" cy="1005840"/>
          </a:xfrm>
          <a:prstGeom prst="rect">
            <a:avLst/>
          </a:prstGeom>
          <a:solidFill>
            <a:srgbClr val="E8F3F6"/>
          </a:solidFill>
          <a:ln w="8890">
            <a:solidFill>
              <a:srgbClr val="9EB9C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AFBE476-EFFD-4E3D-A12F-F3F9E65ABB99}"/>
              </a:ext>
            </a:extLst>
          </p:cNvPr>
          <p:cNvSpPr>
            <a:spLocks noGrp="1"/>
          </p:cNvSpPr>
          <p:nvPr/>
        </p:nvSpPr>
        <p:spPr>
          <a:xfrm>
            <a:off x="731520" y="2331720"/>
            <a:ext cx="1051560" cy="228600"/>
          </a:xfrm>
          <a:prstGeom prst="rect">
            <a:avLst/>
          </a:prstGeom>
          <a:noFill/>
        </p:spPr>
        <p:txBody>
          <a:bodyPr wrap="square">
            <a:noAutofit/>
          </a:bodyPr>
          <a:lstStyle/>
          <a:p>
            <a:pPr algn="l">
              <a:buNone/>
            </a:pPr>
            <a:r>
              <a:rPr sz="1100" b="1" dirty="0">
                <a:solidFill>
                  <a:srgbClr val="1C6F82"/>
                </a:solidFill>
                <a:latin typeface="Aptos"/>
                <a:ea typeface="Aptos"/>
                <a:cs typeface="Aptos"/>
              </a:rPr>
              <a:t>Raw CSVs</a:t>
            </a:r>
          </a:p>
        </p:txBody>
      </p:sp>
      <p:sp>
        <p:nvSpPr>
          <p:cNvPr id="6" name="TextBox 5">
            <a:extLst>
              <a:ext uri="{FF2B5EF4-FFF2-40B4-BE49-F238E27FC236}">
                <a16:creationId xmlns:a16="http://schemas.microsoft.com/office/drawing/2014/main" id="{9333B198-27D3-4228-B4BF-5A3B5830E024}"/>
              </a:ext>
            </a:extLst>
          </p:cNvPr>
          <p:cNvSpPr>
            <a:spLocks noGrp="1"/>
          </p:cNvSpPr>
          <p:nvPr/>
        </p:nvSpPr>
        <p:spPr>
          <a:xfrm>
            <a:off x="731520" y="2651760"/>
            <a:ext cx="1024128" cy="320040"/>
          </a:xfrm>
          <a:prstGeom prst="rect">
            <a:avLst/>
          </a:prstGeom>
          <a:noFill/>
        </p:spPr>
        <p:txBody>
          <a:bodyPr wrap="square">
            <a:noAutofit/>
          </a:bodyPr>
          <a:lstStyle/>
          <a:p>
            <a:pPr algn="l">
              <a:buNone/>
            </a:pPr>
            <a:r>
              <a:rPr sz="900" b="0" dirty="0">
                <a:solidFill>
                  <a:srgbClr val="56636C"/>
                </a:solidFill>
                <a:latin typeface="Aptos"/>
                <a:ea typeface="Aptos"/>
                <a:cs typeface="Aptos"/>
              </a:rPr>
              <a:t>9 </a:t>
            </a:r>
            <a:r>
              <a:rPr sz="900" b="0" dirty="0" err="1">
                <a:solidFill>
                  <a:srgbClr val="56636C"/>
                </a:solidFill>
                <a:latin typeface="Aptos"/>
                <a:ea typeface="Aptos"/>
                <a:cs typeface="Aptos"/>
              </a:rPr>
              <a:t>Olist</a:t>
            </a:r>
            <a:r>
              <a:rPr sz="900" b="0" dirty="0">
                <a:solidFill>
                  <a:srgbClr val="56636C"/>
                </a:solidFill>
                <a:latin typeface="Aptos"/>
                <a:ea typeface="Aptos"/>
                <a:cs typeface="Aptos"/>
              </a:rPr>
              <a:t> source files</a:t>
            </a:r>
          </a:p>
        </p:txBody>
      </p:sp>
      <p:sp>
        <p:nvSpPr>
          <p:cNvPr id="7" name="Connector 6">
            <a:extLst>
              <a:ext uri="{FF2B5EF4-FFF2-40B4-BE49-F238E27FC236}">
                <a16:creationId xmlns:a16="http://schemas.microsoft.com/office/drawing/2014/main" id="{BCCB3A8F-ABFF-438F-9519-93FFE0703071}"/>
              </a:ext>
            </a:extLst>
          </p:cNvPr>
          <p:cNvSpPr>
            <a:spLocks noGrp="1"/>
          </p:cNvSpPr>
          <p:nvPr/>
        </p:nvSpPr>
        <p:spPr>
          <a:xfrm>
            <a:off x="1920240" y="2606040"/>
            <a:ext cx="521208" cy="0"/>
          </a:xfrm>
          <a:prstGeom prst="line">
            <a:avLst/>
          </a:prstGeom>
          <a:ln w="19050">
            <a:solidFill>
              <a:srgbClr val="1C6F82"/>
            </a:solidFill>
          </a:ln>
        </p:spPr>
        <p:style>
          <a:lnRef idx="2">
            <a:schemeClr val="accent1"/>
          </a:lnRef>
          <a:fillRef idx="0">
            <a:schemeClr val="accent1"/>
          </a:fillRef>
          <a:effectRef idx="1">
            <a:schemeClr val="accent1"/>
          </a:effectRef>
          <a:fontRef idx="minor">
            <a:schemeClr val="tx1"/>
          </a:fontRef>
        </p:style>
        <p:txBody>
          <a:bodyPr/>
          <a:lstStyle/>
          <a:p>
            <a:endParaRPr lang="en-SG"/>
          </a:p>
        </p:txBody>
      </p:sp>
      <p:sp>
        <p:nvSpPr>
          <p:cNvPr id="8" name="Rectangle 7">
            <a:extLst>
              <a:ext uri="{FF2B5EF4-FFF2-40B4-BE49-F238E27FC236}">
                <a16:creationId xmlns:a16="http://schemas.microsoft.com/office/drawing/2014/main" id="{B629D2E6-92D3-4205-AE05-CC9320CCDDB3}"/>
              </a:ext>
            </a:extLst>
          </p:cNvPr>
          <p:cNvSpPr>
            <a:spLocks noGrp="1"/>
          </p:cNvSpPr>
          <p:nvPr/>
        </p:nvSpPr>
        <p:spPr>
          <a:xfrm>
            <a:off x="2441448" y="2103120"/>
            <a:ext cx="1325880" cy="1005840"/>
          </a:xfrm>
          <a:prstGeom prst="rect">
            <a:avLst/>
          </a:prstGeom>
          <a:solidFill>
            <a:srgbClr val="FFFCF6"/>
          </a:solidFill>
          <a:ln w="8890">
            <a:solidFill>
              <a:srgbClr val="9EB9C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C68DBED-AC90-404B-9469-DA9F5F03275F}"/>
              </a:ext>
            </a:extLst>
          </p:cNvPr>
          <p:cNvSpPr>
            <a:spLocks noGrp="1"/>
          </p:cNvSpPr>
          <p:nvPr/>
        </p:nvSpPr>
        <p:spPr>
          <a:xfrm>
            <a:off x="2578608" y="2331720"/>
            <a:ext cx="1051560" cy="228600"/>
          </a:xfrm>
          <a:prstGeom prst="rect">
            <a:avLst/>
          </a:prstGeom>
          <a:noFill/>
        </p:spPr>
        <p:txBody>
          <a:bodyPr wrap="square">
            <a:noAutofit/>
          </a:bodyPr>
          <a:lstStyle/>
          <a:p>
            <a:pPr algn="l">
              <a:buNone/>
            </a:pPr>
            <a:r>
              <a:rPr sz="1100" b="1">
                <a:solidFill>
                  <a:srgbClr val="1C6F82"/>
                </a:solidFill>
                <a:latin typeface="Aptos"/>
                <a:ea typeface="Aptos"/>
                <a:cs typeface="Aptos"/>
              </a:rPr>
              <a:t>DuckDB raw</a:t>
            </a:r>
          </a:p>
        </p:txBody>
      </p:sp>
      <p:sp>
        <p:nvSpPr>
          <p:cNvPr id="10" name="TextBox 9">
            <a:extLst>
              <a:ext uri="{FF2B5EF4-FFF2-40B4-BE49-F238E27FC236}">
                <a16:creationId xmlns:a16="http://schemas.microsoft.com/office/drawing/2014/main" id="{6B16E1EE-708B-4C19-B45A-91441450F343}"/>
              </a:ext>
            </a:extLst>
          </p:cNvPr>
          <p:cNvSpPr>
            <a:spLocks noGrp="1"/>
          </p:cNvSpPr>
          <p:nvPr/>
        </p:nvSpPr>
        <p:spPr>
          <a:xfrm>
            <a:off x="2578608" y="2651760"/>
            <a:ext cx="1024128" cy="320040"/>
          </a:xfrm>
          <a:prstGeom prst="rect">
            <a:avLst/>
          </a:prstGeom>
          <a:noFill/>
        </p:spPr>
        <p:txBody>
          <a:bodyPr wrap="square">
            <a:noAutofit/>
          </a:bodyPr>
          <a:lstStyle/>
          <a:p>
            <a:pPr algn="l">
              <a:buNone/>
            </a:pPr>
            <a:r>
              <a:rPr sz="900" b="0">
                <a:solidFill>
                  <a:srgbClr val="56636C"/>
                </a:solidFill>
                <a:latin typeface="Aptos"/>
                <a:ea typeface="Aptos"/>
                <a:cs typeface="Aptos"/>
              </a:rPr>
              <a:t>source-preserving load</a:t>
            </a:r>
          </a:p>
        </p:txBody>
      </p:sp>
      <p:sp>
        <p:nvSpPr>
          <p:cNvPr id="11" name="Connector 10">
            <a:extLst>
              <a:ext uri="{FF2B5EF4-FFF2-40B4-BE49-F238E27FC236}">
                <a16:creationId xmlns:a16="http://schemas.microsoft.com/office/drawing/2014/main" id="{C86F042D-7C2C-4DC0-99AD-DBB9358FB5DA}"/>
              </a:ext>
            </a:extLst>
          </p:cNvPr>
          <p:cNvSpPr>
            <a:spLocks noGrp="1"/>
          </p:cNvSpPr>
          <p:nvPr/>
        </p:nvSpPr>
        <p:spPr>
          <a:xfrm>
            <a:off x="3767328" y="2606040"/>
            <a:ext cx="521208" cy="0"/>
          </a:xfrm>
          <a:prstGeom prst="line">
            <a:avLst/>
          </a:prstGeom>
          <a:ln w="19050">
            <a:solidFill>
              <a:srgbClr val="1C6F82"/>
            </a:solidFill>
          </a:ln>
        </p:spPr>
        <p:style>
          <a:lnRef idx="2">
            <a:schemeClr val="accent1"/>
          </a:lnRef>
          <a:fillRef idx="0">
            <a:schemeClr val="accent1"/>
          </a:fillRef>
          <a:effectRef idx="1">
            <a:schemeClr val="accent1"/>
          </a:effectRef>
          <a:fontRef idx="minor">
            <a:schemeClr val="tx1"/>
          </a:fontRef>
        </p:style>
        <p:txBody>
          <a:bodyPr/>
          <a:lstStyle/>
          <a:p>
            <a:endParaRPr lang="en-SG"/>
          </a:p>
        </p:txBody>
      </p:sp>
      <p:sp>
        <p:nvSpPr>
          <p:cNvPr id="12" name="Rectangle 11">
            <a:extLst>
              <a:ext uri="{FF2B5EF4-FFF2-40B4-BE49-F238E27FC236}">
                <a16:creationId xmlns:a16="http://schemas.microsoft.com/office/drawing/2014/main" id="{54087957-73F1-4115-8211-5825AD78521E}"/>
              </a:ext>
            </a:extLst>
          </p:cNvPr>
          <p:cNvSpPr>
            <a:spLocks noGrp="1"/>
          </p:cNvSpPr>
          <p:nvPr/>
        </p:nvSpPr>
        <p:spPr>
          <a:xfrm>
            <a:off x="4288536" y="2103120"/>
            <a:ext cx="1325880" cy="1005840"/>
          </a:xfrm>
          <a:prstGeom prst="rect">
            <a:avLst/>
          </a:prstGeom>
          <a:solidFill>
            <a:srgbClr val="E8F3F6"/>
          </a:solidFill>
          <a:ln w="8890">
            <a:solidFill>
              <a:srgbClr val="9EB9C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041E46A-6B3D-4AA1-AD31-9CBE8D31CEFA}"/>
              </a:ext>
            </a:extLst>
          </p:cNvPr>
          <p:cNvSpPr>
            <a:spLocks noGrp="1"/>
          </p:cNvSpPr>
          <p:nvPr/>
        </p:nvSpPr>
        <p:spPr>
          <a:xfrm>
            <a:off x="4425696" y="2331720"/>
            <a:ext cx="1051560" cy="228600"/>
          </a:xfrm>
          <a:prstGeom prst="rect">
            <a:avLst/>
          </a:prstGeom>
          <a:noFill/>
        </p:spPr>
        <p:txBody>
          <a:bodyPr wrap="square">
            <a:noAutofit/>
          </a:bodyPr>
          <a:lstStyle/>
          <a:p>
            <a:pPr algn="l">
              <a:buNone/>
            </a:pPr>
            <a:r>
              <a:rPr sz="1100" b="1">
                <a:solidFill>
                  <a:srgbClr val="1C6F82"/>
                </a:solidFill>
                <a:latin typeface="Aptos"/>
                <a:ea typeface="Aptos"/>
                <a:cs typeface="Aptos"/>
              </a:rPr>
              <a:t>dbt build</a:t>
            </a:r>
          </a:p>
        </p:txBody>
      </p:sp>
      <p:sp>
        <p:nvSpPr>
          <p:cNvPr id="14" name="TextBox 13">
            <a:extLst>
              <a:ext uri="{FF2B5EF4-FFF2-40B4-BE49-F238E27FC236}">
                <a16:creationId xmlns:a16="http://schemas.microsoft.com/office/drawing/2014/main" id="{8BA7F478-EA04-4D34-BD3A-CEB966D0712A}"/>
              </a:ext>
            </a:extLst>
          </p:cNvPr>
          <p:cNvSpPr>
            <a:spLocks noGrp="1"/>
          </p:cNvSpPr>
          <p:nvPr/>
        </p:nvSpPr>
        <p:spPr>
          <a:xfrm>
            <a:off x="4425696" y="2651760"/>
            <a:ext cx="1024128" cy="320040"/>
          </a:xfrm>
          <a:prstGeom prst="rect">
            <a:avLst/>
          </a:prstGeom>
          <a:noFill/>
        </p:spPr>
        <p:txBody>
          <a:bodyPr wrap="square">
            <a:noAutofit/>
          </a:bodyPr>
          <a:lstStyle/>
          <a:p>
            <a:pPr algn="l">
              <a:buNone/>
            </a:pPr>
            <a:r>
              <a:rPr sz="900" b="0">
                <a:solidFill>
                  <a:srgbClr val="56636C"/>
                </a:solidFill>
                <a:latin typeface="Aptos"/>
                <a:ea typeface="Aptos"/>
                <a:cs typeface="Aptos"/>
              </a:rPr>
              <a:t>warehouse + marts</a:t>
            </a:r>
          </a:p>
        </p:txBody>
      </p:sp>
      <p:sp>
        <p:nvSpPr>
          <p:cNvPr id="15" name="Connector 14">
            <a:extLst>
              <a:ext uri="{FF2B5EF4-FFF2-40B4-BE49-F238E27FC236}">
                <a16:creationId xmlns:a16="http://schemas.microsoft.com/office/drawing/2014/main" id="{0C10DB98-7C46-4137-AF59-ECA255AC4CF4}"/>
              </a:ext>
            </a:extLst>
          </p:cNvPr>
          <p:cNvSpPr>
            <a:spLocks noGrp="1"/>
          </p:cNvSpPr>
          <p:nvPr/>
        </p:nvSpPr>
        <p:spPr>
          <a:xfrm>
            <a:off x="5614416" y="2606040"/>
            <a:ext cx="521208" cy="0"/>
          </a:xfrm>
          <a:prstGeom prst="line">
            <a:avLst/>
          </a:prstGeom>
          <a:ln w="19050">
            <a:solidFill>
              <a:srgbClr val="1C6F82"/>
            </a:solidFill>
          </a:ln>
        </p:spPr>
        <p:style>
          <a:lnRef idx="2">
            <a:schemeClr val="accent1"/>
          </a:lnRef>
          <a:fillRef idx="0">
            <a:schemeClr val="accent1"/>
          </a:fillRef>
          <a:effectRef idx="1">
            <a:schemeClr val="accent1"/>
          </a:effectRef>
          <a:fontRef idx="minor">
            <a:schemeClr val="tx1"/>
          </a:fontRef>
        </p:style>
        <p:txBody>
          <a:bodyPr/>
          <a:lstStyle/>
          <a:p>
            <a:endParaRPr lang="en-SG"/>
          </a:p>
        </p:txBody>
      </p:sp>
      <p:sp>
        <p:nvSpPr>
          <p:cNvPr id="16" name="Rectangle 15">
            <a:extLst>
              <a:ext uri="{FF2B5EF4-FFF2-40B4-BE49-F238E27FC236}">
                <a16:creationId xmlns:a16="http://schemas.microsoft.com/office/drawing/2014/main" id="{AE632133-792A-4E88-9B90-799AA6C2FE46}"/>
              </a:ext>
            </a:extLst>
          </p:cNvPr>
          <p:cNvSpPr>
            <a:spLocks noGrp="1"/>
          </p:cNvSpPr>
          <p:nvPr/>
        </p:nvSpPr>
        <p:spPr>
          <a:xfrm>
            <a:off x="6135624" y="2103120"/>
            <a:ext cx="1325880" cy="1005840"/>
          </a:xfrm>
          <a:prstGeom prst="rect">
            <a:avLst/>
          </a:prstGeom>
          <a:solidFill>
            <a:srgbClr val="FFFCF6"/>
          </a:solidFill>
          <a:ln w="8890">
            <a:solidFill>
              <a:srgbClr val="9EB9C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4D3258A-B677-47A8-A5DE-5DBD770250B8}"/>
              </a:ext>
            </a:extLst>
          </p:cNvPr>
          <p:cNvSpPr>
            <a:spLocks noGrp="1"/>
          </p:cNvSpPr>
          <p:nvPr/>
        </p:nvSpPr>
        <p:spPr>
          <a:xfrm>
            <a:off x="6272784" y="2331720"/>
            <a:ext cx="1051560" cy="228600"/>
          </a:xfrm>
          <a:prstGeom prst="rect">
            <a:avLst/>
          </a:prstGeom>
          <a:noFill/>
        </p:spPr>
        <p:txBody>
          <a:bodyPr wrap="square">
            <a:noAutofit/>
          </a:bodyPr>
          <a:lstStyle/>
          <a:p>
            <a:pPr algn="l">
              <a:buNone/>
            </a:pPr>
            <a:r>
              <a:rPr sz="1100" b="1">
                <a:solidFill>
                  <a:srgbClr val="1C6F82"/>
                </a:solidFill>
                <a:latin typeface="Aptos"/>
                <a:ea typeface="Aptos"/>
                <a:cs typeface="Aptos"/>
              </a:rPr>
              <a:t>Quality gates</a:t>
            </a:r>
          </a:p>
        </p:txBody>
      </p:sp>
      <p:sp>
        <p:nvSpPr>
          <p:cNvPr id="18" name="TextBox 17">
            <a:extLst>
              <a:ext uri="{FF2B5EF4-FFF2-40B4-BE49-F238E27FC236}">
                <a16:creationId xmlns:a16="http://schemas.microsoft.com/office/drawing/2014/main" id="{CE3DD5D0-2DCA-4271-884B-5E9AAC432088}"/>
              </a:ext>
            </a:extLst>
          </p:cNvPr>
          <p:cNvSpPr>
            <a:spLocks noGrp="1"/>
          </p:cNvSpPr>
          <p:nvPr/>
        </p:nvSpPr>
        <p:spPr>
          <a:xfrm>
            <a:off x="6272784" y="2651760"/>
            <a:ext cx="1024128" cy="320040"/>
          </a:xfrm>
          <a:prstGeom prst="rect">
            <a:avLst/>
          </a:prstGeom>
          <a:noFill/>
        </p:spPr>
        <p:txBody>
          <a:bodyPr wrap="square">
            <a:normAutofit/>
          </a:bodyPr>
          <a:lstStyle/>
          <a:p>
            <a:pPr algn="l">
              <a:buNone/>
            </a:pPr>
            <a:r>
              <a:rPr sz="900" b="0">
                <a:solidFill>
                  <a:srgbClr val="56636C"/>
                </a:solidFill>
                <a:latin typeface="Aptos"/>
                <a:ea typeface="Aptos"/>
                <a:cs typeface="Aptos"/>
              </a:rPr>
              <a:t>38 dbt + 15 SQL</a:t>
            </a:r>
          </a:p>
        </p:txBody>
      </p:sp>
      <p:sp>
        <p:nvSpPr>
          <p:cNvPr id="19" name="Connector 18">
            <a:extLst>
              <a:ext uri="{FF2B5EF4-FFF2-40B4-BE49-F238E27FC236}">
                <a16:creationId xmlns:a16="http://schemas.microsoft.com/office/drawing/2014/main" id="{C063906F-F2B3-455A-95AF-B338ECFDCCDD}"/>
              </a:ext>
            </a:extLst>
          </p:cNvPr>
          <p:cNvSpPr>
            <a:spLocks noGrp="1"/>
          </p:cNvSpPr>
          <p:nvPr/>
        </p:nvSpPr>
        <p:spPr>
          <a:xfrm>
            <a:off x="7461504" y="2606040"/>
            <a:ext cx="521208" cy="0"/>
          </a:xfrm>
          <a:prstGeom prst="line">
            <a:avLst/>
          </a:prstGeom>
          <a:ln w="19050">
            <a:solidFill>
              <a:srgbClr val="1C6F82"/>
            </a:solidFill>
          </a:ln>
        </p:spPr>
        <p:style>
          <a:lnRef idx="2">
            <a:schemeClr val="accent1"/>
          </a:lnRef>
          <a:fillRef idx="0">
            <a:schemeClr val="accent1"/>
          </a:fillRef>
          <a:effectRef idx="1">
            <a:schemeClr val="accent1"/>
          </a:effectRef>
          <a:fontRef idx="minor">
            <a:schemeClr val="tx1"/>
          </a:fontRef>
        </p:style>
        <p:txBody>
          <a:bodyPr/>
          <a:lstStyle/>
          <a:p>
            <a:endParaRPr lang="en-SG"/>
          </a:p>
        </p:txBody>
      </p:sp>
      <p:sp>
        <p:nvSpPr>
          <p:cNvPr id="20" name="Rectangle 19">
            <a:extLst>
              <a:ext uri="{FF2B5EF4-FFF2-40B4-BE49-F238E27FC236}">
                <a16:creationId xmlns:a16="http://schemas.microsoft.com/office/drawing/2014/main" id="{1803A9B6-9D14-470E-8902-BAA626FD5DD3}"/>
              </a:ext>
            </a:extLst>
          </p:cNvPr>
          <p:cNvSpPr>
            <a:spLocks noGrp="1"/>
          </p:cNvSpPr>
          <p:nvPr/>
        </p:nvSpPr>
        <p:spPr>
          <a:xfrm>
            <a:off x="7982712" y="2103120"/>
            <a:ext cx="1325880" cy="1005840"/>
          </a:xfrm>
          <a:prstGeom prst="rect">
            <a:avLst/>
          </a:prstGeom>
          <a:solidFill>
            <a:srgbClr val="E8F3F6"/>
          </a:solidFill>
          <a:ln w="8890">
            <a:solidFill>
              <a:srgbClr val="9EB9C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A3EC224-1C74-467F-938A-3CBD0F5747AF}"/>
              </a:ext>
            </a:extLst>
          </p:cNvPr>
          <p:cNvSpPr>
            <a:spLocks noGrp="1"/>
          </p:cNvSpPr>
          <p:nvPr/>
        </p:nvSpPr>
        <p:spPr>
          <a:xfrm>
            <a:off x="8119872" y="2331720"/>
            <a:ext cx="1051560" cy="228600"/>
          </a:xfrm>
          <a:prstGeom prst="rect">
            <a:avLst/>
          </a:prstGeom>
          <a:noFill/>
        </p:spPr>
        <p:txBody>
          <a:bodyPr wrap="square">
            <a:noAutofit/>
          </a:bodyPr>
          <a:lstStyle/>
          <a:p>
            <a:pPr algn="l">
              <a:buNone/>
            </a:pPr>
            <a:r>
              <a:rPr sz="1100" b="1">
                <a:solidFill>
                  <a:srgbClr val="1C6F82"/>
                </a:solidFill>
                <a:latin typeface="Aptos"/>
                <a:ea typeface="Aptos"/>
                <a:cs typeface="Aptos"/>
              </a:rPr>
              <a:t>Streamlit</a:t>
            </a:r>
          </a:p>
        </p:txBody>
      </p:sp>
      <p:sp>
        <p:nvSpPr>
          <p:cNvPr id="22" name="TextBox 21">
            <a:extLst>
              <a:ext uri="{FF2B5EF4-FFF2-40B4-BE49-F238E27FC236}">
                <a16:creationId xmlns:a16="http://schemas.microsoft.com/office/drawing/2014/main" id="{01A05A6F-B1BD-4DE4-B06F-24891CE9F0D6}"/>
              </a:ext>
            </a:extLst>
          </p:cNvPr>
          <p:cNvSpPr>
            <a:spLocks noGrp="1"/>
          </p:cNvSpPr>
          <p:nvPr/>
        </p:nvSpPr>
        <p:spPr>
          <a:xfrm>
            <a:off x="8119872" y="2651760"/>
            <a:ext cx="1024128" cy="320040"/>
          </a:xfrm>
          <a:prstGeom prst="rect">
            <a:avLst/>
          </a:prstGeom>
          <a:noFill/>
        </p:spPr>
        <p:txBody>
          <a:bodyPr wrap="square">
            <a:noAutofit/>
          </a:bodyPr>
          <a:lstStyle/>
          <a:p>
            <a:pPr algn="l">
              <a:buNone/>
            </a:pPr>
            <a:r>
              <a:rPr sz="900" b="0">
                <a:solidFill>
                  <a:srgbClr val="56636C"/>
                </a:solidFill>
                <a:latin typeface="Aptos"/>
                <a:ea typeface="Aptos"/>
                <a:cs typeface="Aptos"/>
              </a:rPr>
              <a:t>decision dashboard</a:t>
            </a:r>
          </a:p>
        </p:txBody>
      </p:sp>
      <p:sp>
        <p:nvSpPr>
          <p:cNvPr id="23" name="Connector 22">
            <a:extLst>
              <a:ext uri="{FF2B5EF4-FFF2-40B4-BE49-F238E27FC236}">
                <a16:creationId xmlns:a16="http://schemas.microsoft.com/office/drawing/2014/main" id="{983469F9-18D9-4DBE-8F93-E3E149AEBD8C}"/>
              </a:ext>
            </a:extLst>
          </p:cNvPr>
          <p:cNvSpPr>
            <a:spLocks noGrp="1"/>
          </p:cNvSpPr>
          <p:nvPr/>
        </p:nvSpPr>
        <p:spPr>
          <a:xfrm>
            <a:off x="9308592" y="2606040"/>
            <a:ext cx="521208" cy="0"/>
          </a:xfrm>
          <a:prstGeom prst="line">
            <a:avLst/>
          </a:prstGeom>
          <a:ln w="19050">
            <a:solidFill>
              <a:srgbClr val="1C6F82"/>
            </a:solidFill>
          </a:ln>
        </p:spPr>
        <p:style>
          <a:lnRef idx="2">
            <a:schemeClr val="accent1"/>
          </a:lnRef>
          <a:fillRef idx="0">
            <a:schemeClr val="accent1"/>
          </a:fillRef>
          <a:effectRef idx="1">
            <a:schemeClr val="accent1"/>
          </a:effectRef>
          <a:fontRef idx="minor">
            <a:schemeClr val="tx1"/>
          </a:fontRef>
        </p:style>
        <p:txBody>
          <a:bodyPr/>
          <a:lstStyle/>
          <a:p>
            <a:endParaRPr lang="en-SG"/>
          </a:p>
        </p:txBody>
      </p:sp>
      <p:sp>
        <p:nvSpPr>
          <p:cNvPr id="24" name="Rectangle 23">
            <a:extLst>
              <a:ext uri="{FF2B5EF4-FFF2-40B4-BE49-F238E27FC236}">
                <a16:creationId xmlns:a16="http://schemas.microsoft.com/office/drawing/2014/main" id="{CCB8F4FD-4491-4154-862C-94B602A875AD}"/>
              </a:ext>
            </a:extLst>
          </p:cNvPr>
          <p:cNvSpPr>
            <a:spLocks noGrp="1"/>
          </p:cNvSpPr>
          <p:nvPr/>
        </p:nvSpPr>
        <p:spPr>
          <a:xfrm>
            <a:off x="9829800" y="2103120"/>
            <a:ext cx="1325880" cy="1005840"/>
          </a:xfrm>
          <a:prstGeom prst="rect">
            <a:avLst/>
          </a:prstGeom>
          <a:solidFill>
            <a:srgbClr val="FFFCF6"/>
          </a:solidFill>
          <a:ln w="8890">
            <a:solidFill>
              <a:srgbClr val="9EB9C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AA0FF6EF-109E-4C98-BC26-EE8DADD8AD93}"/>
              </a:ext>
            </a:extLst>
          </p:cNvPr>
          <p:cNvSpPr>
            <a:spLocks noGrp="1"/>
          </p:cNvSpPr>
          <p:nvPr/>
        </p:nvSpPr>
        <p:spPr>
          <a:xfrm>
            <a:off x="9966960" y="2331720"/>
            <a:ext cx="1051560" cy="228600"/>
          </a:xfrm>
          <a:prstGeom prst="rect">
            <a:avLst/>
          </a:prstGeom>
          <a:noFill/>
        </p:spPr>
        <p:txBody>
          <a:bodyPr wrap="square">
            <a:noAutofit/>
          </a:bodyPr>
          <a:lstStyle/>
          <a:p>
            <a:pPr algn="l">
              <a:buNone/>
            </a:pPr>
            <a:r>
              <a:rPr sz="1100" b="1">
                <a:solidFill>
                  <a:srgbClr val="1C6F82"/>
                </a:solidFill>
                <a:latin typeface="Aptos"/>
                <a:ea typeface="Aptos"/>
                <a:cs typeface="Aptos"/>
              </a:rPr>
              <a:t>Dagster</a:t>
            </a:r>
          </a:p>
        </p:txBody>
      </p:sp>
      <p:sp>
        <p:nvSpPr>
          <p:cNvPr id="26" name="TextBox 25">
            <a:extLst>
              <a:ext uri="{FF2B5EF4-FFF2-40B4-BE49-F238E27FC236}">
                <a16:creationId xmlns:a16="http://schemas.microsoft.com/office/drawing/2014/main" id="{7B4B7890-36D4-4DB9-A6C8-EA5130EA7451}"/>
              </a:ext>
            </a:extLst>
          </p:cNvPr>
          <p:cNvSpPr>
            <a:spLocks noGrp="1"/>
          </p:cNvSpPr>
          <p:nvPr/>
        </p:nvSpPr>
        <p:spPr>
          <a:xfrm>
            <a:off x="9966960" y="2651760"/>
            <a:ext cx="1024128" cy="320040"/>
          </a:xfrm>
          <a:prstGeom prst="rect">
            <a:avLst/>
          </a:prstGeom>
          <a:noFill/>
        </p:spPr>
        <p:txBody>
          <a:bodyPr wrap="square">
            <a:noAutofit/>
          </a:bodyPr>
          <a:lstStyle/>
          <a:p>
            <a:pPr algn="l">
              <a:buNone/>
            </a:pPr>
            <a:r>
              <a:rPr sz="900" b="0">
                <a:solidFill>
                  <a:srgbClr val="56636C"/>
                </a:solidFill>
                <a:latin typeface="Aptos"/>
                <a:ea typeface="Aptos"/>
                <a:cs typeface="Aptos"/>
              </a:rPr>
              <a:t>asset automation</a:t>
            </a:r>
          </a:p>
        </p:txBody>
      </p:sp>
      <p:sp>
        <p:nvSpPr>
          <p:cNvPr id="27" name="TextBox 26">
            <a:extLst>
              <a:ext uri="{FF2B5EF4-FFF2-40B4-BE49-F238E27FC236}">
                <a16:creationId xmlns:a16="http://schemas.microsoft.com/office/drawing/2014/main" id="{80D4DC5D-7589-43D0-87D1-110069E4435E}"/>
              </a:ext>
            </a:extLst>
          </p:cNvPr>
          <p:cNvSpPr>
            <a:spLocks noGrp="1"/>
          </p:cNvSpPr>
          <p:nvPr/>
        </p:nvSpPr>
        <p:spPr>
          <a:xfrm>
            <a:off x="731520" y="4572000"/>
            <a:ext cx="1371600" cy="228600"/>
          </a:xfrm>
          <a:prstGeom prst="rect">
            <a:avLst/>
          </a:prstGeom>
          <a:noFill/>
        </p:spPr>
        <p:txBody>
          <a:bodyPr wrap="square">
            <a:normAutofit/>
          </a:bodyPr>
          <a:lstStyle/>
          <a:p>
            <a:pPr algn="l">
              <a:buNone/>
            </a:pPr>
            <a:r>
              <a:rPr sz="800" b="1">
                <a:solidFill>
                  <a:srgbClr val="CE8227"/>
                </a:solidFill>
                <a:latin typeface="Aptos"/>
                <a:ea typeface="Aptos"/>
                <a:cs typeface="Aptos"/>
              </a:rPr>
              <a:t>Technical confidence</a:t>
            </a:r>
          </a:p>
        </p:txBody>
      </p:sp>
      <p:sp>
        <p:nvSpPr>
          <p:cNvPr id="28" name="TextBox 27">
            <a:extLst>
              <a:ext uri="{FF2B5EF4-FFF2-40B4-BE49-F238E27FC236}">
                <a16:creationId xmlns:a16="http://schemas.microsoft.com/office/drawing/2014/main" id="{DC1717F8-CB21-41FD-A8BA-067794D01B0E}"/>
              </a:ext>
            </a:extLst>
          </p:cNvPr>
          <p:cNvSpPr>
            <a:spLocks noGrp="1"/>
          </p:cNvSpPr>
          <p:nvPr/>
        </p:nvSpPr>
        <p:spPr>
          <a:xfrm>
            <a:off x="1965960" y="4517136"/>
            <a:ext cx="7589520" cy="502920"/>
          </a:xfrm>
          <a:prstGeom prst="rect">
            <a:avLst/>
          </a:prstGeom>
          <a:noFill/>
        </p:spPr>
        <p:txBody>
          <a:bodyPr wrap="square">
            <a:normAutofit/>
          </a:bodyPr>
          <a:lstStyle/>
          <a:p>
            <a:pPr algn="l">
              <a:buNone/>
            </a:pPr>
            <a:r>
              <a:rPr sz="1500" b="1">
                <a:solidFill>
                  <a:srgbClr val="11202A"/>
                </a:solidFill>
                <a:latin typeface="Aptos"/>
                <a:ea typeface="Aptos"/>
                <a:cs typeface="Aptos"/>
              </a:rPr>
              <a:t>Future CSV additions can be loaded, rebuilt, checked, and reflected in the dashboard through the same path.</a:t>
            </a:r>
          </a:p>
        </p:txBody>
      </p:sp>
      <p:sp>
        <p:nvSpPr>
          <p:cNvPr id="29" name="TextBox 28">
            <a:extLst>
              <a:ext uri="{FF2B5EF4-FFF2-40B4-BE49-F238E27FC236}">
                <a16:creationId xmlns:a16="http://schemas.microsoft.com/office/drawing/2014/main" id="{7E901E79-D925-4BC6-BD6D-C36FEEA65AF6}"/>
              </a:ext>
            </a:extLst>
          </p:cNvPr>
          <p:cNvSpPr>
            <a:spLocks noGrp="1"/>
          </p:cNvSpPr>
          <p:nvPr/>
        </p:nvSpPr>
        <p:spPr>
          <a:xfrm>
            <a:off x="566928" y="6519672"/>
            <a:ext cx="5029200" cy="164592"/>
          </a:xfrm>
          <a:prstGeom prst="rect">
            <a:avLst/>
          </a:prstGeom>
          <a:noFill/>
        </p:spPr>
        <p:txBody>
          <a:bodyPr wrap="square">
            <a:normAutofit/>
          </a:bodyPr>
          <a:lstStyle/>
          <a:p>
            <a:pPr algn="l">
              <a:buNone/>
            </a:pPr>
            <a:r>
              <a:rPr sz="650" b="0">
                <a:solidFill>
                  <a:srgbClr val="96968C"/>
                </a:solidFill>
                <a:latin typeface="Aptos"/>
                <a:ea typeface="Aptos"/>
                <a:cs typeface="Aptos"/>
              </a:rPr>
              <a:t>Source: Olist Brazilian E-Commerce dataset; DuckDB/dbt warehouse marts</a:t>
            </a:r>
          </a:p>
        </p:txBody>
      </p:sp>
      <p:sp>
        <p:nvSpPr>
          <p:cNvPr id="30" name="TextBox 29">
            <a:extLst>
              <a:ext uri="{FF2B5EF4-FFF2-40B4-BE49-F238E27FC236}">
                <a16:creationId xmlns:a16="http://schemas.microsoft.com/office/drawing/2014/main" id="{F7F5DCBA-1FEA-48A3-AF23-26E16DC4E43C}"/>
              </a:ext>
            </a:extLst>
          </p:cNvPr>
          <p:cNvSpPr>
            <a:spLocks noGrp="1"/>
          </p:cNvSpPr>
          <p:nvPr/>
        </p:nvSpPr>
        <p:spPr>
          <a:xfrm>
            <a:off x="11292840" y="6519672"/>
            <a:ext cx="320040" cy="164592"/>
          </a:xfrm>
          <a:prstGeom prst="rect">
            <a:avLst/>
          </a:prstGeom>
          <a:noFill/>
        </p:spPr>
        <p:txBody>
          <a:bodyPr wrap="square">
            <a:normAutofit/>
          </a:bodyPr>
          <a:lstStyle/>
          <a:p>
            <a:pPr algn="r">
              <a:buNone/>
            </a:pPr>
            <a:r>
              <a:rPr sz="650">
                <a:solidFill>
                  <a:srgbClr val="96968C"/>
                </a:solidFill>
                <a:latin typeface="Aptos"/>
                <a:ea typeface="Aptos"/>
                <a:cs typeface="Aptos"/>
              </a:rPr>
              <a:t>04</a:t>
            </a:r>
          </a:p>
        </p:txBody>
      </p:sp>
    </p:spTree>
    <p:extLst>
      <p:ext uri="{BB962C8B-B14F-4D97-AF65-F5344CB8AC3E}">
        <p14:creationId xmlns:p14="http://schemas.microsoft.com/office/powerpoint/2010/main" val="12352923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A6818D-4737-4549-A2E4-41A943344E59}"/>
              </a:ext>
            </a:extLst>
          </p:cNvPr>
          <p:cNvSpPr>
            <a:spLocks noGrp="1"/>
          </p:cNvSpPr>
          <p:nvPr/>
        </p:nvSpPr>
        <p:spPr>
          <a:xfrm>
            <a:off x="566928" y="256032"/>
            <a:ext cx="2560320" cy="201168"/>
          </a:xfrm>
          <a:prstGeom prst="rect">
            <a:avLst/>
          </a:prstGeom>
          <a:noFill/>
        </p:spPr>
        <p:txBody>
          <a:bodyPr wrap="square">
            <a:normAutofit/>
          </a:bodyPr>
          <a:lstStyle/>
          <a:p>
            <a:pPr algn="l">
              <a:buNone/>
            </a:pPr>
            <a:r>
              <a:rPr sz="750" b="1">
                <a:solidFill>
                  <a:srgbClr val="CE8227"/>
                </a:solidFill>
                <a:latin typeface="Aptos"/>
                <a:ea typeface="Aptos"/>
                <a:cs typeface="Aptos"/>
              </a:rPr>
              <a:t>WAREHOUSE MODEL</a:t>
            </a:r>
          </a:p>
        </p:txBody>
      </p:sp>
      <p:sp>
        <p:nvSpPr>
          <p:cNvPr id="3" name="TextBox 2">
            <a:extLst>
              <a:ext uri="{FF2B5EF4-FFF2-40B4-BE49-F238E27FC236}">
                <a16:creationId xmlns:a16="http://schemas.microsoft.com/office/drawing/2014/main" id="{88C1F0F0-2DD5-47D4-970B-48F700510AA5}"/>
              </a:ext>
            </a:extLst>
          </p:cNvPr>
          <p:cNvSpPr>
            <a:spLocks noGrp="1"/>
          </p:cNvSpPr>
          <p:nvPr/>
        </p:nvSpPr>
        <p:spPr>
          <a:xfrm>
            <a:off x="566928" y="530352"/>
            <a:ext cx="9091422" cy="822960"/>
          </a:xfrm>
          <a:prstGeom prst="rect">
            <a:avLst/>
          </a:prstGeom>
          <a:noFill/>
        </p:spPr>
        <p:txBody>
          <a:bodyPr wrap="square">
            <a:normAutofit/>
          </a:bodyPr>
          <a:lstStyle/>
          <a:p>
            <a:pPr algn="l">
              <a:buNone/>
            </a:pPr>
            <a:r>
              <a:rPr sz="2400" b="1" dirty="0">
                <a:solidFill>
                  <a:srgbClr val="11202A"/>
                </a:solidFill>
                <a:latin typeface="Aptos"/>
                <a:ea typeface="Aptos"/>
                <a:cs typeface="Aptos"/>
              </a:rPr>
              <a:t>The warehouse keeps sales and payments at the right level of detail, then turns them into business-ready dashboard tables.</a:t>
            </a:r>
          </a:p>
        </p:txBody>
      </p:sp>
      <p:sp>
        <p:nvSpPr>
          <p:cNvPr id="4" name="TextBox 3">
            <a:extLst>
              <a:ext uri="{FF2B5EF4-FFF2-40B4-BE49-F238E27FC236}">
                <a16:creationId xmlns:a16="http://schemas.microsoft.com/office/drawing/2014/main" id="{0252E60C-EC2D-42A0-9C70-D14822F9F83B}"/>
              </a:ext>
            </a:extLst>
          </p:cNvPr>
          <p:cNvSpPr>
            <a:spLocks noGrp="1"/>
          </p:cNvSpPr>
          <p:nvPr/>
        </p:nvSpPr>
        <p:spPr>
          <a:xfrm>
            <a:off x="731520" y="1943100"/>
            <a:ext cx="1554480" cy="320040"/>
          </a:xfrm>
          <a:prstGeom prst="rect">
            <a:avLst/>
          </a:prstGeom>
          <a:noFill/>
        </p:spPr>
        <p:txBody>
          <a:bodyPr wrap="square">
            <a:normAutofit fontScale="77500" lnSpcReduction="20000"/>
          </a:bodyPr>
          <a:lstStyle/>
          <a:p>
            <a:pPr algn="l">
              <a:buNone/>
            </a:pPr>
            <a:r>
              <a:rPr sz="2200" b="1">
                <a:solidFill>
                  <a:srgbClr val="1C6F82"/>
                </a:solidFill>
                <a:latin typeface="Aptos"/>
                <a:ea typeface="Aptos"/>
                <a:cs typeface="Aptos"/>
              </a:rPr>
              <a:t>112.7K</a:t>
            </a:r>
          </a:p>
        </p:txBody>
      </p:sp>
      <p:sp>
        <p:nvSpPr>
          <p:cNvPr id="5" name="TextBox 4">
            <a:extLst>
              <a:ext uri="{FF2B5EF4-FFF2-40B4-BE49-F238E27FC236}">
                <a16:creationId xmlns:a16="http://schemas.microsoft.com/office/drawing/2014/main" id="{9303AE31-BAB7-43EE-981A-FDBF944D597B}"/>
              </a:ext>
            </a:extLst>
          </p:cNvPr>
          <p:cNvSpPr>
            <a:spLocks noGrp="1"/>
          </p:cNvSpPr>
          <p:nvPr/>
        </p:nvSpPr>
        <p:spPr>
          <a:xfrm>
            <a:off x="731520" y="2290572"/>
            <a:ext cx="1645920" cy="228600"/>
          </a:xfrm>
          <a:prstGeom prst="rect">
            <a:avLst/>
          </a:prstGeom>
          <a:noFill/>
        </p:spPr>
        <p:txBody>
          <a:bodyPr wrap="square">
            <a:noAutofit/>
          </a:bodyPr>
          <a:lstStyle/>
          <a:p>
            <a:pPr algn="l">
              <a:buNone/>
            </a:pPr>
            <a:r>
              <a:rPr sz="1100" b="1" dirty="0" err="1">
                <a:solidFill>
                  <a:srgbClr val="1C6F82"/>
                </a:solidFill>
                <a:latin typeface="Aptos"/>
                <a:ea typeface="Aptos"/>
                <a:cs typeface="Aptos"/>
              </a:rPr>
              <a:t>fact_sales</a:t>
            </a:r>
            <a:endParaRPr sz="1100" b="1" dirty="0">
              <a:solidFill>
                <a:srgbClr val="1C6F82"/>
              </a:solidFill>
              <a:latin typeface="Aptos"/>
              <a:ea typeface="Aptos"/>
              <a:cs typeface="Aptos"/>
            </a:endParaRPr>
          </a:p>
        </p:txBody>
      </p:sp>
      <p:sp>
        <p:nvSpPr>
          <p:cNvPr id="6" name="TextBox 5">
            <a:extLst>
              <a:ext uri="{FF2B5EF4-FFF2-40B4-BE49-F238E27FC236}">
                <a16:creationId xmlns:a16="http://schemas.microsoft.com/office/drawing/2014/main" id="{60CDA9BD-A7A8-4EAF-9EBA-43E7A4FA1976}"/>
              </a:ext>
            </a:extLst>
          </p:cNvPr>
          <p:cNvSpPr>
            <a:spLocks noGrp="1"/>
          </p:cNvSpPr>
          <p:nvPr/>
        </p:nvSpPr>
        <p:spPr>
          <a:xfrm>
            <a:off x="731520" y="2537460"/>
            <a:ext cx="1828800" cy="662940"/>
          </a:xfrm>
          <a:prstGeom prst="rect">
            <a:avLst/>
          </a:prstGeom>
          <a:noFill/>
        </p:spPr>
        <p:txBody>
          <a:bodyPr wrap="square">
            <a:noAutofit/>
          </a:bodyPr>
          <a:lstStyle/>
          <a:p>
            <a:pPr algn="l">
              <a:buNone/>
            </a:pPr>
            <a:r>
              <a:rPr sz="1000" b="0" dirty="0">
                <a:solidFill>
                  <a:srgbClr val="56636C"/>
                </a:solidFill>
                <a:latin typeface="Aptos"/>
                <a:ea typeface="Aptos"/>
                <a:cs typeface="Aptos"/>
              </a:rPr>
              <a:t>One row per product item sold; used for GMV, seller, category, delivery, and review analysis.</a:t>
            </a:r>
          </a:p>
        </p:txBody>
      </p:sp>
      <p:sp>
        <p:nvSpPr>
          <p:cNvPr id="7" name="TextBox 6">
            <a:extLst>
              <a:ext uri="{FF2B5EF4-FFF2-40B4-BE49-F238E27FC236}">
                <a16:creationId xmlns:a16="http://schemas.microsoft.com/office/drawing/2014/main" id="{DD640FA3-EEEE-494E-9A1C-FBB63BFE012D}"/>
              </a:ext>
            </a:extLst>
          </p:cNvPr>
          <p:cNvSpPr>
            <a:spLocks noGrp="1"/>
          </p:cNvSpPr>
          <p:nvPr/>
        </p:nvSpPr>
        <p:spPr>
          <a:xfrm>
            <a:off x="2743200" y="1943100"/>
            <a:ext cx="1554480" cy="320040"/>
          </a:xfrm>
          <a:prstGeom prst="rect">
            <a:avLst/>
          </a:prstGeom>
          <a:noFill/>
        </p:spPr>
        <p:txBody>
          <a:bodyPr wrap="square">
            <a:normAutofit fontScale="77500" lnSpcReduction="20000"/>
          </a:bodyPr>
          <a:lstStyle/>
          <a:p>
            <a:pPr algn="l">
              <a:buNone/>
            </a:pPr>
            <a:r>
              <a:rPr sz="2200" b="1" dirty="0">
                <a:solidFill>
                  <a:srgbClr val="1C6F82"/>
                </a:solidFill>
                <a:latin typeface="Aptos"/>
                <a:ea typeface="Aptos"/>
                <a:cs typeface="Aptos"/>
              </a:rPr>
              <a:t>98.7K</a:t>
            </a:r>
          </a:p>
        </p:txBody>
      </p:sp>
      <p:sp>
        <p:nvSpPr>
          <p:cNvPr id="8" name="TextBox 7">
            <a:extLst>
              <a:ext uri="{FF2B5EF4-FFF2-40B4-BE49-F238E27FC236}">
                <a16:creationId xmlns:a16="http://schemas.microsoft.com/office/drawing/2014/main" id="{440E0604-9271-45AC-8955-C02787E627E1}"/>
              </a:ext>
            </a:extLst>
          </p:cNvPr>
          <p:cNvSpPr>
            <a:spLocks noGrp="1"/>
          </p:cNvSpPr>
          <p:nvPr/>
        </p:nvSpPr>
        <p:spPr>
          <a:xfrm>
            <a:off x="2743200" y="2290572"/>
            <a:ext cx="1645920" cy="228600"/>
          </a:xfrm>
          <a:prstGeom prst="rect">
            <a:avLst/>
          </a:prstGeom>
          <a:noFill/>
        </p:spPr>
        <p:txBody>
          <a:bodyPr wrap="square">
            <a:noAutofit/>
          </a:bodyPr>
          <a:lstStyle/>
          <a:p>
            <a:pPr algn="l">
              <a:buNone/>
            </a:pPr>
            <a:r>
              <a:rPr sz="1100" b="1">
                <a:solidFill>
                  <a:srgbClr val="1C6F82"/>
                </a:solidFill>
                <a:latin typeface="Aptos"/>
                <a:ea typeface="Aptos"/>
                <a:cs typeface="Aptos"/>
              </a:rPr>
              <a:t>fact_order_payment</a:t>
            </a:r>
          </a:p>
        </p:txBody>
      </p:sp>
      <p:sp>
        <p:nvSpPr>
          <p:cNvPr id="9" name="TextBox 8">
            <a:extLst>
              <a:ext uri="{FF2B5EF4-FFF2-40B4-BE49-F238E27FC236}">
                <a16:creationId xmlns:a16="http://schemas.microsoft.com/office/drawing/2014/main" id="{F74FB003-25BF-4F71-8382-F57F8E9A9371}"/>
              </a:ext>
            </a:extLst>
          </p:cNvPr>
          <p:cNvSpPr>
            <a:spLocks noGrp="1"/>
          </p:cNvSpPr>
          <p:nvPr/>
        </p:nvSpPr>
        <p:spPr>
          <a:xfrm>
            <a:off x="2743200" y="2537460"/>
            <a:ext cx="1828800" cy="662940"/>
          </a:xfrm>
          <a:prstGeom prst="rect">
            <a:avLst/>
          </a:prstGeom>
          <a:noFill/>
        </p:spPr>
        <p:txBody>
          <a:bodyPr wrap="square">
            <a:noAutofit/>
          </a:bodyPr>
          <a:lstStyle/>
          <a:p>
            <a:pPr algn="l">
              <a:buNone/>
            </a:pPr>
            <a:r>
              <a:rPr sz="1000" b="0">
                <a:solidFill>
                  <a:srgbClr val="56636C"/>
                </a:solidFill>
                <a:latin typeface="Aptos"/>
                <a:ea typeface="Aptos"/>
                <a:cs typeface="Aptos"/>
              </a:rPr>
              <a:t>One row per order payment total; kept separate so multi-item orders do not inflate payment value.</a:t>
            </a:r>
          </a:p>
        </p:txBody>
      </p:sp>
      <p:sp>
        <p:nvSpPr>
          <p:cNvPr id="10" name="TextBox 9">
            <a:extLst>
              <a:ext uri="{FF2B5EF4-FFF2-40B4-BE49-F238E27FC236}">
                <a16:creationId xmlns:a16="http://schemas.microsoft.com/office/drawing/2014/main" id="{2DBF0BA8-9505-4B4A-B906-4ADD2C823BB4}"/>
              </a:ext>
            </a:extLst>
          </p:cNvPr>
          <p:cNvSpPr>
            <a:spLocks noGrp="1"/>
          </p:cNvSpPr>
          <p:nvPr/>
        </p:nvSpPr>
        <p:spPr>
          <a:xfrm>
            <a:off x="4754880" y="1943100"/>
            <a:ext cx="1554480" cy="320040"/>
          </a:xfrm>
          <a:prstGeom prst="rect">
            <a:avLst/>
          </a:prstGeom>
          <a:noFill/>
        </p:spPr>
        <p:txBody>
          <a:bodyPr wrap="square">
            <a:normAutofit fontScale="77500" lnSpcReduction="20000"/>
          </a:bodyPr>
          <a:lstStyle/>
          <a:p>
            <a:r>
              <a:rPr sz="2200" b="1" dirty="0">
                <a:solidFill>
                  <a:srgbClr val="1C6F82"/>
                </a:solidFill>
                <a:latin typeface="Aptos"/>
              </a:rPr>
              <a:t>06</a:t>
            </a:r>
          </a:p>
        </p:txBody>
      </p:sp>
      <p:sp>
        <p:nvSpPr>
          <p:cNvPr id="11" name="TextBox 10">
            <a:extLst>
              <a:ext uri="{FF2B5EF4-FFF2-40B4-BE49-F238E27FC236}">
                <a16:creationId xmlns:a16="http://schemas.microsoft.com/office/drawing/2014/main" id="{914EFBB2-0866-4ABE-9D6B-57DAADDBEF88}"/>
              </a:ext>
            </a:extLst>
          </p:cNvPr>
          <p:cNvSpPr>
            <a:spLocks noGrp="1"/>
          </p:cNvSpPr>
          <p:nvPr/>
        </p:nvSpPr>
        <p:spPr>
          <a:xfrm>
            <a:off x="4754880" y="2290572"/>
            <a:ext cx="1645920" cy="228600"/>
          </a:xfrm>
          <a:prstGeom prst="rect">
            <a:avLst/>
          </a:prstGeom>
          <a:noFill/>
        </p:spPr>
        <p:txBody>
          <a:bodyPr wrap="square">
            <a:noAutofit/>
          </a:bodyPr>
          <a:lstStyle/>
          <a:p>
            <a:pPr algn="l">
              <a:buNone/>
            </a:pPr>
            <a:r>
              <a:rPr sz="1100" b="1">
                <a:solidFill>
                  <a:srgbClr val="1C6F82"/>
                </a:solidFill>
                <a:latin typeface="Aptos"/>
                <a:ea typeface="Aptos"/>
                <a:cs typeface="Aptos"/>
              </a:rPr>
              <a:t>decision marts</a:t>
            </a:r>
          </a:p>
        </p:txBody>
      </p:sp>
      <p:sp>
        <p:nvSpPr>
          <p:cNvPr id="12" name="TextBox 11">
            <a:extLst>
              <a:ext uri="{FF2B5EF4-FFF2-40B4-BE49-F238E27FC236}">
                <a16:creationId xmlns:a16="http://schemas.microsoft.com/office/drawing/2014/main" id="{D268E41D-98F1-4ECA-8273-2B132F63C2B9}"/>
              </a:ext>
            </a:extLst>
          </p:cNvPr>
          <p:cNvSpPr>
            <a:spLocks noGrp="1"/>
          </p:cNvSpPr>
          <p:nvPr/>
        </p:nvSpPr>
        <p:spPr>
          <a:xfrm>
            <a:off x="4754880" y="2537460"/>
            <a:ext cx="1828800" cy="662940"/>
          </a:xfrm>
          <a:prstGeom prst="rect">
            <a:avLst/>
          </a:prstGeom>
          <a:noFill/>
        </p:spPr>
        <p:txBody>
          <a:bodyPr wrap="square">
            <a:noAutofit/>
          </a:bodyPr>
          <a:lstStyle/>
          <a:p>
            <a:pPr algn="l">
              <a:buNone/>
            </a:pPr>
            <a:r>
              <a:rPr sz="1000" b="0">
                <a:solidFill>
                  <a:srgbClr val="56636C"/>
                </a:solidFill>
                <a:latin typeface="Aptos"/>
                <a:ea typeface="Aptos"/>
                <a:cs typeface="Aptos"/>
              </a:rPr>
              <a:t>Business-ready tables for growth, seller health, category opportunity, and fulfillment views.</a:t>
            </a:r>
          </a:p>
        </p:txBody>
      </p:sp>
      <p:sp>
        <p:nvSpPr>
          <p:cNvPr id="13" name="TextBox 12">
            <a:extLst>
              <a:ext uri="{FF2B5EF4-FFF2-40B4-BE49-F238E27FC236}">
                <a16:creationId xmlns:a16="http://schemas.microsoft.com/office/drawing/2014/main" id="{68C28657-59D9-4A89-A7D6-3EE4F9C44B29}"/>
              </a:ext>
            </a:extLst>
          </p:cNvPr>
          <p:cNvSpPr>
            <a:spLocks noGrp="1"/>
          </p:cNvSpPr>
          <p:nvPr/>
        </p:nvSpPr>
        <p:spPr>
          <a:xfrm>
            <a:off x="6766560" y="1943100"/>
            <a:ext cx="1554480" cy="320040"/>
          </a:xfrm>
          <a:prstGeom prst="rect">
            <a:avLst/>
          </a:prstGeom>
          <a:noFill/>
        </p:spPr>
        <p:txBody>
          <a:bodyPr wrap="square">
            <a:normAutofit fontScale="77500" lnSpcReduction="20000"/>
          </a:bodyPr>
          <a:lstStyle/>
          <a:p>
            <a:r>
              <a:rPr sz="2200" b="1" dirty="0">
                <a:solidFill>
                  <a:srgbClr val="1C6F82"/>
                </a:solidFill>
                <a:latin typeface="Aptos"/>
              </a:rPr>
              <a:t>0</a:t>
            </a:r>
          </a:p>
        </p:txBody>
      </p:sp>
      <p:sp>
        <p:nvSpPr>
          <p:cNvPr id="14" name="TextBox 13">
            <a:extLst>
              <a:ext uri="{FF2B5EF4-FFF2-40B4-BE49-F238E27FC236}">
                <a16:creationId xmlns:a16="http://schemas.microsoft.com/office/drawing/2014/main" id="{AD16B98D-14DA-4FA9-99F1-57C574308EB4}"/>
              </a:ext>
            </a:extLst>
          </p:cNvPr>
          <p:cNvSpPr>
            <a:spLocks noGrp="1"/>
          </p:cNvSpPr>
          <p:nvPr/>
        </p:nvSpPr>
        <p:spPr>
          <a:xfrm>
            <a:off x="6766560" y="2290572"/>
            <a:ext cx="1645920" cy="228600"/>
          </a:xfrm>
          <a:prstGeom prst="rect">
            <a:avLst/>
          </a:prstGeom>
          <a:noFill/>
        </p:spPr>
        <p:txBody>
          <a:bodyPr wrap="square">
            <a:noAutofit/>
          </a:bodyPr>
          <a:lstStyle/>
          <a:p>
            <a:pPr algn="l">
              <a:buNone/>
            </a:pPr>
            <a:r>
              <a:rPr sz="1100" b="1">
                <a:solidFill>
                  <a:srgbClr val="1C6F82"/>
                </a:solidFill>
                <a:latin typeface="Aptos"/>
                <a:ea typeface="Aptos"/>
                <a:cs typeface="Aptos"/>
              </a:rPr>
              <a:t>broken joins</a:t>
            </a:r>
          </a:p>
        </p:txBody>
      </p:sp>
      <p:sp>
        <p:nvSpPr>
          <p:cNvPr id="15" name="TextBox 14">
            <a:extLst>
              <a:ext uri="{FF2B5EF4-FFF2-40B4-BE49-F238E27FC236}">
                <a16:creationId xmlns:a16="http://schemas.microsoft.com/office/drawing/2014/main" id="{2C49728D-48FB-4ED9-8073-A31CCD4F8F8D}"/>
              </a:ext>
            </a:extLst>
          </p:cNvPr>
          <p:cNvSpPr>
            <a:spLocks noGrp="1"/>
          </p:cNvSpPr>
          <p:nvPr/>
        </p:nvSpPr>
        <p:spPr>
          <a:xfrm>
            <a:off x="6766560" y="2537460"/>
            <a:ext cx="1828800" cy="662940"/>
          </a:xfrm>
          <a:prstGeom prst="rect">
            <a:avLst/>
          </a:prstGeom>
          <a:noFill/>
        </p:spPr>
        <p:txBody>
          <a:bodyPr wrap="square">
            <a:noAutofit/>
          </a:bodyPr>
          <a:lstStyle/>
          <a:p>
            <a:pPr algn="l">
              <a:buNone/>
            </a:pPr>
            <a:r>
              <a:rPr sz="1000" b="0">
                <a:solidFill>
                  <a:srgbClr val="56636C"/>
                </a:solidFill>
                <a:latin typeface="Aptos"/>
                <a:ea typeface="Aptos"/>
                <a:cs typeface="Aptos"/>
              </a:rPr>
              <a:t>Quality checks found no missing customer, product, or seller links in the model.</a:t>
            </a:r>
          </a:p>
        </p:txBody>
      </p:sp>
      <p:sp>
        <p:nvSpPr>
          <p:cNvPr id="16" name="TextBox 15">
            <a:extLst>
              <a:ext uri="{FF2B5EF4-FFF2-40B4-BE49-F238E27FC236}">
                <a16:creationId xmlns:a16="http://schemas.microsoft.com/office/drawing/2014/main" id="{6B09B100-2D20-4451-B404-0A1149CD6461}"/>
              </a:ext>
            </a:extLst>
          </p:cNvPr>
          <p:cNvSpPr>
            <a:spLocks noGrp="1"/>
          </p:cNvSpPr>
          <p:nvPr/>
        </p:nvSpPr>
        <p:spPr>
          <a:xfrm>
            <a:off x="777240" y="3863340"/>
            <a:ext cx="2194560" cy="274320"/>
          </a:xfrm>
          <a:prstGeom prst="rect">
            <a:avLst/>
          </a:prstGeom>
          <a:noFill/>
        </p:spPr>
        <p:txBody>
          <a:bodyPr wrap="square">
            <a:normAutofit/>
          </a:bodyPr>
          <a:lstStyle/>
          <a:p>
            <a:pPr algn="l">
              <a:buNone/>
            </a:pPr>
            <a:r>
              <a:rPr sz="1100" b="1">
                <a:solidFill>
                  <a:srgbClr val="CE8227"/>
                </a:solidFill>
                <a:latin typeface="Aptos"/>
                <a:ea typeface="Aptos"/>
                <a:cs typeface="Aptos"/>
              </a:rPr>
              <a:t>Why this matters</a:t>
            </a:r>
          </a:p>
        </p:txBody>
      </p:sp>
      <p:sp>
        <p:nvSpPr>
          <p:cNvPr id="17" name="TextBox 16">
            <a:extLst>
              <a:ext uri="{FF2B5EF4-FFF2-40B4-BE49-F238E27FC236}">
                <a16:creationId xmlns:a16="http://schemas.microsoft.com/office/drawing/2014/main" id="{8C0E2FA7-0EC6-46DC-BE55-66F1B79FCD5E}"/>
              </a:ext>
            </a:extLst>
          </p:cNvPr>
          <p:cNvSpPr>
            <a:spLocks noGrp="1"/>
          </p:cNvSpPr>
          <p:nvPr/>
        </p:nvSpPr>
        <p:spPr>
          <a:xfrm>
            <a:off x="777240" y="4229100"/>
            <a:ext cx="7589520" cy="731520"/>
          </a:xfrm>
          <a:prstGeom prst="rect">
            <a:avLst/>
          </a:prstGeom>
          <a:noFill/>
        </p:spPr>
        <p:txBody>
          <a:bodyPr wrap="square">
            <a:normAutofit/>
          </a:bodyPr>
          <a:lstStyle/>
          <a:p>
            <a:pPr algn="l">
              <a:buNone/>
            </a:pPr>
            <a:r>
              <a:rPr sz="1600" b="1">
                <a:solidFill>
                  <a:srgbClr val="11202A"/>
                </a:solidFill>
                <a:latin typeface="Aptos"/>
                <a:ea typeface="Aptos"/>
                <a:cs typeface="Aptos"/>
              </a:rPr>
              <a:t>The model prevents misleading numbers: Product GMV is item price only, GTV adds freight, and payments stay at order level.</a:t>
            </a:r>
          </a:p>
        </p:txBody>
      </p:sp>
      <p:sp>
        <p:nvSpPr>
          <p:cNvPr id="18" name="TextBox 17">
            <a:extLst>
              <a:ext uri="{FF2B5EF4-FFF2-40B4-BE49-F238E27FC236}">
                <a16:creationId xmlns:a16="http://schemas.microsoft.com/office/drawing/2014/main" id="{78BF311C-0D85-4998-857D-44A2F05AFEC1}"/>
              </a:ext>
            </a:extLst>
          </p:cNvPr>
          <p:cNvSpPr>
            <a:spLocks noGrp="1"/>
          </p:cNvSpPr>
          <p:nvPr/>
        </p:nvSpPr>
        <p:spPr>
          <a:xfrm>
            <a:off x="566928" y="6519672"/>
            <a:ext cx="5029200" cy="164592"/>
          </a:xfrm>
          <a:prstGeom prst="rect">
            <a:avLst/>
          </a:prstGeom>
          <a:noFill/>
        </p:spPr>
        <p:txBody>
          <a:bodyPr wrap="square">
            <a:normAutofit/>
          </a:bodyPr>
          <a:lstStyle/>
          <a:p>
            <a:pPr algn="l">
              <a:buNone/>
            </a:pPr>
            <a:r>
              <a:rPr sz="650" b="0">
                <a:solidFill>
                  <a:srgbClr val="96968C"/>
                </a:solidFill>
                <a:latin typeface="Aptos"/>
                <a:ea typeface="Aptos"/>
                <a:cs typeface="Aptos"/>
              </a:rPr>
              <a:t>Source: Olist Brazilian E-Commerce dataset; DuckDB/dbt warehouse marts</a:t>
            </a:r>
          </a:p>
        </p:txBody>
      </p:sp>
      <p:sp>
        <p:nvSpPr>
          <p:cNvPr id="19" name="TextBox 18">
            <a:extLst>
              <a:ext uri="{FF2B5EF4-FFF2-40B4-BE49-F238E27FC236}">
                <a16:creationId xmlns:a16="http://schemas.microsoft.com/office/drawing/2014/main" id="{EEC2768C-A7CA-4726-9819-12E36C19D735}"/>
              </a:ext>
            </a:extLst>
          </p:cNvPr>
          <p:cNvSpPr>
            <a:spLocks noGrp="1"/>
          </p:cNvSpPr>
          <p:nvPr/>
        </p:nvSpPr>
        <p:spPr>
          <a:xfrm>
            <a:off x="11292840" y="6519672"/>
            <a:ext cx="320040" cy="164592"/>
          </a:xfrm>
          <a:prstGeom prst="rect">
            <a:avLst/>
          </a:prstGeom>
          <a:noFill/>
        </p:spPr>
        <p:txBody>
          <a:bodyPr wrap="square">
            <a:normAutofit/>
          </a:bodyPr>
          <a:lstStyle/>
          <a:p>
            <a:pPr algn="r">
              <a:buNone/>
            </a:pPr>
            <a:r>
              <a:rPr sz="650">
                <a:solidFill>
                  <a:srgbClr val="96968C"/>
                </a:solidFill>
                <a:latin typeface="Aptos"/>
                <a:ea typeface="Aptos"/>
                <a:cs typeface="Aptos"/>
              </a:rPr>
              <a:t>05</a:t>
            </a:r>
          </a:p>
        </p:txBody>
      </p:sp>
    </p:spTree>
    <p:extLst>
      <p:ext uri="{BB962C8B-B14F-4D97-AF65-F5344CB8AC3E}">
        <p14:creationId xmlns:p14="http://schemas.microsoft.com/office/powerpoint/2010/main" val="7200693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7AEFF99-100C-4CE7-806D-FAAE71892DF9}"/>
              </a:ext>
            </a:extLst>
          </p:cNvPr>
          <p:cNvSpPr>
            <a:spLocks noGrp="1"/>
          </p:cNvSpPr>
          <p:nvPr/>
        </p:nvSpPr>
        <p:spPr>
          <a:xfrm>
            <a:off x="566928" y="256032"/>
            <a:ext cx="2560320" cy="201168"/>
          </a:xfrm>
          <a:prstGeom prst="rect">
            <a:avLst/>
          </a:prstGeom>
          <a:noFill/>
        </p:spPr>
        <p:txBody>
          <a:bodyPr wrap="square">
            <a:normAutofit/>
          </a:bodyPr>
          <a:lstStyle/>
          <a:p>
            <a:pPr algn="l">
              <a:buNone/>
            </a:pPr>
            <a:r>
              <a:rPr sz="750" b="1">
                <a:solidFill>
                  <a:srgbClr val="CE8227"/>
                </a:solidFill>
                <a:latin typeface="Aptos"/>
                <a:ea typeface="Aptos"/>
                <a:cs typeface="Aptos"/>
              </a:rPr>
              <a:t>GROWTH READOUT</a:t>
            </a:r>
          </a:p>
        </p:txBody>
      </p:sp>
      <p:sp>
        <p:nvSpPr>
          <p:cNvPr id="3" name="TextBox 2">
            <a:extLst>
              <a:ext uri="{FF2B5EF4-FFF2-40B4-BE49-F238E27FC236}">
                <a16:creationId xmlns:a16="http://schemas.microsoft.com/office/drawing/2014/main" id="{94C66A79-406A-489D-BA1E-16F49EECB36A}"/>
              </a:ext>
            </a:extLst>
          </p:cNvPr>
          <p:cNvSpPr>
            <a:spLocks noGrp="1"/>
          </p:cNvSpPr>
          <p:nvPr/>
        </p:nvSpPr>
        <p:spPr>
          <a:xfrm>
            <a:off x="566928" y="530352"/>
            <a:ext cx="7955279" cy="822960"/>
          </a:xfrm>
          <a:prstGeom prst="rect">
            <a:avLst/>
          </a:prstGeom>
          <a:noFill/>
        </p:spPr>
        <p:txBody>
          <a:bodyPr wrap="square">
            <a:normAutofit/>
          </a:bodyPr>
          <a:lstStyle/>
          <a:p>
            <a:pPr algn="l">
              <a:buNone/>
            </a:pPr>
            <a:r>
              <a:rPr sz="2400" b="1">
                <a:solidFill>
                  <a:srgbClr val="11202A"/>
                </a:solidFill>
                <a:latin typeface="Aptos"/>
                <a:ea typeface="Aptos"/>
                <a:cs typeface="Aptos"/>
              </a:rPr>
              <a:t>Monthly GMV rose fast, then stayed near a plateau band through much of 2018.</a:t>
            </a:r>
          </a:p>
        </p:txBody>
      </p:sp>
      <p:sp>
        <p:nvSpPr>
          <p:cNvPr id="4" name="Rectangle 3">
            <a:extLst>
              <a:ext uri="{FF2B5EF4-FFF2-40B4-BE49-F238E27FC236}">
                <a16:creationId xmlns:a16="http://schemas.microsoft.com/office/drawing/2014/main" id="{EC75E46E-A7B8-42E3-8E2D-F03C1CF407CC}"/>
              </a:ext>
            </a:extLst>
          </p:cNvPr>
          <p:cNvSpPr>
            <a:spLocks noGrp="1"/>
          </p:cNvSpPr>
          <p:nvPr/>
        </p:nvSpPr>
        <p:spPr>
          <a:xfrm>
            <a:off x="731520" y="1746982"/>
            <a:ext cx="6766560" cy="3840480"/>
          </a:xfrm>
          <a:prstGeom prst="rect">
            <a:avLst/>
          </a:prstGeom>
          <a:solidFill>
            <a:srgbClr val="FFFCF6"/>
          </a:solidFill>
          <a:ln w="8890">
            <a:solidFill>
              <a:srgbClr val="DBD3C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Connector 4">
            <a:extLst>
              <a:ext uri="{FF2B5EF4-FFF2-40B4-BE49-F238E27FC236}">
                <a16:creationId xmlns:a16="http://schemas.microsoft.com/office/drawing/2014/main" id="{709BC503-4639-4998-B1CE-4D4E5D745D19}"/>
              </a:ext>
            </a:extLst>
          </p:cNvPr>
          <p:cNvSpPr>
            <a:spLocks noGrp="1"/>
          </p:cNvSpPr>
          <p:nvPr/>
        </p:nvSpPr>
        <p:spPr>
          <a:xfrm flipV="1">
            <a:off x="1143000" y="4719301"/>
            <a:ext cx="272241" cy="135933"/>
          </a:xfrm>
          <a:prstGeom prst="line">
            <a:avLst/>
          </a:prstGeom>
          <a:ln w="25400">
            <a:solidFill>
              <a:srgbClr val="1C6F82"/>
            </a:solidFill>
          </a:ln>
        </p:spPr>
        <p:style>
          <a:lnRef idx="2">
            <a:schemeClr val="accent1"/>
          </a:lnRef>
          <a:fillRef idx="0">
            <a:schemeClr val="accent1"/>
          </a:fillRef>
          <a:effectRef idx="1">
            <a:schemeClr val="accent1"/>
          </a:effectRef>
          <a:fontRef idx="minor">
            <a:schemeClr val="tx1"/>
          </a:fontRef>
        </p:style>
        <p:txBody>
          <a:bodyPr/>
          <a:lstStyle/>
          <a:p>
            <a:endParaRPr lang="en-SG"/>
          </a:p>
        </p:txBody>
      </p:sp>
      <p:sp>
        <p:nvSpPr>
          <p:cNvPr id="6" name="Connector 5">
            <a:extLst>
              <a:ext uri="{FF2B5EF4-FFF2-40B4-BE49-F238E27FC236}">
                <a16:creationId xmlns:a16="http://schemas.microsoft.com/office/drawing/2014/main" id="{7265BB8D-0CED-446E-B82E-DC97768FFC8E}"/>
              </a:ext>
            </a:extLst>
          </p:cNvPr>
          <p:cNvSpPr>
            <a:spLocks noGrp="1"/>
          </p:cNvSpPr>
          <p:nvPr/>
        </p:nvSpPr>
        <p:spPr>
          <a:xfrm>
            <a:off x="1415241" y="4719301"/>
            <a:ext cx="272242" cy="136641"/>
          </a:xfrm>
          <a:prstGeom prst="line">
            <a:avLst/>
          </a:prstGeom>
          <a:ln w="25400">
            <a:solidFill>
              <a:srgbClr val="1C6F82"/>
            </a:solidFill>
          </a:ln>
        </p:spPr>
        <p:style>
          <a:lnRef idx="2">
            <a:schemeClr val="accent1"/>
          </a:lnRef>
          <a:fillRef idx="0">
            <a:schemeClr val="accent1"/>
          </a:fillRef>
          <a:effectRef idx="1">
            <a:schemeClr val="accent1"/>
          </a:effectRef>
          <a:fontRef idx="minor">
            <a:schemeClr val="tx1"/>
          </a:fontRef>
        </p:style>
        <p:txBody>
          <a:bodyPr/>
          <a:lstStyle/>
          <a:p>
            <a:endParaRPr lang="en-SG"/>
          </a:p>
        </p:txBody>
      </p:sp>
      <p:sp>
        <p:nvSpPr>
          <p:cNvPr id="7" name="Connector 6">
            <a:extLst>
              <a:ext uri="{FF2B5EF4-FFF2-40B4-BE49-F238E27FC236}">
                <a16:creationId xmlns:a16="http://schemas.microsoft.com/office/drawing/2014/main" id="{2810905B-7F76-4D94-83BB-31121A64CE2C}"/>
              </a:ext>
            </a:extLst>
          </p:cNvPr>
          <p:cNvSpPr>
            <a:spLocks noGrp="1"/>
          </p:cNvSpPr>
          <p:nvPr/>
        </p:nvSpPr>
        <p:spPr>
          <a:xfrm flipV="1">
            <a:off x="1687483" y="4523836"/>
            <a:ext cx="272242" cy="332106"/>
          </a:xfrm>
          <a:prstGeom prst="line">
            <a:avLst/>
          </a:prstGeom>
          <a:ln w="25400">
            <a:solidFill>
              <a:srgbClr val="1C6F82"/>
            </a:solidFill>
          </a:ln>
        </p:spPr>
        <p:style>
          <a:lnRef idx="2">
            <a:schemeClr val="accent1"/>
          </a:lnRef>
          <a:fillRef idx="0">
            <a:schemeClr val="accent1"/>
          </a:fillRef>
          <a:effectRef idx="1">
            <a:schemeClr val="accent1"/>
          </a:effectRef>
          <a:fontRef idx="minor">
            <a:schemeClr val="tx1"/>
          </a:fontRef>
        </p:style>
        <p:txBody>
          <a:bodyPr/>
          <a:lstStyle/>
          <a:p>
            <a:endParaRPr lang="en-SG"/>
          </a:p>
        </p:txBody>
      </p:sp>
      <p:sp>
        <p:nvSpPr>
          <p:cNvPr id="8" name="Connector 7">
            <a:extLst>
              <a:ext uri="{FF2B5EF4-FFF2-40B4-BE49-F238E27FC236}">
                <a16:creationId xmlns:a16="http://schemas.microsoft.com/office/drawing/2014/main" id="{360BBAB6-BB1C-496E-BB39-3491C8FF4840}"/>
              </a:ext>
            </a:extLst>
          </p:cNvPr>
          <p:cNvSpPr>
            <a:spLocks noGrp="1"/>
          </p:cNvSpPr>
          <p:nvPr/>
        </p:nvSpPr>
        <p:spPr>
          <a:xfrm flipV="1">
            <a:off x="1959725" y="4173268"/>
            <a:ext cx="272242" cy="350568"/>
          </a:xfrm>
          <a:prstGeom prst="line">
            <a:avLst/>
          </a:prstGeom>
          <a:ln w="25400">
            <a:solidFill>
              <a:srgbClr val="1C6F82"/>
            </a:solidFill>
          </a:ln>
        </p:spPr>
        <p:style>
          <a:lnRef idx="2">
            <a:schemeClr val="accent1"/>
          </a:lnRef>
          <a:fillRef idx="0">
            <a:schemeClr val="accent1"/>
          </a:fillRef>
          <a:effectRef idx="1">
            <a:schemeClr val="accent1"/>
          </a:effectRef>
          <a:fontRef idx="minor">
            <a:schemeClr val="tx1"/>
          </a:fontRef>
        </p:style>
        <p:txBody>
          <a:bodyPr/>
          <a:lstStyle/>
          <a:p>
            <a:endParaRPr lang="en-SG"/>
          </a:p>
        </p:txBody>
      </p:sp>
      <p:sp>
        <p:nvSpPr>
          <p:cNvPr id="9" name="Connector 8">
            <a:extLst>
              <a:ext uri="{FF2B5EF4-FFF2-40B4-BE49-F238E27FC236}">
                <a16:creationId xmlns:a16="http://schemas.microsoft.com/office/drawing/2014/main" id="{2BE54E93-F5F2-45D8-BB82-09275374777F}"/>
              </a:ext>
            </a:extLst>
          </p:cNvPr>
          <p:cNvSpPr>
            <a:spLocks noGrp="1"/>
          </p:cNvSpPr>
          <p:nvPr/>
        </p:nvSpPr>
        <p:spPr>
          <a:xfrm flipV="1">
            <a:off x="2231967" y="3822559"/>
            <a:ext cx="272242" cy="350709"/>
          </a:xfrm>
          <a:prstGeom prst="line">
            <a:avLst/>
          </a:prstGeom>
          <a:ln w="25400">
            <a:solidFill>
              <a:srgbClr val="1C6F82"/>
            </a:solidFill>
          </a:ln>
        </p:spPr>
        <p:style>
          <a:lnRef idx="2">
            <a:schemeClr val="accent1"/>
          </a:lnRef>
          <a:fillRef idx="0">
            <a:schemeClr val="accent1"/>
          </a:fillRef>
          <a:effectRef idx="1">
            <a:schemeClr val="accent1"/>
          </a:effectRef>
          <a:fontRef idx="minor">
            <a:schemeClr val="tx1"/>
          </a:fontRef>
        </p:style>
        <p:txBody>
          <a:bodyPr/>
          <a:lstStyle/>
          <a:p>
            <a:endParaRPr lang="en-SG"/>
          </a:p>
        </p:txBody>
      </p:sp>
      <p:sp>
        <p:nvSpPr>
          <p:cNvPr id="10" name="Connector 9">
            <a:extLst>
              <a:ext uri="{FF2B5EF4-FFF2-40B4-BE49-F238E27FC236}">
                <a16:creationId xmlns:a16="http://schemas.microsoft.com/office/drawing/2014/main" id="{F84CF602-B040-48F4-B857-76DC5481C628}"/>
              </a:ext>
            </a:extLst>
          </p:cNvPr>
          <p:cNvSpPr>
            <a:spLocks noGrp="1"/>
          </p:cNvSpPr>
          <p:nvPr/>
        </p:nvSpPr>
        <p:spPr>
          <a:xfrm>
            <a:off x="2504209" y="3822559"/>
            <a:ext cx="272241" cy="39799"/>
          </a:xfrm>
          <a:prstGeom prst="line">
            <a:avLst/>
          </a:prstGeom>
          <a:ln w="25400">
            <a:solidFill>
              <a:srgbClr val="1C6F82"/>
            </a:solidFill>
          </a:ln>
        </p:spPr>
        <p:style>
          <a:lnRef idx="2">
            <a:schemeClr val="accent1"/>
          </a:lnRef>
          <a:fillRef idx="0">
            <a:schemeClr val="accent1"/>
          </a:fillRef>
          <a:effectRef idx="1">
            <a:schemeClr val="accent1"/>
          </a:effectRef>
          <a:fontRef idx="minor">
            <a:schemeClr val="tx1"/>
          </a:fontRef>
        </p:style>
        <p:txBody>
          <a:bodyPr/>
          <a:lstStyle/>
          <a:p>
            <a:endParaRPr lang="en-SG"/>
          </a:p>
        </p:txBody>
      </p:sp>
      <p:sp>
        <p:nvSpPr>
          <p:cNvPr id="11" name="Connector 10">
            <a:extLst>
              <a:ext uri="{FF2B5EF4-FFF2-40B4-BE49-F238E27FC236}">
                <a16:creationId xmlns:a16="http://schemas.microsoft.com/office/drawing/2014/main" id="{C3BC014C-7DA6-470C-80C5-3404144A5776}"/>
              </a:ext>
            </a:extLst>
          </p:cNvPr>
          <p:cNvSpPr>
            <a:spLocks noGrp="1"/>
          </p:cNvSpPr>
          <p:nvPr/>
        </p:nvSpPr>
        <p:spPr>
          <a:xfrm flipV="1">
            <a:off x="2776450" y="3458914"/>
            <a:ext cx="272242" cy="403444"/>
          </a:xfrm>
          <a:prstGeom prst="line">
            <a:avLst/>
          </a:prstGeom>
          <a:ln w="25400">
            <a:solidFill>
              <a:srgbClr val="1C6F82"/>
            </a:solidFill>
          </a:ln>
        </p:spPr>
        <p:style>
          <a:lnRef idx="2">
            <a:schemeClr val="accent1"/>
          </a:lnRef>
          <a:fillRef idx="0">
            <a:schemeClr val="accent1"/>
          </a:fillRef>
          <a:effectRef idx="1">
            <a:schemeClr val="accent1"/>
          </a:effectRef>
          <a:fontRef idx="minor">
            <a:schemeClr val="tx1"/>
          </a:fontRef>
        </p:style>
        <p:txBody>
          <a:bodyPr/>
          <a:lstStyle/>
          <a:p>
            <a:endParaRPr lang="en-SG"/>
          </a:p>
        </p:txBody>
      </p:sp>
      <p:sp>
        <p:nvSpPr>
          <p:cNvPr id="12" name="Connector 11">
            <a:extLst>
              <a:ext uri="{FF2B5EF4-FFF2-40B4-BE49-F238E27FC236}">
                <a16:creationId xmlns:a16="http://schemas.microsoft.com/office/drawing/2014/main" id="{C293DA88-A483-4B0C-94E3-75D74B246CA9}"/>
              </a:ext>
            </a:extLst>
          </p:cNvPr>
          <p:cNvSpPr>
            <a:spLocks noGrp="1"/>
          </p:cNvSpPr>
          <p:nvPr/>
        </p:nvSpPr>
        <p:spPr>
          <a:xfrm>
            <a:off x="3048692" y="3458914"/>
            <a:ext cx="272242" cy="201613"/>
          </a:xfrm>
          <a:prstGeom prst="line">
            <a:avLst/>
          </a:prstGeom>
          <a:ln w="25400">
            <a:solidFill>
              <a:srgbClr val="1C6F82"/>
            </a:solidFill>
          </a:ln>
        </p:spPr>
        <p:style>
          <a:lnRef idx="2">
            <a:schemeClr val="accent1"/>
          </a:lnRef>
          <a:fillRef idx="0">
            <a:schemeClr val="accent1"/>
          </a:fillRef>
          <a:effectRef idx="1">
            <a:schemeClr val="accent1"/>
          </a:effectRef>
          <a:fontRef idx="minor">
            <a:schemeClr val="tx1"/>
          </a:fontRef>
        </p:style>
        <p:txBody>
          <a:bodyPr/>
          <a:lstStyle/>
          <a:p>
            <a:endParaRPr lang="en-SG"/>
          </a:p>
        </p:txBody>
      </p:sp>
      <p:sp>
        <p:nvSpPr>
          <p:cNvPr id="13" name="Connector 12">
            <a:extLst>
              <a:ext uri="{FF2B5EF4-FFF2-40B4-BE49-F238E27FC236}">
                <a16:creationId xmlns:a16="http://schemas.microsoft.com/office/drawing/2014/main" id="{1BB2B19A-3086-4E8D-99C0-86B51013F2E3}"/>
              </a:ext>
            </a:extLst>
          </p:cNvPr>
          <p:cNvSpPr>
            <a:spLocks noGrp="1"/>
          </p:cNvSpPr>
          <p:nvPr/>
        </p:nvSpPr>
        <p:spPr>
          <a:xfrm flipV="1">
            <a:off x="3320934" y="3481108"/>
            <a:ext cx="272242" cy="179419"/>
          </a:xfrm>
          <a:prstGeom prst="line">
            <a:avLst/>
          </a:prstGeom>
          <a:ln w="25400">
            <a:solidFill>
              <a:srgbClr val="1C6F82"/>
            </a:solidFill>
          </a:ln>
        </p:spPr>
        <p:style>
          <a:lnRef idx="2">
            <a:schemeClr val="accent1"/>
          </a:lnRef>
          <a:fillRef idx="0">
            <a:schemeClr val="accent1"/>
          </a:fillRef>
          <a:effectRef idx="1">
            <a:schemeClr val="accent1"/>
          </a:effectRef>
          <a:fontRef idx="minor">
            <a:schemeClr val="tx1"/>
          </a:fontRef>
        </p:style>
        <p:txBody>
          <a:bodyPr/>
          <a:lstStyle/>
          <a:p>
            <a:endParaRPr lang="en-SG"/>
          </a:p>
        </p:txBody>
      </p:sp>
      <p:sp>
        <p:nvSpPr>
          <p:cNvPr id="14" name="Connector 13">
            <a:extLst>
              <a:ext uri="{FF2B5EF4-FFF2-40B4-BE49-F238E27FC236}">
                <a16:creationId xmlns:a16="http://schemas.microsoft.com/office/drawing/2014/main" id="{91BFE1FF-ACA2-43B3-AB73-9AA113E1D33C}"/>
              </a:ext>
            </a:extLst>
          </p:cNvPr>
          <p:cNvSpPr>
            <a:spLocks noGrp="1"/>
          </p:cNvSpPr>
          <p:nvPr/>
        </p:nvSpPr>
        <p:spPr>
          <a:xfrm flipV="1">
            <a:off x="3593176" y="3271468"/>
            <a:ext cx="272242" cy="209640"/>
          </a:xfrm>
          <a:prstGeom prst="line">
            <a:avLst/>
          </a:prstGeom>
          <a:ln w="25400">
            <a:solidFill>
              <a:srgbClr val="1C6F82"/>
            </a:solidFill>
          </a:ln>
        </p:spPr>
        <p:style>
          <a:lnRef idx="2">
            <a:schemeClr val="accent1"/>
          </a:lnRef>
          <a:fillRef idx="0">
            <a:schemeClr val="accent1"/>
          </a:fillRef>
          <a:effectRef idx="1">
            <a:schemeClr val="accent1"/>
          </a:effectRef>
          <a:fontRef idx="minor">
            <a:schemeClr val="tx1"/>
          </a:fontRef>
        </p:style>
        <p:txBody>
          <a:bodyPr/>
          <a:lstStyle/>
          <a:p>
            <a:endParaRPr lang="en-SG"/>
          </a:p>
        </p:txBody>
      </p:sp>
      <p:sp>
        <p:nvSpPr>
          <p:cNvPr id="15" name="Connector 14">
            <a:extLst>
              <a:ext uri="{FF2B5EF4-FFF2-40B4-BE49-F238E27FC236}">
                <a16:creationId xmlns:a16="http://schemas.microsoft.com/office/drawing/2014/main" id="{477151A8-C471-44D0-A0E7-C8D93888A2EF}"/>
              </a:ext>
            </a:extLst>
          </p:cNvPr>
          <p:cNvSpPr>
            <a:spLocks noGrp="1"/>
          </p:cNvSpPr>
          <p:nvPr/>
        </p:nvSpPr>
        <p:spPr>
          <a:xfrm flipV="1">
            <a:off x="3865418" y="3132251"/>
            <a:ext cx="272242" cy="139217"/>
          </a:xfrm>
          <a:prstGeom prst="line">
            <a:avLst/>
          </a:prstGeom>
          <a:ln w="25400">
            <a:solidFill>
              <a:srgbClr val="1C6F82"/>
            </a:solidFill>
          </a:ln>
        </p:spPr>
        <p:style>
          <a:lnRef idx="2">
            <a:schemeClr val="accent1"/>
          </a:lnRef>
          <a:fillRef idx="0">
            <a:schemeClr val="accent1"/>
          </a:fillRef>
          <a:effectRef idx="1">
            <a:schemeClr val="accent1"/>
          </a:effectRef>
          <a:fontRef idx="minor">
            <a:schemeClr val="tx1"/>
          </a:fontRef>
        </p:style>
        <p:txBody>
          <a:bodyPr/>
          <a:lstStyle/>
          <a:p>
            <a:endParaRPr lang="en-SG"/>
          </a:p>
        </p:txBody>
      </p:sp>
      <p:sp>
        <p:nvSpPr>
          <p:cNvPr id="16" name="Connector 15">
            <a:extLst>
              <a:ext uri="{FF2B5EF4-FFF2-40B4-BE49-F238E27FC236}">
                <a16:creationId xmlns:a16="http://schemas.microsoft.com/office/drawing/2014/main" id="{0BF3210C-7CB6-432E-A391-7B149BCA980C}"/>
              </a:ext>
            </a:extLst>
          </p:cNvPr>
          <p:cNvSpPr>
            <a:spLocks noGrp="1"/>
          </p:cNvSpPr>
          <p:nvPr/>
        </p:nvSpPr>
        <p:spPr>
          <a:xfrm flipV="1">
            <a:off x="4137660" y="3022331"/>
            <a:ext cx="272241" cy="109920"/>
          </a:xfrm>
          <a:prstGeom prst="line">
            <a:avLst/>
          </a:prstGeom>
          <a:ln w="25400">
            <a:solidFill>
              <a:srgbClr val="1C6F82"/>
            </a:solidFill>
          </a:ln>
        </p:spPr>
        <p:style>
          <a:lnRef idx="2">
            <a:schemeClr val="accent1"/>
          </a:lnRef>
          <a:fillRef idx="0">
            <a:schemeClr val="accent1"/>
          </a:fillRef>
          <a:effectRef idx="1">
            <a:schemeClr val="accent1"/>
          </a:effectRef>
          <a:fontRef idx="minor">
            <a:schemeClr val="tx1"/>
          </a:fontRef>
        </p:style>
        <p:txBody>
          <a:bodyPr/>
          <a:lstStyle/>
          <a:p>
            <a:endParaRPr lang="en-SG"/>
          </a:p>
        </p:txBody>
      </p:sp>
      <p:sp>
        <p:nvSpPr>
          <p:cNvPr id="17" name="Connector 16">
            <a:extLst>
              <a:ext uri="{FF2B5EF4-FFF2-40B4-BE49-F238E27FC236}">
                <a16:creationId xmlns:a16="http://schemas.microsoft.com/office/drawing/2014/main" id="{445AB84A-C931-4EA6-AF84-DFCBDB9DF614}"/>
              </a:ext>
            </a:extLst>
          </p:cNvPr>
          <p:cNvSpPr>
            <a:spLocks noGrp="1"/>
          </p:cNvSpPr>
          <p:nvPr/>
        </p:nvSpPr>
        <p:spPr>
          <a:xfrm flipV="1">
            <a:off x="4409901" y="2067021"/>
            <a:ext cx="272242" cy="955310"/>
          </a:xfrm>
          <a:prstGeom prst="line">
            <a:avLst/>
          </a:prstGeom>
          <a:ln w="25400">
            <a:solidFill>
              <a:srgbClr val="1C6F82"/>
            </a:solidFill>
          </a:ln>
        </p:spPr>
        <p:style>
          <a:lnRef idx="2">
            <a:schemeClr val="accent1"/>
          </a:lnRef>
          <a:fillRef idx="0">
            <a:schemeClr val="accent1"/>
          </a:fillRef>
          <a:effectRef idx="1">
            <a:schemeClr val="accent1"/>
          </a:effectRef>
          <a:fontRef idx="minor">
            <a:schemeClr val="tx1"/>
          </a:fontRef>
        </p:style>
        <p:txBody>
          <a:bodyPr/>
          <a:lstStyle/>
          <a:p>
            <a:endParaRPr lang="en-SG"/>
          </a:p>
        </p:txBody>
      </p:sp>
      <p:sp>
        <p:nvSpPr>
          <p:cNvPr id="18" name="Connector 17">
            <a:extLst>
              <a:ext uri="{FF2B5EF4-FFF2-40B4-BE49-F238E27FC236}">
                <a16:creationId xmlns:a16="http://schemas.microsoft.com/office/drawing/2014/main" id="{BB47EB0B-766B-4A89-A1A5-1E0718E708FF}"/>
              </a:ext>
            </a:extLst>
          </p:cNvPr>
          <p:cNvSpPr>
            <a:spLocks noGrp="1"/>
          </p:cNvSpPr>
          <p:nvPr/>
        </p:nvSpPr>
        <p:spPr>
          <a:xfrm>
            <a:off x="4682143" y="2067021"/>
            <a:ext cx="272242" cy="735305"/>
          </a:xfrm>
          <a:prstGeom prst="line">
            <a:avLst/>
          </a:prstGeom>
          <a:ln w="25400">
            <a:solidFill>
              <a:srgbClr val="1C6F82"/>
            </a:solidFill>
          </a:ln>
        </p:spPr>
        <p:style>
          <a:lnRef idx="2">
            <a:schemeClr val="accent1"/>
          </a:lnRef>
          <a:fillRef idx="0">
            <a:schemeClr val="accent1"/>
          </a:fillRef>
          <a:effectRef idx="1">
            <a:schemeClr val="accent1"/>
          </a:effectRef>
          <a:fontRef idx="minor">
            <a:schemeClr val="tx1"/>
          </a:fontRef>
        </p:style>
        <p:txBody>
          <a:bodyPr/>
          <a:lstStyle/>
          <a:p>
            <a:endParaRPr lang="en-SG"/>
          </a:p>
        </p:txBody>
      </p:sp>
      <p:sp>
        <p:nvSpPr>
          <p:cNvPr id="19" name="Connector 18">
            <a:extLst>
              <a:ext uri="{FF2B5EF4-FFF2-40B4-BE49-F238E27FC236}">
                <a16:creationId xmlns:a16="http://schemas.microsoft.com/office/drawing/2014/main" id="{469542AB-4749-45A5-A456-F5770A4C9AEB}"/>
              </a:ext>
            </a:extLst>
          </p:cNvPr>
          <p:cNvSpPr>
            <a:spLocks noGrp="1"/>
          </p:cNvSpPr>
          <p:nvPr/>
        </p:nvSpPr>
        <p:spPr>
          <a:xfrm flipV="1">
            <a:off x="4954385" y="2233323"/>
            <a:ext cx="272242" cy="569003"/>
          </a:xfrm>
          <a:prstGeom prst="line">
            <a:avLst/>
          </a:prstGeom>
          <a:ln w="25400">
            <a:solidFill>
              <a:srgbClr val="1C6F82"/>
            </a:solidFill>
          </a:ln>
        </p:spPr>
        <p:style>
          <a:lnRef idx="2">
            <a:schemeClr val="accent1"/>
          </a:lnRef>
          <a:fillRef idx="0">
            <a:schemeClr val="accent1"/>
          </a:fillRef>
          <a:effectRef idx="1">
            <a:schemeClr val="accent1"/>
          </a:effectRef>
          <a:fontRef idx="minor">
            <a:schemeClr val="tx1"/>
          </a:fontRef>
        </p:style>
        <p:txBody>
          <a:bodyPr/>
          <a:lstStyle/>
          <a:p>
            <a:endParaRPr lang="en-SG"/>
          </a:p>
        </p:txBody>
      </p:sp>
      <p:sp>
        <p:nvSpPr>
          <p:cNvPr id="20" name="Connector 19">
            <a:extLst>
              <a:ext uri="{FF2B5EF4-FFF2-40B4-BE49-F238E27FC236}">
                <a16:creationId xmlns:a16="http://schemas.microsoft.com/office/drawing/2014/main" id="{1DE8367A-F242-4EEE-B41B-F37E0F64646E}"/>
              </a:ext>
            </a:extLst>
          </p:cNvPr>
          <p:cNvSpPr>
            <a:spLocks noGrp="1"/>
          </p:cNvSpPr>
          <p:nvPr/>
        </p:nvSpPr>
        <p:spPr>
          <a:xfrm>
            <a:off x="5226627" y="2233323"/>
            <a:ext cx="272242" cy="292213"/>
          </a:xfrm>
          <a:prstGeom prst="line">
            <a:avLst/>
          </a:prstGeom>
          <a:ln w="25400">
            <a:solidFill>
              <a:srgbClr val="1C6F82"/>
            </a:solidFill>
          </a:ln>
        </p:spPr>
        <p:style>
          <a:lnRef idx="2">
            <a:schemeClr val="accent1"/>
          </a:lnRef>
          <a:fillRef idx="0">
            <a:schemeClr val="accent1"/>
          </a:fillRef>
          <a:effectRef idx="1">
            <a:schemeClr val="accent1"/>
          </a:effectRef>
          <a:fontRef idx="minor">
            <a:schemeClr val="tx1"/>
          </a:fontRef>
        </p:style>
        <p:txBody>
          <a:bodyPr/>
          <a:lstStyle/>
          <a:p>
            <a:endParaRPr lang="en-SG"/>
          </a:p>
        </p:txBody>
      </p:sp>
      <p:sp>
        <p:nvSpPr>
          <p:cNvPr id="21" name="Connector 20">
            <a:extLst>
              <a:ext uri="{FF2B5EF4-FFF2-40B4-BE49-F238E27FC236}">
                <a16:creationId xmlns:a16="http://schemas.microsoft.com/office/drawing/2014/main" id="{7CB3A9C5-FE9C-4498-B86D-E7412BEC50FB}"/>
              </a:ext>
            </a:extLst>
          </p:cNvPr>
          <p:cNvSpPr>
            <a:spLocks noGrp="1"/>
          </p:cNvSpPr>
          <p:nvPr/>
        </p:nvSpPr>
        <p:spPr>
          <a:xfrm flipV="1">
            <a:off x="5498869" y="2141717"/>
            <a:ext cx="272241" cy="383819"/>
          </a:xfrm>
          <a:prstGeom prst="line">
            <a:avLst/>
          </a:prstGeom>
          <a:ln w="25400">
            <a:solidFill>
              <a:srgbClr val="1C6F82"/>
            </a:solidFill>
          </a:ln>
        </p:spPr>
        <p:style>
          <a:lnRef idx="2">
            <a:schemeClr val="accent1"/>
          </a:lnRef>
          <a:fillRef idx="0">
            <a:schemeClr val="accent1"/>
          </a:fillRef>
          <a:effectRef idx="1">
            <a:schemeClr val="accent1"/>
          </a:effectRef>
          <a:fontRef idx="minor">
            <a:schemeClr val="tx1"/>
          </a:fontRef>
        </p:style>
        <p:txBody>
          <a:bodyPr/>
          <a:lstStyle/>
          <a:p>
            <a:endParaRPr lang="en-SG"/>
          </a:p>
        </p:txBody>
      </p:sp>
      <p:sp>
        <p:nvSpPr>
          <p:cNvPr id="22" name="Connector 21">
            <a:extLst>
              <a:ext uri="{FF2B5EF4-FFF2-40B4-BE49-F238E27FC236}">
                <a16:creationId xmlns:a16="http://schemas.microsoft.com/office/drawing/2014/main" id="{AED706DE-8D03-4204-A62A-7DF397D86C19}"/>
              </a:ext>
            </a:extLst>
          </p:cNvPr>
          <p:cNvSpPr>
            <a:spLocks noGrp="1"/>
          </p:cNvSpPr>
          <p:nvPr/>
        </p:nvSpPr>
        <p:spPr>
          <a:xfrm flipV="1">
            <a:off x="5771110" y="2104631"/>
            <a:ext cx="272242" cy="37086"/>
          </a:xfrm>
          <a:prstGeom prst="line">
            <a:avLst/>
          </a:prstGeom>
          <a:ln w="25400">
            <a:solidFill>
              <a:srgbClr val="1C6F82"/>
            </a:solidFill>
          </a:ln>
        </p:spPr>
        <p:style>
          <a:lnRef idx="2">
            <a:schemeClr val="accent1"/>
          </a:lnRef>
          <a:fillRef idx="0">
            <a:schemeClr val="accent1"/>
          </a:fillRef>
          <a:effectRef idx="1">
            <a:schemeClr val="accent1"/>
          </a:effectRef>
          <a:fontRef idx="minor">
            <a:schemeClr val="tx1"/>
          </a:fontRef>
        </p:style>
        <p:txBody>
          <a:bodyPr/>
          <a:lstStyle/>
          <a:p>
            <a:endParaRPr lang="en-SG"/>
          </a:p>
        </p:txBody>
      </p:sp>
      <p:sp>
        <p:nvSpPr>
          <p:cNvPr id="23" name="Connector 22">
            <a:extLst>
              <a:ext uri="{FF2B5EF4-FFF2-40B4-BE49-F238E27FC236}">
                <a16:creationId xmlns:a16="http://schemas.microsoft.com/office/drawing/2014/main" id="{713FBE27-1FDA-4E63-8EC1-D01635F05239}"/>
              </a:ext>
            </a:extLst>
          </p:cNvPr>
          <p:cNvSpPr>
            <a:spLocks noGrp="1"/>
          </p:cNvSpPr>
          <p:nvPr/>
        </p:nvSpPr>
        <p:spPr>
          <a:xfrm>
            <a:off x="6043352" y="2104631"/>
            <a:ext cx="272242" cy="359"/>
          </a:xfrm>
          <a:prstGeom prst="line">
            <a:avLst/>
          </a:prstGeom>
          <a:ln w="25400">
            <a:solidFill>
              <a:srgbClr val="1C6F82"/>
            </a:solidFill>
          </a:ln>
        </p:spPr>
        <p:style>
          <a:lnRef idx="2">
            <a:schemeClr val="accent1"/>
          </a:lnRef>
          <a:fillRef idx="0">
            <a:schemeClr val="accent1"/>
          </a:fillRef>
          <a:effectRef idx="1">
            <a:schemeClr val="accent1"/>
          </a:effectRef>
          <a:fontRef idx="minor">
            <a:schemeClr val="tx1"/>
          </a:fontRef>
        </p:style>
        <p:txBody>
          <a:bodyPr/>
          <a:lstStyle/>
          <a:p>
            <a:endParaRPr lang="en-SG"/>
          </a:p>
        </p:txBody>
      </p:sp>
      <p:sp>
        <p:nvSpPr>
          <p:cNvPr id="24" name="Connector 23">
            <a:extLst>
              <a:ext uri="{FF2B5EF4-FFF2-40B4-BE49-F238E27FC236}">
                <a16:creationId xmlns:a16="http://schemas.microsoft.com/office/drawing/2014/main" id="{6D5319EC-6E36-4F91-8C09-E0EEE794C73B}"/>
              </a:ext>
            </a:extLst>
          </p:cNvPr>
          <p:cNvSpPr>
            <a:spLocks noGrp="1"/>
          </p:cNvSpPr>
          <p:nvPr/>
        </p:nvSpPr>
        <p:spPr>
          <a:xfrm>
            <a:off x="6315594" y="2104990"/>
            <a:ext cx="272242" cy="362724"/>
          </a:xfrm>
          <a:prstGeom prst="line">
            <a:avLst/>
          </a:prstGeom>
          <a:ln w="25400">
            <a:solidFill>
              <a:srgbClr val="1C6F82"/>
            </a:solidFill>
          </a:ln>
        </p:spPr>
        <p:style>
          <a:lnRef idx="2">
            <a:schemeClr val="accent1"/>
          </a:lnRef>
          <a:fillRef idx="0">
            <a:schemeClr val="accent1"/>
          </a:fillRef>
          <a:effectRef idx="1">
            <a:schemeClr val="accent1"/>
          </a:effectRef>
          <a:fontRef idx="minor">
            <a:schemeClr val="tx1"/>
          </a:fontRef>
        </p:style>
        <p:txBody>
          <a:bodyPr/>
          <a:lstStyle/>
          <a:p>
            <a:endParaRPr lang="en-SG"/>
          </a:p>
        </p:txBody>
      </p:sp>
      <p:sp>
        <p:nvSpPr>
          <p:cNvPr id="25" name="Connector 24">
            <a:extLst>
              <a:ext uri="{FF2B5EF4-FFF2-40B4-BE49-F238E27FC236}">
                <a16:creationId xmlns:a16="http://schemas.microsoft.com/office/drawing/2014/main" id="{F8DCEED5-B37C-49C1-985B-DF865E0F6641}"/>
              </a:ext>
            </a:extLst>
          </p:cNvPr>
          <p:cNvSpPr>
            <a:spLocks noGrp="1"/>
          </p:cNvSpPr>
          <p:nvPr/>
        </p:nvSpPr>
        <p:spPr>
          <a:xfrm flipV="1">
            <a:off x="6587836" y="2383839"/>
            <a:ext cx="272242" cy="83875"/>
          </a:xfrm>
          <a:prstGeom prst="line">
            <a:avLst/>
          </a:prstGeom>
          <a:ln w="25400">
            <a:solidFill>
              <a:srgbClr val="1C6F82"/>
            </a:solidFill>
          </a:ln>
        </p:spPr>
        <p:style>
          <a:lnRef idx="2">
            <a:schemeClr val="accent1"/>
          </a:lnRef>
          <a:fillRef idx="0">
            <a:schemeClr val="accent1"/>
          </a:fillRef>
          <a:effectRef idx="1">
            <a:schemeClr val="accent1"/>
          </a:effectRef>
          <a:fontRef idx="minor">
            <a:schemeClr val="tx1"/>
          </a:fontRef>
        </p:style>
        <p:txBody>
          <a:bodyPr/>
          <a:lstStyle/>
          <a:p>
            <a:endParaRPr lang="en-SG"/>
          </a:p>
        </p:txBody>
      </p:sp>
      <p:sp>
        <p:nvSpPr>
          <p:cNvPr id="26" name="Connector 25">
            <a:extLst>
              <a:ext uri="{FF2B5EF4-FFF2-40B4-BE49-F238E27FC236}">
                <a16:creationId xmlns:a16="http://schemas.microsoft.com/office/drawing/2014/main" id="{DE4C97C5-E620-4BFC-94E8-AE22B57ADA07}"/>
              </a:ext>
            </a:extLst>
          </p:cNvPr>
          <p:cNvSpPr>
            <a:spLocks noGrp="1"/>
          </p:cNvSpPr>
          <p:nvPr/>
        </p:nvSpPr>
        <p:spPr>
          <a:xfrm>
            <a:off x="6860078" y="2383839"/>
            <a:ext cx="272242" cy="112690"/>
          </a:xfrm>
          <a:prstGeom prst="line">
            <a:avLst/>
          </a:prstGeom>
          <a:ln w="25400">
            <a:solidFill>
              <a:srgbClr val="1C6F82"/>
            </a:solidFill>
          </a:ln>
        </p:spPr>
        <p:style>
          <a:lnRef idx="2">
            <a:schemeClr val="accent1"/>
          </a:lnRef>
          <a:fillRef idx="0">
            <a:schemeClr val="accent1"/>
          </a:fillRef>
          <a:effectRef idx="1">
            <a:schemeClr val="accent1"/>
          </a:effectRef>
          <a:fontRef idx="minor">
            <a:schemeClr val="tx1"/>
          </a:fontRef>
        </p:style>
        <p:txBody>
          <a:bodyPr/>
          <a:lstStyle/>
          <a:p>
            <a:endParaRPr lang="en-SG"/>
          </a:p>
        </p:txBody>
      </p:sp>
      <p:sp>
        <p:nvSpPr>
          <p:cNvPr id="27" name="Oval 26">
            <a:extLst>
              <a:ext uri="{FF2B5EF4-FFF2-40B4-BE49-F238E27FC236}">
                <a16:creationId xmlns:a16="http://schemas.microsoft.com/office/drawing/2014/main" id="{6C64E6AF-B2E1-4262-8AB8-142611569BE3}"/>
              </a:ext>
            </a:extLst>
          </p:cNvPr>
          <p:cNvSpPr>
            <a:spLocks noGrp="1"/>
          </p:cNvSpPr>
          <p:nvPr/>
        </p:nvSpPr>
        <p:spPr>
          <a:xfrm>
            <a:off x="1110996" y="4823230"/>
            <a:ext cx="64008" cy="64008"/>
          </a:xfrm>
          <a:prstGeom prst="ellipse">
            <a:avLst/>
          </a:prstGeom>
          <a:solidFill>
            <a:srgbClr val="1C6F82"/>
          </a:solidFill>
          <a:ln>
            <a:solidFill>
              <a:srgbClr val="1C6F8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Oval 27">
            <a:extLst>
              <a:ext uri="{FF2B5EF4-FFF2-40B4-BE49-F238E27FC236}">
                <a16:creationId xmlns:a16="http://schemas.microsoft.com/office/drawing/2014/main" id="{8DB02A90-822D-416E-9179-7298AE32FE84}"/>
              </a:ext>
            </a:extLst>
          </p:cNvPr>
          <p:cNvSpPr>
            <a:spLocks noGrp="1"/>
          </p:cNvSpPr>
          <p:nvPr/>
        </p:nvSpPr>
        <p:spPr>
          <a:xfrm>
            <a:off x="1927721" y="4491832"/>
            <a:ext cx="64008" cy="64008"/>
          </a:xfrm>
          <a:prstGeom prst="ellipse">
            <a:avLst/>
          </a:prstGeom>
          <a:solidFill>
            <a:srgbClr val="1C6F82"/>
          </a:solidFill>
          <a:ln>
            <a:solidFill>
              <a:srgbClr val="1C6F8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Oval 28">
            <a:extLst>
              <a:ext uri="{FF2B5EF4-FFF2-40B4-BE49-F238E27FC236}">
                <a16:creationId xmlns:a16="http://schemas.microsoft.com/office/drawing/2014/main" id="{B832C9C0-B615-45C3-AADA-0D10500617FA}"/>
              </a:ext>
            </a:extLst>
          </p:cNvPr>
          <p:cNvSpPr>
            <a:spLocks noGrp="1"/>
          </p:cNvSpPr>
          <p:nvPr/>
        </p:nvSpPr>
        <p:spPr>
          <a:xfrm>
            <a:off x="2744446" y="3830354"/>
            <a:ext cx="64008" cy="64008"/>
          </a:xfrm>
          <a:prstGeom prst="ellipse">
            <a:avLst/>
          </a:prstGeom>
          <a:solidFill>
            <a:srgbClr val="1C6F82"/>
          </a:solidFill>
          <a:ln>
            <a:solidFill>
              <a:srgbClr val="1C6F8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Oval 29">
            <a:extLst>
              <a:ext uri="{FF2B5EF4-FFF2-40B4-BE49-F238E27FC236}">
                <a16:creationId xmlns:a16="http://schemas.microsoft.com/office/drawing/2014/main" id="{5B4C2F74-5C7E-4345-A57E-7B7E8000ED53}"/>
              </a:ext>
            </a:extLst>
          </p:cNvPr>
          <p:cNvSpPr>
            <a:spLocks noGrp="1"/>
          </p:cNvSpPr>
          <p:nvPr/>
        </p:nvSpPr>
        <p:spPr>
          <a:xfrm>
            <a:off x="3561172" y="3449104"/>
            <a:ext cx="64008" cy="64008"/>
          </a:xfrm>
          <a:prstGeom prst="ellipse">
            <a:avLst/>
          </a:prstGeom>
          <a:solidFill>
            <a:srgbClr val="1C6F82"/>
          </a:solidFill>
          <a:ln>
            <a:solidFill>
              <a:srgbClr val="1C6F8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Oval 30">
            <a:extLst>
              <a:ext uri="{FF2B5EF4-FFF2-40B4-BE49-F238E27FC236}">
                <a16:creationId xmlns:a16="http://schemas.microsoft.com/office/drawing/2014/main" id="{583AE7B5-2C3D-4C0A-BC1F-75E2B88462B0}"/>
              </a:ext>
            </a:extLst>
          </p:cNvPr>
          <p:cNvSpPr>
            <a:spLocks noGrp="1"/>
          </p:cNvSpPr>
          <p:nvPr/>
        </p:nvSpPr>
        <p:spPr>
          <a:xfrm>
            <a:off x="4377897" y="2990327"/>
            <a:ext cx="64008" cy="64008"/>
          </a:xfrm>
          <a:prstGeom prst="ellipse">
            <a:avLst/>
          </a:prstGeom>
          <a:solidFill>
            <a:srgbClr val="1C6F82"/>
          </a:solidFill>
          <a:ln>
            <a:solidFill>
              <a:srgbClr val="1C6F8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Oval 31">
            <a:extLst>
              <a:ext uri="{FF2B5EF4-FFF2-40B4-BE49-F238E27FC236}">
                <a16:creationId xmlns:a16="http://schemas.microsoft.com/office/drawing/2014/main" id="{3B8D925A-D15D-4AD3-8457-DFC4B310368F}"/>
              </a:ext>
            </a:extLst>
          </p:cNvPr>
          <p:cNvSpPr>
            <a:spLocks noGrp="1"/>
          </p:cNvSpPr>
          <p:nvPr/>
        </p:nvSpPr>
        <p:spPr>
          <a:xfrm>
            <a:off x="5194623" y="2201319"/>
            <a:ext cx="64008" cy="64008"/>
          </a:xfrm>
          <a:prstGeom prst="ellipse">
            <a:avLst/>
          </a:prstGeom>
          <a:solidFill>
            <a:srgbClr val="1C6F82"/>
          </a:solidFill>
          <a:ln>
            <a:solidFill>
              <a:srgbClr val="1C6F8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Oval 32">
            <a:extLst>
              <a:ext uri="{FF2B5EF4-FFF2-40B4-BE49-F238E27FC236}">
                <a16:creationId xmlns:a16="http://schemas.microsoft.com/office/drawing/2014/main" id="{8401C248-7C04-42D4-BC05-58AA82B6D8EE}"/>
              </a:ext>
            </a:extLst>
          </p:cNvPr>
          <p:cNvSpPr>
            <a:spLocks noGrp="1"/>
          </p:cNvSpPr>
          <p:nvPr/>
        </p:nvSpPr>
        <p:spPr>
          <a:xfrm>
            <a:off x="6011348" y="2072627"/>
            <a:ext cx="64008" cy="64008"/>
          </a:xfrm>
          <a:prstGeom prst="ellipse">
            <a:avLst/>
          </a:prstGeom>
          <a:solidFill>
            <a:srgbClr val="1C6F82"/>
          </a:solidFill>
          <a:ln>
            <a:solidFill>
              <a:srgbClr val="1C6F8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Oval 33">
            <a:extLst>
              <a:ext uri="{FF2B5EF4-FFF2-40B4-BE49-F238E27FC236}">
                <a16:creationId xmlns:a16="http://schemas.microsoft.com/office/drawing/2014/main" id="{59875524-D5DC-4649-811C-F520006C1CD2}"/>
              </a:ext>
            </a:extLst>
          </p:cNvPr>
          <p:cNvSpPr>
            <a:spLocks noGrp="1"/>
          </p:cNvSpPr>
          <p:nvPr/>
        </p:nvSpPr>
        <p:spPr>
          <a:xfrm>
            <a:off x="6828074" y="2351835"/>
            <a:ext cx="64008" cy="64008"/>
          </a:xfrm>
          <a:prstGeom prst="ellipse">
            <a:avLst/>
          </a:prstGeom>
          <a:solidFill>
            <a:srgbClr val="1C6F82"/>
          </a:solidFill>
          <a:ln>
            <a:solidFill>
              <a:srgbClr val="1C6F8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BC33BBBE-D40B-4A46-8BE0-61CB4E5AEEE4}"/>
              </a:ext>
            </a:extLst>
          </p:cNvPr>
          <p:cNvSpPr>
            <a:spLocks noGrp="1"/>
          </p:cNvSpPr>
          <p:nvPr/>
        </p:nvSpPr>
        <p:spPr>
          <a:xfrm>
            <a:off x="1143000" y="4993102"/>
            <a:ext cx="1005840" cy="182880"/>
          </a:xfrm>
          <a:prstGeom prst="rect">
            <a:avLst/>
          </a:prstGeom>
          <a:noFill/>
        </p:spPr>
        <p:txBody>
          <a:bodyPr wrap="square">
            <a:normAutofit fontScale="92500"/>
          </a:bodyPr>
          <a:lstStyle/>
          <a:p>
            <a:pPr algn="l">
              <a:buNone/>
            </a:pPr>
            <a:r>
              <a:rPr sz="700" b="0">
                <a:solidFill>
                  <a:srgbClr val="56636C"/>
                </a:solidFill>
                <a:latin typeface="Aptos"/>
                <a:ea typeface="Aptos"/>
                <a:cs typeface="Aptos"/>
              </a:rPr>
              <a:t>Oct 2016</a:t>
            </a:r>
          </a:p>
        </p:txBody>
      </p:sp>
      <p:sp>
        <p:nvSpPr>
          <p:cNvPr id="36" name="TextBox 35">
            <a:extLst>
              <a:ext uri="{FF2B5EF4-FFF2-40B4-BE49-F238E27FC236}">
                <a16:creationId xmlns:a16="http://schemas.microsoft.com/office/drawing/2014/main" id="{6D21FB4C-D39B-4E02-BFE9-B431EA63123E}"/>
              </a:ext>
            </a:extLst>
          </p:cNvPr>
          <p:cNvSpPr>
            <a:spLocks noGrp="1"/>
          </p:cNvSpPr>
          <p:nvPr/>
        </p:nvSpPr>
        <p:spPr>
          <a:xfrm>
            <a:off x="6263640" y="4993102"/>
            <a:ext cx="1005840" cy="182880"/>
          </a:xfrm>
          <a:prstGeom prst="rect">
            <a:avLst/>
          </a:prstGeom>
          <a:noFill/>
        </p:spPr>
        <p:txBody>
          <a:bodyPr wrap="square">
            <a:normAutofit fontScale="92500"/>
          </a:bodyPr>
          <a:lstStyle/>
          <a:p>
            <a:pPr algn="r">
              <a:buNone/>
            </a:pPr>
            <a:r>
              <a:rPr sz="700" b="0">
                <a:solidFill>
                  <a:srgbClr val="56636C"/>
                </a:solidFill>
                <a:latin typeface="Aptos"/>
                <a:ea typeface="Aptos"/>
                <a:cs typeface="Aptos"/>
              </a:rPr>
              <a:t>Aug 2018</a:t>
            </a:r>
          </a:p>
        </p:txBody>
      </p:sp>
      <p:sp>
        <p:nvSpPr>
          <p:cNvPr id="37" name="TextBox 36">
            <a:extLst>
              <a:ext uri="{FF2B5EF4-FFF2-40B4-BE49-F238E27FC236}">
                <a16:creationId xmlns:a16="http://schemas.microsoft.com/office/drawing/2014/main" id="{A27349FF-6FC5-4E05-A984-3A7144095F91}"/>
              </a:ext>
            </a:extLst>
          </p:cNvPr>
          <p:cNvSpPr>
            <a:spLocks noGrp="1"/>
          </p:cNvSpPr>
          <p:nvPr/>
        </p:nvSpPr>
        <p:spPr>
          <a:xfrm>
            <a:off x="8001000" y="2021302"/>
            <a:ext cx="1905000" cy="320040"/>
          </a:xfrm>
          <a:prstGeom prst="rect">
            <a:avLst/>
          </a:prstGeom>
          <a:noFill/>
        </p:spPr>
        <p:txBody>
          <a:bodyPr wrap="square">
            <a:normAutofit fontScale="83177" lnSpcReduction="20000"/>
          </a:bodyPr>
          <a:lstStyle/>
          <a:p>
            <a:pPr algn="l">
              <a:buNone/>
            </a:pPr>
            <a:r>
              <a:rPr sz="2200" b="1" dirty="0">
                <a:solidFill>
                  <a:srgbClr val="1C6F82"/>
                </a:solidFill>
                <a:latin typeface="Aptos"/>
                <a:ea typeface="Aptos"/>
                <a:cs typeface="Aptos"/>
              </a:rPr>
              <a:t>$0.85M-$1.0M</a:t>
            </a:r>
          </a:p>
        </p:txBody>
      </p:sp>
      <p:sp>
        <p:nvSpPr>
          <p:cNvPr id="38" name="TextBox 37">
            <a:extLst>
              <a:ext uri="{FF2B5EF4-FFF2-40B4-BE49-F238E27FC236}">
                <a16:creationId xmlns:a16="http://schemas.microsoft.com/office/drawing/2014/main" id="{147B759A-580C-40FA-A300-48ABE2054A47}"/>
              </a:ext>
            </a:extLst>
          </p:cNvPr>
          <p:cNvSpPr>
            <a:spLocks noGrp="1"/>
          </p:cNvSpPr>
          <p:nvPr/>
        </p:nvSpPr>
        <p:spPr>
          <a:xfrm>
            <a:off x="8001000" y="2368774"/>
            <a:ext cx="1645920" cy="228600"/>
          </a:xfrm>
          <a:prstGeom prst="rect">
            <a:avLst/>
          </a:prstGeom>
          <a:noFill/>
        </p:spPr>
        <p:txBody>
          <a:bodyPr wrap="square">
            <a:noAutofit/>
          </a:bodyPr>
          <a:lstStyle/>
          <a:p>
            <a:pPr algn="l">
              <a:buNone/>
            </a:pPr>
            <a:r>
              <a:rPr sz="1000" b="1" dirty="0">
                <a:solidFill>
                  <a:srgbClr val="1C6F82"/>
                </a:solidFill>
                <a:latin typeface="Aptos"/>
                <a:ea typeface="Aptos"/>
                <a:cs typeface="Aptos"/>
              </a:rPr>
              <a:t>2018 band</a:t>
            </a:r>
          </a:p>
        </p:txBody>
      </p:sp>
      <p:sp>
        <p:nvSpPr>
          <p:cNvPr id="39" name="TextBox 38">
            <a:extLst>
              <a:ext uri="{FF2B5EF4-FFF2-40B4-BE49-F238E27FC236}">
                <a16:creationId xmlns:a16="http://schemas.microsoft.com/office/drawing/2014/main" id="{421DA22F-D500-48A6-8DD6-D73AC502789E}"/>
              </a:ext>
            </a:extLst>
          </p:cNvPr>
          <p:cNvSpPr>
            <a:spLocks noGrp="1"/>
          </p:cNvSpPr>
          <p:nvPr/>
        </p:nvSpPr>
        <p:spPr>
          <a:xfrm>
            <a:off x="8001000" y="2615662"/>
            <a:ext cx="1828800" cy="320040"/>
          </a:xfrm>
          <a:prstGeom prst="rect">
            <a:avLst/>
          </a:prstGeom>
          <a:noFill/>
        </p:spPr>
        <p:txBody>
          <a:bodyPr wrap="square">
            <a:normAutofit/>
          </a:bodyPr>
          <a:lstStyle/>
          <a:p>
            <a:pPr algn="l">
              <a:buNone/>
            </a:pPr>
            <a:r>
              <a:rPr sz="1000" b="0" dirty="0">
                <a:solidFill>
                  <a:srgbClr val="56636C"/>
                </a:solidFill>
                <a:latin typeface="Aptos"/>
                <a:ea typeface="Aptos"/>
                <a:cs typeface="Aptos"/>
              </a:rPr>
              <a:t>Jan-Aug 2018</a:t>
            </a:r>
          </a:p>
        </p:txBody>
      </p:sp>
      <p:sp>
        <p:nvSpPr>
          <p:cNvPr id="40" name="TextBox 39">
            <a:extLst>
              <a:ext uri="{FF2B5EF4-FFF2-40B4-BE49-F238E27FC236}">
                <a16:creationId xmlns:a16="http://schemas.microsoft.com/office/drawing/2014/main" id="{5C8C09F8-5E12-4036-95AD-3EB6180A270B}"/>
              </a:ext>
            </a:extLst>
          </p:cNvPr>
          <p:cNvSpPr>
            <a:spLocks noGrp="1"/>
          </p:cNvSpPr>
          <p:nvPr/>
        </p:nvSpPr>
        <p:spPr>
          <a:xfrm>
            <a:off x="8001000" y="3347182"/>
            <a:ext cx="1554480" cy="320040"/>
          </a:xfrm>
          <a:prstGeom prst="rect">
            <a:avLst/>
          </a:prstGeom>
          <a:noFill/>
        </p:spPr>
        <p:txBody>
          <a:bodyPr wrap="square">
            <a:normAutofit fontScale="80454" lnSpcReduction="20000"/>
          </a:bodyPr>
          <a:lstStyle/>
          <a:p>
            <a:pPr algn="l">
              <a:buNone/>
            </a:pPr>
            <a:r>
              <a:rPr sz="2200" b="1">
                <a:solidFill>
                  <a:srgbClr val="1C6F82"/>
                </a:solidFill>
                <a:latin typeface="Aptos"/>
                <a:ea typeface="Aptos"/>
                <a:cs typeface="Aptos"/>
              </a:rPr>
              <a:t>71.4K</a:t>
            </a:r>
          </a:p>
        </p:txBody>
      </p:sp>
      <p:sp>
        <p:nvSpPr>
          <p:cNvPr id="41" name="TextBox 40">
            <a:extLst>
              <a:ext uri="{FF2B5EF4-FFF2-40B4-BE49-F238E27FC236}">
                <a16:creationId xmlns:a16="http://schemas.microsoft.com/office/drawing/2014/main" id="{99CFAE08-95A5-4A88-883F-B76A2776530E}"/>
              </a:ext>
            </a:extLst>
          </p:cNvPr>
          <p:cNvSpPr>
            <a:spLocks noGrp="1"/>
          </p:cNvSpPr>
          <p:nvPr/>
        </p:nvSpPr>
        <p:spPr>
          <a:xfrm>
            <a:off x="8001000" y="3694654"/>
            <a:ext cx="1645920" cy="228600"/>
          </a:xfrm>
          <a:prstGeom prst="rect">
            <a:avLst/>
          </a:prstGeom>
          <a:noFill/>
        </p:spPr>
        <p:txBody>
          <a:bodyPr wrap="square">
            <a:noAutofit/>
          </a:bodyPr>
          <a:lstStyle/>
          <a:p>
            <a:pPr algn="l">
              <a:buNone/>
            </a:pPr>
            <a:r>
              <a:rPr sz="1000" b="1">
                <a:solidFill>
                  <a:srgbClr val="1C6F82"/>
                </a:solidFill>
                <a:latin typeface="Aptos"/>
                <a:ea typeface="Aptos"/>
                <a:cs typeface="Aptos"/>
              </a:rPr>
              <a:t>Year 2 orders</a:t>
            </a:r>
          </a:p>
        </p:txBody>
      </p:sp>
      <p:sp>
        <p:nvSpPr>
          <p:cNvPr id="42" name="TextBox 41">
            <a:extLst>
              <a:ext uri="{FF2B5EF4-FFF2-40B4-BE49-F238E27FC236}">
                <a16:creationId xmlns:a16="http://schemas.microsoft.com/office/drawing/2014/main" id="{8C2D4180-747C-4F9C-970D-1D88D4BE7997}"/>
              </a:ext>
            </a:extLst>
          </p:cNvPr>
          <p:cNvSpPr>
            <a:spLocks noGrp="1"/>
          </p:cNvSpPr>
          <p:nvPr/>
        </p:nvSpPr>
        <p:spPr>
          <a:xfrm>
            <a:off x="8001000" y="3941542"/>
            <a:ext cx="1828800" cy="320040"/>
          </a:xfrm>
          <a:prstGeom prst="rect">
            <a:avLst/>
          </a:prstGeom>
          <a:noFill/>
        </p:spPr>
        <p:txBody>
          <a:bodyPr wrap="square">
            <a:normAutofit/>
          </a:bodyPr>
          <a:lstStyle/>
          <a:p>
            <a:pPr algn="l">
              <a:buNone/>
            </a:pPr>
            <a:r>
              <a:rPr sz="1000" b="0">
                <a:solidFill>
                  <a:srgbClr val="56636C"/>
                </a:solidFill>
                <a:latin typeface="Aptos"/>
                <a:ea typeface="Aptos"/>
                <a:cs typeface="Aptos"/>
              </a:rPr>
              <a:t>Oct 2017-Sep 2018</a:t>
            </a:r>
          </a:p>
        </p:txBody>
      </p:sp>
      <p:sp>
        <p:nvSpPr>
          <p:cNvPr id="43" name="TextBox 42">
            <a:extLst>
              <a:ext uri="{FF2B5EF4-FFF2-40B4-BE49-F238E27FC236}">
                <a16:creationId xmlns:a16="http://schemas.microsoft.com/office/drawing/2014/main" id="{271CE0CF-5DB7-4988-AC68-28669ED11388}"/>
              </a:ext>
            </a:extLst>
          </p:cNvPr>
          <p:cNvSpPr>
            <a:spLocks noGrp="1"/>
          </p:cNvSpPr>
          <p:nvPr/>
        </p:nvSpPr>
        <p:spPr>
          <a:xfrm>
            <a:off x="8001000" y="4764502"/>
            <a:ext cx="2468880" cy="822960"/>
          </a:xfrm>
          <a:prstGeom prst="rect">
            <a:avLst/>
          </a:prstGeom>
          <a:noFill/>
        </p:spPr>
        <p:txBody>
          <a:bodyPr wrap="square">
            <a:noAutofit/>
          </a:bodyPr>
          <a:lstStyle/>
          <a:p>
            <a:pPr algn="l">
              <a:buNone/>
            </a:pPr>
            <a:r>
              <a:rPr sz="1000" b="1" dirty="0">
                <a:solidFill>
                  <a:srgbClr val="11202A"/>
                </a:solidFill>
                <a:latin typeface="Aptos"/>
                <a:ea typeface="Aptos"/>
                <a:cs typeface="Aptos"/>
              </a:rPr>
              <a:t>Annual volume is much higher in Year 2, but the monthly trend shows a plateau pattern. The dashboard removes September 2018 because it has only one order.</a:t>
            </a:r>
          </a:p>
        </p:txBody>
      </p:sp>
      <p:sp>
        <p:nvSpPr>
          <p:cNvPr id="44" name="TextBox 43">
            <a:extLst>
              <a:ext uri="{FF2B5EF4-FFF2-40B4-BE49-F238E27FC236}">
                <a16:creationId xmlns:a16="http://schemas.microsoft.com/office/drawing/2014/main" id="{98B5AE43-7C68-4566-B483-D7C8074A81D6}"/>
              </a:ext>
            </a:extLst>
          </p:cNvPr>
          <p:cNvSpPr>
            <a:spLocks noGrp="1"/>
          </p:cNvSpPr>
          <p:nvPr/>
        </p:nvSpPr>
        <p:spPr>
          <a:xfrm>
            <a:off x="566928" y="6519672"/>
            <a:ext cx="5029200" cy="164592"/>
          </a:xfrm>
          <a:prstGeom prst="rect">
            <a:avLst/>
          </a:prstGeom>
          <a:noFill/>
        </p:spPr>
        <p:txBody>
          <a:bodyPr wrap="square">
            <a:normAutofit/>
          </a:bodyPr>
          <a:lstStyle/>
          <a:p>
            <a:pPr algn="l">
              <a:buNone/>
            </a:pPr>
            <a:r>
              <a:rPr sz="650" b="0">
                <a:solidFill>
                  <a:srgbClr val="96968C"/>
                </a:solidFill>
                <a:latin typeface="Aptos"/>
                <a:ea typeface="Aptos"/>
                <a:cs typeface="Aptos"/>
              </a:rPr>
              <a:t>Source: Olist Brazilian E-Commerce dataset; DuckDB/dbt warehouse marts</a:t>
            </a:r>
          </a:p>
        </p:txBody>
      </p:sp>
      <p:sp>
        <p:nvSpPr>
          <p:cNvPr id="45" name="TextBox 44">
            <a:extLst>
              <a:ext uri="{FF2B5EF4-FFF2-40B4-BE49-F238E27FC236}">
                <a16:creationId xmlns:a16="http://schemas.microsoft.com/office/drawing/2014/main" id="{9BAD47E1-D44E-4C36-8BF5-AE07029D9D90}"/>
              </a:ext>
            </a:extLst>
          </p:cNvPr>
          <p:cNvSpPr>
            <a:spLocks noGrp="1"/>
          </p:cNvSpPr>
          <p:nvPr/>
        </p:nvSpPr>
        <p:spPr>
          <a:xfrm>
            <a:off x="11292840" y="6519672"/>
            <a:ext cx="320040" cy="164592"/>
          </a:xfrm>
          <a:prstGeom prst="rect">
            <a:avLst/>
          </a:prstGeom>
          <a:noFill/>
        </p:spPr>
        <p:txBody>
          <a:bodyPr wrap="square">
            <a:normAutofit/>
          </a:bodyPr>
          <a:lstStyle/>
          <a:p>
            <a:pPr algn="r">
              <a:buNone/>
            </a:pPr>
            <a:r>
              <a:rPr sz="650">
                <a:solidFill>
                  <a:srgbClr val="96968C"/>
                </a:solidFill>
                <a:latin typeface="Aptos"/>
                <a:ea typeface="Aptos"/>
                <a:cs typeface="Aptos"/>
              </a:rPr>
              <a:t>06</a:t>
            </a:r>
          </a:p>
        </p:txBody>
      </p:sp>
    </p:spTree>
    <p:extLst>
      <p:ext uri="{BB962C8B-B14F-4D97-AF65-F5344CB8AC3E}">
        <p14:creationId xmlns:p14="http://schemas.microsoft.com/office/powerpoint/2010/main" val="19052288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B416928-F53A-4719-B93C-4BB2B118ED8B}"/>
              </a:ext>
            </a:extLst>
          </p:cNvPr>
          <p:cNvSpPr>
            <a:spLocks noGrp="1"/>
          </p:cNvSpPr>
          <p:nvPr/>
        </p:nvSpPr>
        <p:spPr>
          <a:xfrm>
            <a:off x="566928" y="256032"/>
            <a:ext cx="2560320" cy="201168"/>
          </a:xfrm>
          <a:prstGeom prst="rect">
            <a:avLst/>
          </a:prstGeom>
          <a:noFill/>
        </p:spPr>
        <p:txBody>
          <a:bodyPr wrap="square">
            <a:normAutofit/>
          </a:bodyPr>
          <a:lstStyle/>
          <a:p>
            <a:pPr algn="l">
              <a:buNone/>
            </a:pPr>
            <a:r>
              <a:rPr sz="750" b="1">
                <a:solidFill>
                  <a:srgbClr val="CE8227"/>
                </a:solidFill>
                <a:latin typeface="Aptos"/>
                <a:ea typeface="Aptos"/>
                <a:cs typeface="Aptos"/>
              </a:rPr>
              <a:t>SELLER HEALTH</a:t>
            </a:r>
          </a:p>
        </p:txBody>
      </p:sp>
      <p:sp>
        <p:nvSpPr>
          <p:cNvPr id="3" name="TextBox 2">
            <a:extLst>
              <a:ext uri="{FF2B5EF4-FFF2-40B4-BE49-F238E27FC236}">
                <a16:creationId xmlns:a16="http://schemas.microsoft.com/office/drawing/2014/main" id="{9302C6E8-C429-453C-A8FA-C162C5EDA4B3}"/>
              </a:ext>
            </a:extLst>
          </p:cNvPr>
          <p:cNvSpPr>
            <a:spLocks noGrp="1"/>
          </p:cNvSpPr>
          <p:nvPr/>
        </p:nvSpPr>
        <p:spPr>
          <a:xfrm>
            <a:off x="566928" y="530352"/>
            <a:ext cx="7955279" cy="822960"/>
          </a:xfrm>
          <a:prstGeom prst="rect">
            <a:avLst/>
          </a:prstGeom>
          <a:noFill/>
        </p:spPr>
        <p:txBody>
          <a:bodyPr wrap="square">
            <a:normAutofit/>
          </a:bodyPr>
          <a:lstStyle/>
          <a:p>
            <a:pPr algn="l">
              <a:buNone/>
            </a:pPr>
            <a:r>
              <a:rPr sz="2400" b="1">
                <a:solidFill>
                  <a:srgbClr val="11202A"/>
                </a:solidFill>
                <a:latin typeface="Aptos"/>
                <a:ea typeface="Aptos"/>
                <a:cs typeface="Aptos"/>
              </a:rPr>
              <a:t>Seller health turns transaction data into four account-management actions.</a:t>
            </a:r>
          </a:p>
        </p:txBody>
      </p:sp>
      <p:sp>
        <p:nvSpPr>
          <p:cNvPr id="4" name="Rectangle 3">
            <a:extLst>
              <a:ext uri="{FF2B5EF4-FFF2-40B4-BE49-F238E27FC236}">
                <a16:creationId xmlns:a16="http://schemas.microsoft.com/office/drawing/2014/main" id="{1262B792-C1DA-4273-A8BA-111F2AB4E35D}"/>
              </a:ext>
            </a:extLst>
          </p:cNvPr>
          <p:cNvSpPr>
            <a:spLocks noGrp="1"/>
          </p:cNvSpPr>
          <p:nvPr/>
        </p:nvSpPr>
        <p:spPr>
          <a:xfrm>
            <a:off x="685800" y="1600200"/>
            <a:ext cx="2240280" cy="3063240"/>
          </a:xfrm>
          <a:prstGeom prst="rect">
            <a:avLst/>
          </a:prstGeom>
          <a:solidFill>
            <a:srgbClr val="FFFCF6"/>
          </a:solidFill>
          <a:ln w="8890">
            <a:solidFill>
              <a:srgbClr val="DBD3C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237D78-1458-4B2C-B0F3-2F6C3A3DF7B9}"/>
              </a:ext>
            </a:extLst>
          </p:cNvPr>
          <p:cNvSpPr>
            <a:spLocks noGrp="1"/>
          </p:cNvSpPr>
          <p:nvPr/>
        </p:nvSpPr>
        <p:spPr>
          <a:xfrm>
            <a:off x="868680" y="1828800"/>
            <a:ext cx="1645920" cy="228600"/>
          </a:xfrm>
          <a:prstGeom prst="rect">
            <a:avLst/>
          </a:prstGeom>
          <a:noFill/>
        </p:spPr>
        <p:txBody>
          <a:bodyPr wrap="square">
            <a:normAutofit/>
          </a:bodyPr>
          <a:lstStyle/>
          <a:p>
            <a:pPr algn="l">
              <a:buNone/>
            </a:pPr>
            <a:r>
              <a:rPr sz="1100" b="1">
                <a:solidFill>
                  <a:srgbClr val="1C6F82"/>
                </a:solidFill>
                <a:latin typeface="Aptos"/>
                <a:ea typeface="Aptos"/>
                <a:cs typeface="Aptos"/>
              </a:rPr>
              <a:t>Protect</a:t>
            </a:r>
          </a:p>
        </p:txBody>
      </p:sp>
      <p:sp>
        <p:nvSpPr>
          <p:cNvPr id="6" name="TextBox 5">
            <a:extLst>
              <a:ext uri="{FF2B5EF4-FFF2-40B4-BE49-F238E27FC236}">
                <a16:creationId xmlns:a16="http://schemas.microsoft.com/office/drawing/2014/main" id="{97BE0C38-40A3-4B37-BED6-CDC785467E42}"/>
              </a:ext>
            </a:extLst>
          </p:cNvPr>
          <p:cNvSpPr>
            <a:spLocks noGrp="1"/>
          </p:cNvSpPr>
          <p:nvPr/>
        </p:nvSpPr>
        <p:spPr>
          <a:xfrm>
            <a:off x="868680" y="2240280"/>
            <a:ext cx="1463040" cy="411480"/>
          </a:xfrm>
          <a:prstGeom prst="rect">
            <a:avLst/>
          </a:prstGeom>
          <a:noFill/>
        </p:spPr>
        <p:txBody>
          <a:bodyPr wrap="square">
            <a:normAutofit/>
          </a:bodyPr>
          <a:lstStyle/>
          <a:p>
            <a:pPr algn="l">
              <a:buNone/>
            </a:pPr>
            <a:r>
              <a:rPr sz="2400" b="1">
                <a:solidFill>
                  <a:srgbClr val="11202A"/>
                </a:solidFill>
                <a:latin typeface="Aptos"/>
                <a:ea typeface="Aptos"/>
                <a:cs typeface="Aptos"/>
              </a:rPr>
              <a:t>310</a:t>
            </a:r>
          </a:p>
        </p:txBody>
      </p:sp>
      <p:sp>
        <p:nvSpPr>
          <p:cNvPr id="7" name="TextBox 6">
            <a:extLst>
              <a:ext uri="{FF2B5EF4-FFF2-40B4-BE49-F238E27FC236}">
                <a16:creationId xmlns:a16="http://schemas.microsoft.com/office/drawing/2014/main" id="{C1C2EFDC-9F46-45D2-B736-26EBE2216AE2}"/>
              </a:ext>
            </a:extLst>
          </p:cNvPr>
          <p:cNvSpPr>
            <a:spLocks noGrp="1"/>
          </p:cNvSpPr>
          <p:nvPr/>
        </p:nvSpPr>
        <p:spPr>
          <a:xfrm>
            <a:off x="868680" y="2651760"/>
            <a:ext cx="1463040" cy="182880"/>
          </a:xfrm>
          <a:prstGeom prst="rect">
            <a:avLst/>
          </a:prstGeom>
          <a:noFill/>
        </p:spPr>
        <p:txBody>
          <a:bodyPr wrap="square">
            <a:noAutofit/>
          </a:bodyPr>
          <a:lstStyle/>
          <a:p>
            <a:pPr algn="l">
              <a:buNone/>
            </a:pPr>
            <a:r>
              <a:rPr sz="1100" b="1" dirty="0">
                <a:solidFill>
                  <a:srgbClr val="56636C"/>
                </a:solidFill>
                <a:latin typeface="Aptos"/>
                <a:ea typeface="Aptos"/>
                <a:cs typeface="Aptos"/>
              </a:rPr>
              <a:t>sellers</a:t>
            </a:r>
          </a:p>
        </p:txBody>
      </p:sp>
      <p:sp>
        <p:nvSpPr>
          <p:cNvPr id="8" name="TextBox 7">
            <a:extLst>
              <a:ext uri="{FF2B5EF4-FFF2-40B4-BE49-F238E27FC236}">
                <a16:creationId xmlns:a16="http://schemas.microsoft.com/office/drawing/2014/main" id="{366D5E84-4E30-48DE-9A49-DEB445B090D1}"/>
              </a:ext>
            </a:extLst>
          </p:cNvPr>
          <p:cNvSpPr>
            <a:spLocks noGrp="1"/>
          </p:cNvSpPr>
          <p:nvPr/>
        </p:nvSpPr>
        <p:spPr>
          <a:xfrm>
            <a:off x="868680" y="3063240"/>
            <a:ext cx="1645920" cy="274320"/>
          </a:xfrm>
          <a:prstGeom prst="rect">
            <a:avLst/>
          </a:prstGeom>
          <a:noFill/>
        </p:spPr>
        <p:txBody>
          <a:bodyPr wrap="square">
            <a:normAutofit/>
          </a:bodyPr>
          <a:lstStyle/>
          <a:p>
            <a:pPr algn="l">
              <a:buNone/>
            </a:pPr>
            <a:r>
              <a:rPr sz="1400" b="1">
                <a:solidFill>
                  <a:srgbClr val="1C6F82"/>
                </a:solidFill>
                <a:latin typeface="Aptos"/>
                <a:ea typeface="Aptos"/>
                <a:cs typeface="Aptos"/>
              </a:rPr>
              <a:t>$9.18M</a:t>
            </a:r>
          </a:p>
        </p:txBody>
      </p:sp>
      <p:sp>
        <p:nvSpPr>
          <p:cNvPr id="9" name="TextBox 8">
            <a:extLst>
              <a:ext uri="{FF2B5EF4-FFF2-40B4-BE49-F238E27FC236}">
                <a16:creationId xmlns:a16="http://schemas.microsoft.com/office/drawing/2014/main" id="{48C5B38C-2DCE-4178-A71F-9B81CD888BC4}"/>
              </a:ext>
            </a:extLst>
          </p:cNvPr>
          <p:cNvSpPr>
            <a:spLocks noGrp="1"/>
          </p:cNvSpPr>
          <p:nvPr/>
        </p:nvSpPr>
        <p:spPr>
          <a:xfrm>
            <a:off x="868680" y="3429000"/>
            <a:ext cx="1737360" cy="411480"/>
          </a:xfrm>
          <a:prstGeom prst="rect">
            <a:avLst/>
          </a:prstGeom>
          <a:noFill/>
        </p:spPr>
        <p:txBody>
          <a:bodyPr wrap="square">
            <a:noAutofit/>
          </a:bodyPr>
          <a:lstStyle/>
          <a:p>
            <a:pPr algn="l">
              <a:buNone/>
            </a:pPr>
            <a:r>
              <a:rPr sz="1100" b="0" dirty="0">
                <a:solidFill>
                  <a:srgbClr val="56636C"/>
                </a:solidFill>
                <a:latin typeface="Aptos"/>
                <a:ea typeface="Aptos"/>
                <a:cs typeface="Aptos"/>
              </a:rPr>
              <a:t>Avg review 4.02
Late delivery 6.9%</a:t>
            </a:r>
          </a:p>
        </p:txBody>
      </p:sp>
      <p:sp>
        <p:nvSpPr>
          <p:cNvPr id="10" name="Rectangle 9">
            <a:extLst>
              <a:ext uri="{FF2B5EF4-FFF2-40B4-BE49-F238E27FC236}">
                <a16:creationId xmlns:a16="http://schemas.microsoft.com/office/drawing/2014/main" id="{E16E6D39-B54B-45A9-A98D-F32D9C2286BC}"/>
              </a:ext>
            </a:extLst>
          </p:cNvPr>
          <p:cNvSpPr>
            <a:spLocks noGrp="1"/>
          </p:cNvSpPr>
          <p:nvPr/>
        </p:nvSpPr>
        <p:spPr>
          <a:xfrm>
            <a:off x="3474720" y="1600200"/>
            <a:ext cx="2240280" cy="3063240"/>
          </a:xfrm>
          <a:prstGeom prst="rect">
            <a:avLst/>
          </a:prstGeom>
          <a:solidFill>
            <a:srgbClr val="FFFCF6"/>
          </a:solidFill>
          <a:ln w="8890">
            <a:solidFill>
              <a:srgbClr val="DBD3C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5A9093E-9C9B-4474-BC55-0060D8BCCE02}"/>
              </a:ext>
            </a:extLst>
          </p:cNvPr>
          <p:cNvSpPr>
            <a:spLocks noGrp="1"/>
          </p:cNvSpPr>
          <p:nvPr/>
        </p:nvSpPr>
        <p:spPr>
          <a:xfrm>
            <a:off x="3657600" y="1828800"/>
            <a:ext cx="1645920" cy="228600"/>
          </a:xfrm>
          <a:prstGeom prst="rect">
            <a:avLst/>
          </a:prstGeom>
          <a:noFill/>
        </p:spPr>
        <p:txBody>
          <a:bodyPr wrap="square">
            <a:normAutofit/>
          </a:bodyPr>
          <a:lstStyle/>
          <a:p>
            <a:pPr algn="l">
              <a:buNone/>
            </a:pPr>
            <a:r>
              <a:rPr sz="1100" b="1">
                <a:solidFill>
                  <a:srgbClr val="478256"/>
                </a:solidFill>
                <a:latin typeface="Aptos"/>
                <a:ea typeface="Aptos"/>
                <a:cs typeface="Aptos"/>
              </a:rPr>
              <a:t>Grow</a:t>
            </a:r>
          </a:p>
        </p:txBody>
      </p:sp>
      <p:sp>
        <p:nvSpPr>
          <p:cNvPr id="12" name="TextBox 11">
            <a:extLst>
              <a:ext uri="{FF2B5EF4-FFF2-40B4-BE49-F238E27FC236}">
                <a16:creationId xmlns:a16="http://schemas.microsoft.com/office/drawing/2014/main" id="{63710891-D1EB-4D47-9D9C-F1549CC8F853}"/>
              </a:ext>
            </a:extLst>
          </p:cNvPr>
          <p:cNvSpPr>
            <a:spLocks noGrp="1"/>
          </p:cNvSpPr>
          <p:nvPr/>
        </p:nvSpPr>
        <p:spPr>
          <a:xfrm>
            <a:off x="3657600" y="2240280"/>
            <a:ext cx="1463040" cy="411480"/>
          </a:xfrm>
          <a:prstGeom prst="rect">
            <a:avLst/>
          </a:prstGeom>
          <a:noFill/>
        </p:spPr>
        <p:txBody>
          <a:bodyPr wrap="square">
            <a:normAutofit/>
          </a:bodyPr>
          <a:lstStyle/>
          <a:p>
            <a:pPr algn="l">
              <a:buNone/>
            </a:pPr>
            <a:r>
              <a:rPr sz="2400" b="1">
                <a:solidFill>
                  <a:srgbClr val="11202A"/>
                </a:solidFill>
                <a:latin typeface="Aptos"/>
                <a:ea typeface="Aptos"/>
                <a:cs typeface="Aptos"/>
              </a:rPr>
              <a:t>1,615</a:t>
            </a:r>
          </a:p>
        </p:txBody>
      </p:sp>
      <p:sp>
        <p:nvSpPr>
          <p:cNvPr id="13" name="TextBox 12">
            <a:extLst>
              <a:ext uri="{FF2B5EF4-FFF2-40B4-BE49-F238E27FC236}">
                <a16:creationId xmlns:a16="http://schemas.microsoft.com/office/drawing/2014/main" id="{02D7E503-5262-4190-BD5B-C394C9F41A18}"/>
              </a:ext>
            </a:extLst>
          </p:cNvPr>
          <p:cNvSpPr>
            <a:spLocks noGrp="1"/>
          </p:cNvSpPr>
          <p:nvPr/>
        </p:nvSpPr>
        <p:spPr>
          <a:xfrm>
            <a:off x="3657600" y="2651760"/>
            <a:ext cx="1463040" cy="182880"/>
          </a:xfrm>
          <a:prstGeom prst="rect">
            <a:avLst/>
          </a:prstGeom>
          <a:noFill/>
        </p:spPr>
        <p:txBody>
          <a:bodyPr wrap="square">
            <a:noAutofit/>
          </a:bodyPr>
          <a:lstStyle/>
          <a:p>
            <a:pPr algn="l">
              <a:buNone/>
            </a:pPr>
            <a:r>
              <a:rPr sz="1100" b="1">
                <a:solidFill>
                  <a:srgbClr val="56636C"/>
                </a:solidFill>
                <a:latin typeface="Aptos"/>
                <a:ea typeface="Aptos"/>
                <a:cs typeface="Aptos"/>
              </a:rPr>
              <a:t>sellers</a:t>
            </a:r>
          </a:p>
        </p:txBody>
      </p:sp>
      <p:sp>
        <p:nvSpPr>
          <p:cNvPr id="14" name="TextBox 13">
            <a:extLst>
              <a:ext uri="{FF2B5EF4-FFF2-40B4-BE49-F238E27FC236}">
                <a16:creationId xmlns:a16="http://schemas.microsoft.com/office/drawing/2014/main" id="{6919B887-93FE-40DB-853F-4A4F80D49546}"/>
              </a:ext>
            </a:extLst>
          </p:cNvPr>
          <p:cNvSpPr>
            <a:spLocks noGrp="1"/>
          </p:cNvSpPr>
          <p:nvPr/>
        </p:nvSpPr>
        <p:spPr>
          <a:xfrm>
            <a:off x="3657600" y="3063240"/>
            <a:ext cx="1645920" cy="274320"/>
          </a:xfrm>
          <a:prstGeom prst="rect">
            <a:avLst/>
          </a:prstGeom>
          <a:noFill/>
        </p:spPr>
        <p:txBody>
          <a:bodyPr wrap="square">
            <a:normAutofit/>
          </a:bodyPr>
          <a:lstStyle/>
          <a:p>
            <a:pPr algn="l">
              <a:buNone/>
            </a:pPr>
            <a:r>
              <a:rPr sz="1400" b="1">
                <a:solidFill>
                  <a:srgbClr val="478256"/>
                </a:solidFill>
                <a:latin typeface="Aptos"/>
                <a:ea typeface="Aptos"/>
                <a:cs typeface="Aptos"/>
              </a:rPr>
              <a:t>$3.59M</a:t>
            </a:r>
          </a:p>
        </p:txBody>
      </p:sp>
      <p:sp>
        <p:nvSpPr>
          <p:cNvPr id="15" name="TextBox 14">
            <a:extLst>
              <a:ext uri="{FF2B5EF4-FFF2-40B4-BE49-F238E27FC236}">
                <a16:creationId xmlns:a16="http://schemas.microsoft.com/office/drawing/2014/main" id="{1CEC9160-D7A7-4250-A118-D577B322E483}"/>
              </a:ext>
            </a:extLst>
          </p:cNvPr>
          <p:cNvSpPr>
            <a:spLocks noGrp="1"/>
          </p:cNvSpPr>
          <p:nvPr/>
        </p:nvSpPr>
        <p:spPr>
          <a:xfrm>
            <a:off x="3657600" y="3429000"/>
            <a:ext cx="1737360" cy="411480"/>
          </a:xfrm>
          <a:prstGeom prst="rect">
            <a:avLst/>
          </a:prstGeom>
          <a:noFill/>
        </p:spPr>
        <p:txBody>
          <a:bodyPr wrap="square">
            <a:noAutofit/>
          </a:bodyPr>
          <a:lstStyle/>
          <a:p>
            <a:pPr algn="l">
              <a:buNone/>
            </a:pPr>
            <a:r>
              <a:rPr sz="1100" b="0">
                <a:solidFill>
                  <a:srgbClr val="56636C"/>
                </a:solidFill>
                <a:latin typeface="Aptos"/>
                <a:ea typeface="Aptos"/>
                <a:cs typeface="Aptos"/>
              </a:rPr>
              <a:t>Avg review 4.30
Late delivery 3.5%</a:t>
            </a:r>
          </a:p>
        </p:txBody>
      </p:sp>
      <p:sp>
        <p:nvSpPr>
          <p:cNvPr id="16" name="Rectangle 15">
            <a:extLst>
              <a:ext uri="{FF2B5EF4-FFF2-40B4-BE49-F238E27FC236}">
                <a16:creationId xmlns:a16="http://schemas.microsoft.com/office/drawing/2014/main" id="{BCC37911-AB03-4ACC-AAA5-62C12631DF95}"/>
              </a:ext>
            </a:extLst>
          </p:cNvPr>
          <p:cNvSpPr>
            <a:spLocks noGrp="1"/>
          </p:cNvSpPr>
          <p:nvPr/>
        </p:nvSpPr>
        <p:spPr>
          <a:xfrm>
            <a:off x="6263640" y="1600200"/>
            <a:ext cx="2240280" cy="3063240"/>
          </a:xfrm>
          <a:prstGeom prst="rect">
            <a:avLst/>
          </a:prstGeom>
          <a:solidFill>
            <a:srgbClr val="FFFCF6"/>
          </a:solidFill>
          <a:ln w="8890">
            <a:solidFill>
              <a:srgbClr val="DBD3C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7072518-EF7B-4957-8877-2BC89AE9E083}"/>
              </a:ext>
            </a:extLst>
          </p:cNvPr>
          <p:cNvSpPr>
            <a:spLocks noGrp="1"/>
          </p:cNvSpPr>
          <p:nvPr/>
        </p:nvSpPr>
        <p:spPr>
          <a:xfrm>
            <a:off x="6446520" y="1828800"/>
            <a:ext cx="1645920" cy="228600"/>
          </a:xfrm>
          <a:prstGeom prst="rect">
            <a:avLst/>
          </a:prstGeom>
          <a:noFill/>
        </p:spPr>
        <p:txBody>
          <a:bodyPr wrap="square">
            <a:normAutofit/>
          </a:bodyPr>
          <a:lstStyle/>
          <a:p>
            <a:pPr algn="l">
              <a:buNone/>
            </a:pPr>
            <a:r>
              <a:rPr sz="1100" b="1">
                <a:solidFill>
                  <a:srgbClr val="BE533D"/>
                </a:solidFill>
                <a:latin typeface="Aptos"/>
                <a:ea typeface="Aptos"/>
                <a:cs typeface="Aptos"/>
              </a:rPr>
              <a:t>Fix Experience</a:t>
            </a:r>
          </a:p>
        </p:txBody>
      </p:sp>
      <p:sp>
        <p:nvSpPr>
          <p:cNvPr id="18" name="TextBox 17">
            <a:extLst>
              <a:ext uri="{FF2B5EF4-FFF2-40B4-BE49-F238E27FC236}">
                <a16:creationId xmlns:a16="http://schemas.microsoft.com/office/drawing/2014/main" id="{72C1BB43-3452-45AF-80B0-62614ECFBBE5}"/>
              </a:ext>
            </a:extLst>
          </p:cNvPr>
          <p:cNvSpPr>
            <a:spLocks noGrp="1"/>
          </p:cNvSpPr>
          <p:nvPr/>
        </p:nvSpPr>
        <p:spPr>
          <a:xfrm>
            <a:off x="6446520" y="2240280"/>
            <a:ext cx="1463040" cy="411480"/>
          </a:xfrm>
          <a:prstGeom prst="rect">
            <a:avLst/>
          </a:prstGeom>
          <a:noFill/>
        </p:spPr>
        <p:txBody>
          <a:bodyPr wrap="square">
            <a:normAutofit/>
          </a:bodyPr>
          <a:lstStyle/>
          <a:p>
            <a:pPr algn="l">
              <a:buNone/>
            </a:pPr>
            <a:r>
              <a:rPr sz="2400" b="1">
                <a:solidFill>
                  <a:srgbClr val="11202A"/>
                </a:solidFill>
                <a:latin typeface="Aptos"/>
                <a:ea typeface="Aptos"/>
                <a:cs typeface="Aptos"/>
              </a:rPr>
              <a:t>670</a:t>
            </a:r>
          </a:p>
        </p:txBody>
      </p:sp>
      <p:sp>
        <p:nvSpPr>
          <p:cNvPr id="19" name="TextBox 18">
            <a:extLst>
              <a:ext uri="{FF2B5EF4-FFF2-40B4-BE49-F238E27FC236}">
                <a16:creationId xmlns:a16="http://schemas.microsoft.com/office/drawing/2014/main" id="{2890AD5D-6A70-49BD-8A9A-AA3DB5B44AF0}"/>
              </a:ext>
            </a:extLst>
          </p:cNvPr>
          <p:cNvSpPr>
            <a:spLocks noGrp="1"/>
          </p:cNvSpPr>
          <p:nvPr/>
        </p:nvSpPr>
        <p:spPr>
          <a:xfrm>
            <a:off x="6446520" y="2651760"/>
            <a:ext cx="1463040" cy="182880"/>
          </a:xfrm>
          <a:prstGeom prst="rect">
            <a:avLst/>
          </a:prstGeom>
          <a:noFill/>
        </p:spPr>
        <p:txBody>
          <a:bodyPr wrap="square">
            <a:noAutofit/>
          </a:bodyPr>
          <a:lstStyle/>
          <a:p>
            <a:pPr algn="l">
              <a:buNone/>
            </a:pPr>
            <a:r>
              <a:rPr sz="1100" b="1">
                <a:solidFill>
                  <a:srgbClr val="56636C"/>
                </a:solidFill>
                <a:latin typeface="Aptos"/>
                <a:ea typeface="Aptos"/>
                <a:cs typeface="Aptos"/>
              </a:rPr>
              <a:t>sellers</a:t>
            </a:r>
          </a:p>
        </p:txBody>
      </p:sp>
      <p:sp>
        <p:nvSpPr>
          <p:cNvPr id="20" name="TextBox 19">
            <a:extLst>
              <a:ext uri="{FF2B5EF4-FFF2-40B4-BE49-F238E27FC236}">
                <a16:creationId xmlns:a16="http://schemas.microsoft.com/office/drawing/2014/main" id="{69F52926-50DC-49DB-AC8E-44D25B3C34EE}"/>
              </a:ext>
            </a:extLst>
          </p:cNvPr>
          <p:cNvSpPr>
            <a:spLocks noGrp="1"/>
          </p:cNvSpPr>
          <p:nvPr/>
        </p:nvSpPr>
        <p:spPr>
          <a:xfrm>
            <a:off x="6446520" y="3063240"/>
            <a:ext cx="1645920" cy="274320"/>
          </a:xfrm>
          <a:prstGeom prst="rect">
            <a:avLst/>
          </a:prstGeom>
          <a:noFill/>
        </p:spPr>
        <p:txBody>
          <a:bodyPr wrap="square">
            <a:normAutofit/>
          </a:bodyPr>
          <a:lstStyle/>
          <a:p>
            <a:pPr algn="l">
              <a:buNone/>
            </a:pPr>
            <a:r>
              <a:rPr sz="1400" b="1">
                <a:solidFill>
                  <a:srgbClr val="BE533D"/>
                </a:solidFill>
                <a:latin typeface="Aptos"/>
                <a:ea typeface="Aptos"/>
                <a:cs typeface="Aptos"/>
              </a:rPr>
              <a:t>$0.65M</a:t>
            </a:r>
          </a:p>
        </p:txBody>
      </p:sp>
      <p:sp>
        <p:nvSpPr>
          <p:cNvPr id="21" name="TextBox 20">
            <a:extLst>
              <a:ext uri="{FF2B5EF4-FFF2-40B4-BE49-F238E27FC236}">
                <a16:creationId xmlns:a16="http://schemas.microsoft.com/office/drawing/2014/main" id="{31BBE51C-D52D-4F6D-BB4B-965D9AF31B47}"/>
              </a:ext>
            </a:extLst>
          </p:cNvPr>
          <p:cNvSpPr>
            <a:spLocks noGrp="1"/>
          </p:cNvSpPr>
          <p:nvPr/>
        </p:nvSpPr>
        <p:spPr>
          <a:xfrm>
            <a:off x="6446520" y="3429000"/>
            <a:ext cx="1737360" cy="411480"/>
          </a:xfrm>
          <a:prstGeom prst="rect">
            <a:avLst/>
          </a:prstGeom>
          <a:noFill/>
        </p:spPr>
        <p:txBody>
          <a:bodyPr wrap="square">
            <a:noAutofit/>
          </a:bodyPr>
          <a:lstStyle/>
          <a:p>
            <a:pPr algn="l">
              <a:buNone/>
            </a:pPr>
            <a:r>
              <a:rPr sz="1100" b="0">
                <a:solidFill>
                  <a:srgbClr val="56636C"/>
                </a:solidFill>
                <a:latin typeface="Aptos"/>
                <a:ea typeface="Aptos"/>
                <a:cs typeface="Aptos"/>
              </a:rPr>
              <a:t>Avg review 2.58
Late delivery 22.6%</a:t>
            </a:r>
          </a:p>
        </p:txBody>
      </p:sp>
      <p:sp>
        <p:nvSpPr>
          <p:cNvPr id="22" name="Rectangle 21">
            <a:extLst>
              <a:ext uri="{FF2B5EF4-FFF2-40B4-BE49-F238E27FC236}">
                <a16:creationId xmlns:a16="http://schemas.microsoft.com/office/drawing/2014/main" id="{742C4AEA-CF94-486D-B06A-D835B53666A7}"/>
              </a:ext>
            </a:extLst>
          </p:cNvPr>
          <p:cNvSpPr>
            <a:spLocks noGrp="1"/>
          </p:cNvSpPr>
          <p:nvPr/>
        </p:nvSpPr>
        <p:spPr>
          <a:xfrm>
            <a:off x="9052559" y="1600200"/>
            <a:ext cx="2240280" cy="3063240"/>
          </a:xfrm>
          <a:prstGeom prst="rect">
            <a:avLst/>
          </a:prstGeom>
          <a:solidFill>
            <a:srgbClr val="FFFCF6"/>
          </a:solidFill>
          <a:ln w="8890">
            <a:solidFill>
              <a:srgbClr val="DBD3C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63AA3FB5-0A07-4749-AA3B-DFF5C34062EF}"/>
              </a:ext>
            </a:extLst>
          </p:cNvPr>
          <p:cNvSpPr>
            <a:spLocks noGrp="1"/>
          </p:cNvSpPr>
          <p:nvPr/>
        </p:nvSpPr>
        <p:spPr>
          <a:xfrm>
            <a:off x="9235439" y="1828800"/>
            <a:ext cx="1645920" cy="228600"/>
          </a:xfrm>
          <a:prstGeom prst="rect">
            <a:avLst/>
          </a:prstGeom>
          <a:noFill/>
        </p:spPr>
        <p:txBody>
          <a:bodyPr wrap="square">
            <a:normAutofit/>
          </a:bodyPr>
          <a:lstStyle/>
          <a:p>
            <a:pPr algn="l">
              <a:buNone/>
            </a:pPr>
            <a:r>
              <a:rPr sz="1100" b="1">
                <a:solidFill>
                  <a:srgbClr val="CE8227"/>
                </a:solidFill>
                <a:latin typeface="Aptos"/>
                <a:ea typeface="Aptos"/>
                <a:cs typeface="Aptos"/>
              </a:rPr>
              <a:t>Activate</a:t>
            </a:r>
          </a:p>
        </p:txBody>
      </p:sp>
      <p:sp>
        <p:nvSpPr>
          <p:cNvPr id="24" name="TextBox 23">
            <a:extLst>
              <a:ext uri="{FF2B5EF4-FFF2-40B4-BE49-F238E27FC236}">
                <a16:creationId xmlns:a16="http://schemas.microsoft.com/office/drawing/2014/main" id="{71E15C1F-76BB-447E-8269-E59FCE76C478}"/>
              </a:ext>
            </a:extLst>
          </p:cNvPr>
          <p:cNvSpPr>
            <a:spLocks noGrp="1"/>
          </p:cNvSpPr>
          <p:nvPr/>
        </p:nvSpPr>
        <p:spPr>
          <a:xfrm>
            <a:off x="9235439" y="2240280"/>
            <a:ext cx="1463040" cy="411480"/>
          </a:xfrm>
          <a:prstGeom prst="rect">
            <a:avLst/>
          </a:prstGeom>
          <a:noFill/>
        </p:spPr>
        <p:txBody>
          <a:bodyPr wrap="square">
            <a:normAutofit/>
          </a:bodyPr>
          <a:lstStyle/>
          <a:p>
            <a:pPr algn="l">
              <a:buNone/>
            </a:pPr>
            <a:r>
              <a:rPr sz="2400" b="1">
                <a:solidFill>
                  <a:srgbClr val="11202A"/>
                </a:solidFill>
                <a:latin typeface="Aptos"/>
                <a:ea typeface="Aptos"/>
                <a:cs typeface="Aptos"/>
              </a:rPr>
              <a:t>500</a:t>
            </a:r>
          </a:p>
        </p:txBody>
      </p:sp>
      <p:sp>
        <p:nvSpPr>
          <p:cNvPr id="25" name="TextBox 24">
            <a:extLst>
              <a:ext uri="{FF2B5EF4-FFF2-40B4-BE49-F238E27FC236}">
                <a16:creationId xmlns:a16="http://schemas.microsoft.com/office/drawing/2014/main" id="{B1102BB3-C6E2-46AB-890D-99DFDE778AFA}"/>
              </a:ext>
            </a:extLst>
          </p:cNvPr>
          <p:cNvSpPr>
            <a:spLocks noGrp="1"/>
          </p:cNvSpPr>
          <p:nvPr/>
        </p:nvSpPr>
        <p:spPr>
          <a:xfrm>
            <a:off x="9235439" y="2651760"/>
            <a:ext cx="1463040" cy="182880"/>
          </a:xfrm>
          <a:prstGeom prst="rect">
            <a:avLst/>
          </a:prstGeom>
          <a:noFill/>
        </p:spPr>
        <p:txBody>
          <a:bodyPr wrap="square">
            <a:noAutofit/>
          </a:bodyPr>
          <a:lstStyle/>
          <a:p>
            <a:pPr algn="l">
              <a:buNone/>
            </a:pPr>
            <a:r>
              <a:rPr sz="1100" b="1">
                <a:solidFill>
                  <a:srgbClr val="56636C"/>
                </a:solidFill>
                <a:latin typeface="Aptos"/>
                <a:ea typeface="Aptos"/>
                <a:cs typeface="Aptos"/>
              </a:rPr>
              <a:t>sellers</a:t>
            </a:r>
          </a:p>
        </p:txBody>
      </p:sp>
      <p:sp>
        <p:nvSpPr>
          <p:cNvPr id="26" name="TextBox 25">
            <a:extLst>
              <a:ext uri="{FF2B5EF4-FFF2-40B4-BE49-F238E27FC236}">
                <a16:creationId xmlns:a16="http://schemas.microsoft.com/office/drawing/2014/main" id="{A55A1206-1931-40F6-81D2-04EB4F9E3B6D}"/>
              </a:ext>
            </a:extLst>
          </p:cNvPr>
          <p:cNvSpPr>
            <a:spLocks noGrp="1"/>
          </p:cNvSpPr>
          <p:nvPr/>
        </p:nvSpPr>
        <p:spPr>
          <a:xfrm>
            <a:off x="9235439" y="3063240"/>
            <a:ext cx="1645920" cy="274320"/>
          </a:xfrm>
          <a:prstGeom prst="rect">
            <a:avLst/>
          </a:prstGeom>
          <a:noFill/>
        </p:spPr>
        <p:txBody>
          <a:bodyPr wrap="square">
            <a:normAutofit/>
          </a:bodyPr>
          <a:lstStyle/>
          <a:p>
            <a:pPr algn="l">
              <a:buNone/>
            </a:pPr>
            <a:r>
              <a:rPr sz="1400" b="1">
                <a:solidFill>
                  <a:srgbClr val="CE8227"/>
                </a:solidFill>
                <a:latin typeface="Aptos"/>
                <a:ea typeface="Aptos"/>
                <a:cs typeface="Aptos"/>
              </a:rPr>
              <a:t>$0.17M</a:t>
            </a:r>
          </a:p>
        </p:txBody>
      </p:sp>
      <p:sp>
        <p:nvSpPr>
          <p:cNvPr id="27" name="TextBox 26">
            <a:extLst>
              <a:ext uri="{FF2B5EF4-FFF2-40B4-BE49-F238E27FC236}">
                <a16:creationId xmlns:a16="http://schemas.microsoft.com/office/drawing/2014/main" id="{53560C73-29C9-4E37-A110-8688AAA3FC36}"/>
              </a:ext>
            </a:extLst>
          </p:cNvPr>
          <p:cNvSpPr>
            <a:spLocks noGrp="1"/>
          </p:cNvSpPr>
          <p:nvPr/>
        </p:nvSpPr>
        <p:spPr>
          <a:xfrm>
            <a:off x="9235439" y="3429000"/>
            <a:ext cx="1737360" cy="411480"/>
          </a:xfrm>
          <a:prstGeom prst="rect">
            <a:avLst/>
          </a:prstGeom>
          <a:noFill/>
        </p:spPr>
        <p:txBody>
          <a:bodyPr wrap="square">
            <a:noAutofit/>
          </a:bodyPr>
          <a:lstStyle/>
          <a:p>
            <a:pPr algn="l">
              <a:buNone/>
            </a:pPr>
            <a:r>
              <a:rPr sz="1100" b="0">
                <a:solidFill>
                  <a:srgbClr val="56636C"/>
                </a:solidFill>
                <a:latin typeface="Aptos"/>
                <a:ea typeface="Aptos"/>
                <a:cs typeface="Aptos"/>
              </a:rPr>
              <a:t>Avg review 4.75
Late delivery 0.2%</a:t>
            </a:r>
          </a:p>
        </p:txBody>
      </p:sp>
      <p:sp>
        <p:nvSpPr>
          <p:cNvPr id="28" name="TextBox 27">
            <a:extLst>
              <a:ext uri="{FF2B5EF4-FFF2-40B4-BE49-F238E27FC236}">
                <a16:creationId xmlns:a16="http://schemas.microsoft.com/office/drawing/2014/main" id="{0CA46DB8-92EC-4D24-B9F0-2319215C291F}"/>
              </a:ext>
            </a:extLst>
          </p:cNvPr>
          <p:cNvSpPr>
            <a:spLocks noGrp="1"/>
          </p:cNvSpPr>
          <p:nvPr/>
        </p:nvSpPr>
        <p:spPr>
          <a:xfrm>
            <a:off x="777240" y="5230368"/>
            <a:ext cx="9144000" cy="411480"/>
          </a:xfrm>
          <a:prstGeom prst="rect">
            <a:avLst/>
          </a:prstGeom>
          <a:noFill/>
        </p:spPr>
        <p:txBody>
          <a:bodyPr wrap="square">
            <a:normAutofit/>
          </a:bodyPr>
          <a:lstStyle/>
          <a:p>
            <a:pPr algn="l">
              <a:buNone/>
            </a:pPr>
            <a:r>
              <a:rPr sz="1400" b="1">
                <a:solidFill>
                  <a:srgbClr val="11202A"/>
                </a:solidFill>
                <a:latin typeface="Aptos"/>
                <a:ea typeface="Aptos"/>
                <a:cs typeface="Aptos"/>
              </a:rPr>
              <a:t>Action logic: protect key accounts, scale healthy sellers, repair poor experiences, and convert one-month sellers into repeat sellers.</a:t>
            </a:r>
          </a:p>
        </p:txBody>
      </p:sp>
      <p:sp>
        <p:nvSpPr>
          <p:cNvPr id="29" name="TextBox 28">
            <a:extLst>
              <a:ext uri="{FF2B5EF4-FFF2-40B4-BE49-F238E27FC236}">
                <a16:creationId xmlns:a16="http://schemas.microsoft.com/office/drawing/2014/main" id="{915357CD-DAD6-4CD6-A9C0-3F97190C9B66}"/>
              </a:ext>
            </a:extLst>
          </p:cNvPr>
          <p:cNvSpPr>
            <a:spLocks noGrp="1"/>
          </p:cNvSpPr>
          <p:nvPr/>
        </p:nvSpPr>
        <p:spPr>
          <a:xfrm>
            <a:off x="566928" y="6519672"/>
            <a:ext cx="5029200" cy="164592"/>
          </a:xfrm>
          <a:prstGeom prst="rect">
            <a:avLst/>
          </a:prstGeom>
          <a:noFill/>
        </p:spPr>
        <p:txBody>
          <a:bodyPr wrap="square">
            <a:normAutofit/>
          </a:bodyPr>
          <a:lstStyle/>
          <a:p>
            <a:pPr algn="l">
              <a:buNone/>
            </a:pPr>
            <a:r>
              <a:rPr sz="650" b="0">
                <a:solidFill>
                  <a:srgbClr val="96968C"/>
                </a:solidFill>
                <a:latin typeface="Aptos"/>
                <a:ea typeface="Aptos"/>
                <a:cs typeface="Aptos"/>
              </a:rPr>
              <a:t>Source: Olist Brazilian E-Commerce dataset; DuckDB/dbt warehouse marts</a:t>
            </a:r>
          </a:p>
        </p:txBody>
      </p:sp>
      <p:sp>
        <p:nvSpPr>
          <p:cNvPr id="30" name="TextBox 29">
            <a:extLst>
              <a:ext uri="{FF2B5EF4-FFF2-40B4-BE49-F238E27FC236}">
                <a16:creationId xmlns:a16="http://schemas.microsoft.com/office/drawing/2014/main" id="{D806C64B-781D-45E3-A032-F9388D877D17}"/>
              </a:ext>
            </a:extLst>
          </p:cNvPr>
          <p:cNvSpPr>
            <a:spLocks noGrp="1"/>
          </p:cNvSpPr>
          <p:nvPr/>
        </p:nvSpPr>
        <p:spPr>
          <a:xfrm>
            <a:off x="11292840" y="6519672"/>
            <a:ext cx="320040" cy="164592"/>
          </a:xfrm>
          <a:prstGeom prst="rect">
            <a:avLst/>
          </a:prstGeom>
          <a:noFill/>
        </p:spPr>
        <p:txBody>
          <a:bodyPr wrap="square">
            <a:normAutofit/>
          </a:bodyPr>
          <a:lstStyle/>
          <a:p>
            <a:pPr algn="r">
              <a:buNone/>
            </a:pPr>
            <a:r>
              <a:rPr sz="650">
                <a:solidFill>
                  <a:srgbClr val="96968C"/>
                </a:solidFill>
                <a:latin typeface="Aptos"/>
                <a:ea typeface="Aptos"/>
                <a:cs typeface="Aptos"/>
              </a:rPr>
              <a:t>07</a:t>
            </a:r>
          </a:p>
        </p:txBody>
      </p:sp>
    </p:spTree>
    <p:extLst>
      <p:ext uri="{BB962C8B-B14F-4D97-AF65-F5344CB8AC3E}">
        <p14:creationId xmlns:p14="http://schemas.microsoft.com/office/powerpoint/2010/main" val="554342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DB6E6A-3382-49A9-83ED-33EA56CC28FE}"/>
              </a:ext>
            </a:extLst>
          </p:cNvPr>
          <p:cNvSpPr>
            <a:spLocks noGrp="1"/>
          </p:cNvSpPr>
          <p:nvPr/>
        </p:nvSpPr>
        <p:spPr>
          <a:xfrm>
            <a:off x="566928" y="256032"/>
            <a:ext cx="2560320" cy="201168"/>
          </a:xfrm>
          <a:prstGeom prst="rect">
            <a:avLst/>
          </a:prstGeom>
          <a:noFill/>
        </p:spPr>
        <p:txBody>
          <a:bodyPr wrap="square">
            <a:normAutofit/>
          </a:bodyPr>
          <a:lstStyle/>
          <a:p>
            <a:pPr algn="l">
              <a:buNone/>
            </a:pPr>
            <a:r>
              <a:rPr sz="750" b="1">
                <a:solidFill>
                  <a:srgbClr val="CE8227"/>
                </a:solidFill>
                <a:latin typeface="Aptos"/>
                <a:ea typeface="Aptos"/>
                <a:cs typeface="Aptos"/>
              </a:rPr>
              <a:t>CONCENTRATION RISK</a:t>
            </a:r>
          </a:p>
        </p:txBody>
      </p:sp>
      <p:sp>
        <p:nvSpPr>
          <p:cNvPr id="3" name="TextBox 2">
            <a:extLst>
              <a:ext uri="{FF2B5EF4-FFF2-40B4-BE49-F238E27FC236}">
                <a16:creationId xmlns:a16="http://schemas.microsoft.com/office/drawing/2014/main" id="{3159F443-C6CB-4350-8541-B908DB98EA09}"/>
              </a:ext>
            </a:extLst>
          </p:cNvPr>
          <p:cNvSpPr>
            <a:spLocks noGrp="1"/>
          </p:cNvSpPr>
          <p:nvPr/>
        </p:nvSpPr>
        <p:spPr>
          <a:xfrm>
            <a:off x="566928" y="530352"/>
            <a:ext cx="7955279" cy="822960"/>
          </a:xfrm>
          <a:prstGeom prst="rect">
            <a:avLst/>
          </a:prstGeom>
          <a:noFill/>
        </p:spPr>
        <p:txBody>
          <a:bodyPr wrap="square">
            <a:normAutofit/>
          </a:bodyPr>
          <a:lstStyle/>
          <a:p>
            <a:pPr algn="l">
              <a:buNone/>
            </a:pPr>
            <a:r>
              <a:rPr sz="2400" b="1">
                <a:solidFill>
                  <a:srgbClr val="11202A"/>
                </a:solidFill>
                <a:latin typeface="Aptos"/>
                <a:ea typeface="Aptos"/>
                <a:cs typeface="Aptos"/>
              </a:rPr>
              <a:t>A small seller group drives a large share of marketplace-channel activity.</a:t>
            </a:r>
          </a:p>
        </p:txBody>
      </p:sp>
      <p:sp>
        <p:nvSpPr>
          <p:cNvPr id="4" name="TextBox 3">
            <a:extLst>
              <a:ext uri="{FF2B5EF4-FFF2-40B4-BE49-F238E27FC236}">
                <a16:creationId xmlns:a16="http://schemas.microsoft.com/office/drawing/2014/main" id="{FC283502-24CA-4831-9F7C-E4DB56EAA86F}"/>
              </a:ext>
            </a:extLst>
          </p:cNvPr>
          <p:cNvSpPr>
            <a:spLocks noGrp="1"/>
          </p:cNvSpPr>
          <p:nvPr/>
        </p:nvSpPr>
        <p:spPr>
          <a:xfrm>
            <a:off x="914400" y="1737360"/>
            <a:ext cx="1554480" cy="320040"/>
          </a:xfrm>
          <a:prstGeom prst="rect">
            <a:avLst/>
          </a:prstGeom>
          <a:noFill/>
        </p:spPr>
        <p:txBody>
          <a:bodyPr wrap="square">
            <a:normAutofit/>
          </a:bodyPr>
          <a:lstStyle/>
          <a:p>
            <a:pPr algn="l">
              <a:buNone/>
            </a:pPr>
            <a:r>
              <a:rPr sz="2200" b="1">
                <a:solidFill>
                  <a:srgbClr val="1C6F82"/>
                </a:solidFill>
                <a:latin typeface="Aptos"/>
                <a:ea typeface="Aptos"/>
                <a:cs typeface="Aptos"/>
              </a:rPr>
              <a:t>13.1%</a:t>
            </a:r>
          </a:p>
        </p:txBody>
      </p:sp>
      <p:sp>
        <p:nvSpPr>
          <p:cNvPr id="5" name="TextBox 4">
            <a:extLst>
              <a:ext uri="{FF2B5EF4-FFF2-40B4-BE49-F238E27FC236}">
                <a16:creationId xmlns:a16="http://schemas.microsoft.com/office/drawing/2014/main" id="{975FD308-CBEA-4D4C-A34C-C9CAD60F4E4A}"/>
              </a:ext>
            </a:extLst>
          </p:cNvPr>
          <p:cNvSpPr>
            <a:spLocks noGrp="1"/>
          </p:cNvSpPr>
          <p:nvPr/>
        </p:nvSpPr>
        <p:spPr>
          <a:xfrm>
            <a:off x="914400" y="2084831"/>
            <a:ext cx="1645920" cy="228600"/>
          </a:xfrm>
          <a:prstGeom prst="rect">
            <a:avLst/>
          </a:prstGeom>
          <a:noFill/>
        </p:spPr>
        <p:txBody>
          <a:bodyPr wrap="square">
            <a:noAutofit/>
          </a:bodyPr>
          <a:lstStyle/>
          <a:p>
            <a:pPr algn="l">
              <a:buNone/>
            </a:pPr>
            <a:r>
              <a:rPr sz="1200" b="1" dirty="0">
                <a:solidFill>
                  <a:srgbClr val="1C6F82"/>
                </a:solidFill>
                <a:latin typeface="Aptos"/>
                <a:ea typeface="Aptos"/>
                <a:cs typeface="Aptos"/>
              </a:rPr>
              <a:t>top 10 sellers</a:t>
            </a:r>
          </a:p>
        </p:txBody>
      </p:sp>
      <p:sp>
        <p:nvSpPr>
          <p:cNvPr id="6" name="TextBox 5">
            <a:extLst>
              <a:ext uri="{FF2B5EF4-FFF2-40B4-BE49-F238E27FC236}">
                <a16:creationId xmlns:a16="http://schemas.microsoft.com/office/drawing/2014/main" id="{02BE5C4A-4B4C-4886-B798-A5E8E09037E8}"/>
              </a:ext>
            </a:extLst>
          </p:cNvPr>
          <p:cNvSpPr>
            <a:spLocks noGrp="1"/>
          </p:cNvSpPr>
          <p:nvPr/>
        </p:nvSpPr>
        <p:spPr>
          <a:xfrm>
            <a:off x="914400" y="2331720"/>
            <a:ext cx="1828800" cy="320040"/>
          </a:xfrm>
          <a:prstGeom prst="rect">
            <a:avLst/>
          </a:prstGeom>
          <a:noFill/>
        </p:spPr>
        <p:txBody>
          <a:bodyPr wrap="square">
            <a:normAutofit/>
          </a:bodyPr>
          <a:lstStyle/>
          <a:p>
            <a:pPr algn="l">
              <a:buNone/>
            </a:pPr>
            <a:r>
              <a:rPr sz="1100" b="0" dirty="0">
                <a:solidFill>
                  <a:srgbClr val="56636C"/>
                </a:solidFill>
                <a:latin typeface="Aptos"/>
                <a:ea typeface="Aptos"/>
                <a:cs typeface="Aptos"/>
              </a:rPr>
              <a:t>cumulative GMV share</a:t>
            </a:r>
          </a:p>
        </p:txBody>
      </p:sp>
      <p:sp>
        <p:nvSpPr>
          <p:cNvPr id="7" name="Rectangle 6">
            <a:extLst>
              <a:ext uri="{FF2B5EF4-FFF2-40B4-BE49-F238E27FC236}">
                <a16:creationId xmlns:a16="http://schemas.microsoft.com/office/drawing/2014/main" id="{735CC931-8942-4C7D-B690-6B18F35B5FDC}"/>
              </a:ext>
            </a:extLst>
          </p:cNvPr>
          <p:cNvSpPr>
            <a:spLocks noGrp="1"/>
          </p:cNvSpPr>
          <p:nvPr/>
        </p:nvSpPr>
        <p:spPr>
          <a:xfrm>
            <a:off x="914400" y="2971800"/>
            <a:ext cx="1965960" cy="256032"/>
          </a:xfrm>
          <a:prstGeom prst="rect">
            <a:avLst/>
          </a:prstGeom>
          <a:solidFill>
            <a:srgbClr val="E8E2D7"/>
          </a:solidFill>
          <a:ln w="8890">
            <a:solidFill>
              <a:srgbClr val="E8E2D7"/>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E1120E12-99D8-41AC-A14C-0BFC6DE7024E}"/>
              </a:ext>
            </a:extLst>
          </p:cNvPr>
          <p:cNvSpPr>
            <a:spLocks noGrp="1"/>
          </p:cNvSpPr>
          <p:nvPr/>
        </p:nvSpPr>
        <p:spPr>
          <a:xfrm>
            <a:off x="914400" y="2971800"/>
            <a:ext cx="258515" cy="256032"/>
          </a:xfrm>
          <a:prstGeom prst="rect">
            <a:avLst/>
          </a:prstGeom>
          <a:solidFill>
            <a:srgbClr val="1C6F82"/>
          </a:solidFill>
          <a:ln w="8890">
            <a:solidFill>
              <a:srgbClr val="1C6F8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61E1FD-235C-4DC7-BE76-AFA8F81C7D86}"/>
              </a:ext>
            </a:extLst>
          </p:cNvPr>
          <p:cNvSpPr>
            <a:spLocks noGrp="1"/>
          </p:cNvSpPr>
          <p:nvPr/>
        </p:nvSpPr>
        <p:spPr>
          <a:xfrm>
            <a:off x="3840480" y="1737360"/>
            <a:ext cx="1554480" cy="320040"/>
          </a:xfrm>
          <a:prstGeom prst="rect">
            <a:avLst/>
          </a:prstGeom>
          <a:noFill/>
        </p:spPr>
        <p:txBody>
          <a:bodyPr wrap="square">
            <a:normAutofit/>
          </a:bodyPr>
          <a:lstStyle/>
          <a:p>
            <a:pPr algn="l">
              <a:buNone/>
            </a:pPr>
            <a:r>
              <a:rPr sz="2200" b="1">
                <a:solidFill>
                  <a:srgbClr val="1C6F82"/>
                </a:solidFill>
                <a:latin typeface="Aptos"/>
                <a:ea typeface="Aptos"/>
                <a:cs typeface="Aptos"/>
              </a:rPr>
              <a:t>45.1%</a:t>
            </a:r>
          </a:p>
        </p:txBody>
      </p:sp>
      <p:sp>
        <p:nvSpPr>
          <p:cNvPr id="10" name="TextBox 9">
            <a:extLst>
              <a:ext uri="{FF2B5EF4-FFF2-40B4-BE49-F238E27FC236}">
                <a16:creationId xmlns:a16="http://schemas.microsoft.com/office/drawing/2014/main" id="{7ECF300C-4F81-4C51-B3B9-52413F1CD89C}"/>
              </a:ext>
            </a:extLst>
          </p:cNvPr>
          <p:cNvSpPr>
            <a:spLocks noGrp="1"/>
          </p:cNvSpPr>
          <p:nvPr/>
        </p:nvSpPr>
        <p:spPr>
          <a:xfrm>
            <a:off x="3840480" y="2084831"/>
            <a:ext cx="1645920" cy="228600"/>
          </a:xfrm>
          <a:prstGeom prst="rect">
            <a:avLst/>
          </a:prstGeom>
          <a:noFill/>
        </p:spPr>
        <p:txBody>
          <a:bodyPr wrap="square">
            <a:noAutofit/>
          </a:bodyPr>
          <a:lstStyle/>
          <a:p>
            <a:pPr algn="l">
              <a:buNone/>
            </a:pPr>
            <a:r>
              <a:rPr sz="1200" b="1">
                <a:solidFill>
                  <a:srgbClr val="1C6F82"/>
                </a:solidFill>
                <a:latin typeface="Aptos"/>
                <a:ea typeface="Aptos"/>
                <a:cs typeface="Aptos"/>
              </a:rPr>
              <a:t>top 100 sellers</a:t>
            </a:r>
          </a:p>
        </p:txBody>
      </p:sp>
      <p:sp>
        <p:nvSpPr>
          <p:cNvPr id="11" name="TextBox 10">
            <a:extLst>
              <a:ext uri="{FF2B5EF4-FFF2-40B4-BE49-F238E27FC236}">
                <a16:creationId xmlns:a16="http://schemas.microsoft.com/office/drawing/2014/main" id="{1403D818-3618-4453-A835-6D479DFF48FB}"/>
              </a:ext>
            </a:extLst>
          </p:cNvPr>
          <p:cNvSpPr>
            <a:spLocks noGrp="1"/>
          </p:cNvSpPr>
          <p:nvPr/>
        </p:nvSpPr>
        <p:spPr>
          <a:xfrm>
            <a:off x="3840480" y="2331720"/>
            <a:ext cx="1828800" cy="320040"/>
          </a:xfrm>
          <a:prstGeom prst="rect">
            <a:avLst/>
          </a:prstGeom>
          <a:noFill/>
        </p:spPr>
        <p:txBody>
          <a:bodyPr wrap="square">
            <a:normAutofit/>
          </a:bodyPr>
          <a:lstStyle/>
          <a:p>
            <a:pPr algn="l">
              <a:buNone/>
            </a:pPr>
            <a:r>
              <a:rPr sz="1100" b="0">
                <a:solidFill>
                  <a:srgbClr val="56636C"/>
                </a:solidFill>
                <a:latin typeface="Aptos"/>
                <a:ea typeface="Aptos"/>
                <a:cs typeface="Aptos"/>
              </a:rPr>
              <a:t>cumulative GMV share</a:t>
            </a:r>
          </a:p>
        </p:txBody>
      </p:sp>
      <p:sp>
        <p:nvSpPr>
          <p:cNvPr id="12" name="Rectangle 11">
            <a:extLst>
              <a:ext uri="{FF2B5EF4-FFF2-40B4-BE49-F238E27FC236}">
                <a16:creationId xmlns:a16="http://schemas.microsoft.com/office/drawing/2014/main" id="{03341B5F-E936-40BC-A803-B9DF32B4A00B}"/>
              </a:ext>
            </a:extLst>
          </p:cNvPr>
          <p:cNvSpPr>
            <a:spLocks noGrp="1"/>
          </p:cNvSpPr>
          <p:nvPr/>
        </p:nvSpPr>
        <p:spPr>
          <a:xfrm>
            <a:off x="3840480" y="2971800"/>
            <a:ext cx="1965960" cy="256032"/>
          </a:xfrm>
          <a:prstGeom prst="rect">
            <a:avLst/>
          </a:prstGeom>
          <a:solidFill>
            <a:srgbClr val="E8E2D7"/>
          </a:solidFill>
          <a:ln w="8890">
            <a:solidFill>
              <a:srgbClr val="E8E2D7"/>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Rectangle 12">
            <a:extLst>
              <a:ext uri="{FF2B5EF4-FFF2-40B4-BE49-F238E27FC236}">
                <a16:creationId xmlns:a16="http://schemas.microsoft.com/office/drawing/2014/main" id="{55100107-59AA-45C9-B634-25813D99AE67}"/>
              </a:ext>
            </a:extLst>
          </p:cNvPr>
          <p:cNvSpPr>
            <a:spLocks noGrp="1"/>
          </p:cNvSpPr>
          <p:nvPr/>
        </p:nvSpPr>
        <p:spPr>
          <a:xfrm>
            <a:off x="3840480" y="2971800"/>
            <a:ext cx="885889" cy="256032"/>
          </a:xfrm>
          <a:prstGeom prst="rect">
            <a:avLst/>
          </a:prstGeom>
          <a:solidFill>
            <a:srgbClr val="1C6F82"/>
          </a:solidFill>
          <a:ln w="8890">
            <a:solidFill>
              <a:srgbClr val="1C6F8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F41CE260-27BC-4335-A892-D42E9266ADBA}"/>
              </a:ext>
            </a:extLst>
          </p:cNvPr>
          <p:cNvSpPr>
            <a:spLocks noGrp="1"/>
          </p:cNvSpPr>
          <p:nvPr/>
        </p:nvSpPr>
        <p:spPr>
          <a:xfrm>
            <a:off x="6766560" y="1737360"/>
            <a:ext cx="1554480" cy="320040"/>
          </a:xfrm>
          <a:prstGeom prst="rect">
            <a:avLst/>
          </a:prstGeom>
          <a:noFill/>
        </p:spPr>
        <p:txBody>
          <a:bodyPr wrap="square">
            <a:normAutofit/>
          </a:bodyPr>
          <a:lstStyle/>
          <a:p>
            <a:pPr algn="l">
              <a:buNone/>
            </a:pPr>
            <a:r>
              <a:rPr sz="2200" b="1">
                <a:solidFill>
                  <a:srgbClr val="1C6F82"/>
                </a:solidFill>
                <a:latin typeface="Aptos"/>
                <a:ea typeface="Aptos"/>
                <a:cs typeface="Aptos"/>
              </a:rPr>
              <a:t>78.2%</a:t>
            </a:r>
          </a:p>
        </p:txBody>
      </p:sp>
      <p:sp>
        <p:nvSpPr>
          <p:cNvPr id="15" name="TextBox 14">
            <a:extLst>
              <a:ext uri="{FF2B5EF4-FFF2-40B4-BE49-F238E27FC236}">
                <a16:creationId xmlns:a16="http://schemas.microsoft.com/office/drawing/2014/main" id="{FCE6B91B-2C55-47CC-8F1C-D43A23300B3D}"/>
              </a:ext>
            </a:extLst>
          </p:cNvPr>
          <p:cNvSpPr>
            <a:spLocks noGrp="1"/>
          </p:cNvSpPr>
          <p:nvPr/>
        </p:nvSpPr>
        <p:spPr>
          <a:xfrm>
            <a:off x="6766560" y="2084831"/>
            <a:ext cx="1645920" cy="228600"/>
          </a:xfrm>
          <a:prstGeom prst="rect">
            <a:avLst/>
          </a:prstGeom>
          <a:noFill/>
        </p:spPr>
        <p:txBody>
          <a:bodyPr wrap="square">
            <a:noAutofit/>
          </a:bodyPr>
          <a:lstStyle/>
          <a:p>
            <a:pPr algn="l">
              <a:buNone/>
            </a:pPr>
            <a:r>
              <a:rPr sz="1200" b="1">
                <a:solidFill>
                  <a:srgbClr val="1C6F82"/>
                </a:solidFill>
                <a:latin typeface="Aptos"/>
                <a:ea typeface="Aptos"/>
                <a:cs typeface="Aptos"/>
              </a:rPr>
              <a:t>top 500 sellers</a:t>
            </a:r>
          </a:p>
        </p:txBody>
      </p:sp>
      <p:sp>
        <p:nvSpPr>
          <p:cNvPr id="16" name="TextBox 15">
            <a:extLst>
              <a:ext uri="{FF2B5EF4-FFF2-40B4-BE49-F238E27FC236}">
                <a16:creationId xmlns:a16="http://schemas.microsoft.com/office/drawing/2014/main" id="{B42D2436-F801-456A-AE4F-7E8D811C8B51}"/>
              </a:ext>
            </a:extLst>
          </p:cNvPr>
          <p:cNvSpPr>
            <a:spLocks noGrp="1"/>
          </p:cNvSpPr>
          <p:nvPr/>
        </p:nvSpPr>
        <p:spPr>
          <a:xfrm>
            <a:off x="6766560" y="2331720"/>
            <a:ext cx="1828800" cy="320040"/>
          </a:xfrm>
          <a:prstGeom prst="rect">
            <a:avLst/>
          </a:prstGeom>
          <a:noFill/>
        </p:spPr>
        <p:txBody>
          <a:bodyPr wrap="square">
            <a:normAutofit/>
          </a:bodyPr>
          <a:lstStyle/>
          <a:p>
            <a:pPr algn="l">
              <a:buNone/>
            </a:pPr>
            <a:r>
              <a:rPr sz="1100" b="0">
                <a:solidFill>
                  <a:srgbClr val="56636C"/>
                </a:solidFill>
                <a:latin typeface="Aptos"/>
                <a:ea typeface="Aptos"/>
                <a:cs typeface="Aptos"/>
              </a:rPr>
              <a:t>cumulative GMV share</a:t>
            </a:r>
          </a:p>
        </p:txBody>
      </p:sp>
      <p:sp>
        <p:nvSpPr>
          <p:cNvPr id="17" name="Rectangle 16">
            <a:extLst>
              <a:ext uri="{FF2B5EF4-FFF2-40B4-BE49-F238E27FC236}">
                <a16:creationId xmlns:a16="http://schemas.microsoft.com/office/drawing/2014/main" id="{55E80408-ED7B-42DB-8BDE-E173AF05C42F}"/>
              </a:ext>
            </a:extLst>
          </p:cNvPr>
          <p:cNvSpPr>
            <a:spLocks noGrp="1"/>
          </p:cNvSpPr>
          <p:nvPr/>
        </p:nvSpPr>
        <p:spPr>
          <a:xfrm>
            <a:off x="6766560" y="2971800"/>
            <a:ext cx="1965960" cy="256032"/>
          </a:xfrm>
          <a:prstGeom prst="rect">
            <a:avLst/>
          </a:prstGeom>
          <a:solidFill>
            <a:srgbClr val="E8E2D7"/>
          </a:solidFill>
          <a:ln w="8890">
            <a:solidFill>
              <a:srgbClr val="E8E2D7"/>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BE583425-437F-4BD7-BB3F-EF4DA207646C}"/>
              </a:ext>
            </a:extLst>
          </p:cNvPr>
          <p:cNvSpPr>
            <a:spLocks noGrp="1"/>
          </p:cNvSpPr>
          <p:nvPr/>
        </p:nvSpPr>
        <p:spPr>
          <a:xfrm>
            <a:off x="6766560" y="2971800"/>
            <a:ext cx="1537372" cy="256032"/>
          </a:xfrm>
          <a:prstGeom prst="rect">
            <a:avLst/>
          </a:prstGeom>
          <a:solidFill>
            <a:srgbClr val="1C6F82"/>
          </a:solidFill>
          <a:ln w="8890">
            <a:solidFill>
              <a:srgbClr val="1C6F8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F3D713E-936A-4DAF-92F0-B9C73B2854BB}"/>
              </a:ext>
            </a:extLst>
          </p:cNvPr>
          <p:cNvSpPr>
            <a:spLocks noGrp="1"/>
          </p:cNvSpPr>
          <p:nvPr/>
        </p:nvSpPr>
        <p:spPr>
          <a:xfrm>
            <a:off x="822960" y="4617720"/>
            <a:ext cx="8138160" cy="685800"/>
          </a:xfrm>
          <a:prstGeom prst="rect">
            <a:avLst/>
          </a:prstGeom>
          <a:noFill/>
        </p:spPr>
        <p:txBody>
          <a:bodyPr wrap="square">
            <a:normAutofit/>
          </a:bodyPr>
          <a:lstStyle/>
          <a:p>
            <a:pPr algn="l">
              <a:buNone/>
            </a:pPr>
            <a:r>
              <a:rPr sz="1600" b="1">
                <a:solidFill>
                  <a:srgbClr val="11202A"/>
                </a:solidFill>
                <a:latin typeface="Aptos"/>
                <a:ea typeface="Aptos"/>
                <a:cs typeface="Aptos"/>
              </a:rPr>
              <a:t>The concentration is both opportunity and risk: these sellers deserve account attention, but Olist should also grow the healthy mid-tail to reduce dependency.</a:t>
            </a:r>
          </a:p>
        </p:txBody>
      </p:sp>
      <p:sp>
        <p:nvSpPr>
          <p:cNvPr id="20" name="TextBox 19">
            <a:extLst>
              <a:ext uri="{FF2B5EF4-FFF2-40B4-BE49-F238E27FC236}">
                <a16:creationId xmlns:a16="http://schemas.microsoft.com/office/drawing/2014/main" id="{67C1FD0B-FB82-48C9-ABE8-9389E3F269CC}"/>
              </a:ext>
            </a:extLst>
          </p:cNvPr>
          <p:cNvSpPr>
            <a:spLocks noGrp="1"/>
          </p:cNvSpPr>
          <p:nvPr/>
        </p:nvSpPr>
        <p:spPr>
          <a:xfrm>
            <a:off x="566928" y="6519672"/>
            <a:ext cx="5029200" cy="164592"/>
          </a:xfrm>
          <a:prstGeom prst="rect">
            <a:avLst/>
          </a:prstGeom>
          <a:noFill/>
        </p:spPr>
        <p:txBody>
          <a:bodyPr wrap="square">
            <a:normAutofit/>
          </a:bodyPr>
          <a:lstStyle/>
          <a:p>
            <a:pPr algn="l">
              <a:buNone/>
            </a:pPr>
            <a:r>
              <a:rPr sz="650" b="0">
                <a:solidFill>
                  <a:srgbClr val="96968C"/>
                </a:solidFill>
                <a:latin typeface="Aptos"/>
                <a:ea typeface="Aptos"/>
                <a:cs typeface="Aptos"/>
              </a:rPr>
              <a:t>Source: Olist Brazilian E-Commerce dataset; DuckDB/dbt warehouse marts</a:t>
            </a:r>
          </a:p>
        </p:txBody>
      </p:sp>
      <p:sp>
        <p:nvSpPr>
          <p:cNvPr id="21" name="TextBox 20">
            <a:extLst>
              <a:ext uri="{FF2B5EF4-FFF2-40B4-BE49-F238E27FC236}">
                <a16:creationId xmlns:a16="http://schemas.microsoft.com/office/drawing/2014/main" id="{7C9EA08A-7187-4511-868F-212B3198D19B}"/>
              </a:ext>
            </a:extLst>
          </p:cNvPr>
          <p:cNvSpPr>
            <a:spLocks noGrp="1"/>
          </p:cNvSpPr>
          <p:nvPr/>
        </p:nvSpPr>
        <p:spPr>
          <a:xfrm>
            <a:off x="11292840" y="6519672"/>
            <a:ext cx="320040" cy="164592"/>
          </a:xfrm>
          <a:prstGeom prst="rect">
            <a:avLst/>
          </a:prstGeom>
          <a:noFill/>
        </p:spPr>
        <p:txBody>
          <a:bodyPr wrap="square">
            <a:normAutofit/>
          </a:bodyPr>
          <a:lstStyle/>
          <a:p>
            <a:pPr algn="r">
              <a:buNone/>
            </a:pPr>
            <a:r>
              <a:rPr sz="650">
                <a:solidFill>
                  <a:srgbClr val="96968C"/>
                </a:solidFill>
                <a:latin typeface="Aptos"/>
                <a:ea typeface="Aptos"/>
                <a:cs typeface="Aptos"/>
              </a:rPr>
              <a:t>08</a:t>
            </a:r>
          </a:p>
        </p:txBody>
      </p:sp>
    </p:spTree>
    <p:extLst>
      <p:ext uri="{BB962C8B-B14F-4D97-AF65-F5344CB8AC3E}">
        <p14:creationId xmlns:p14="http://schemas.microsoft.com/office/powerpoint/2010/main" val="11230118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6A8992-A8F6-4A19-85AB-A42D2A8E340C}"/>
              </a:ext>
            </a:extLst>
          </p:cNvPr>
          <p:cNvSpPr>
            <a:spLocks noGrp="1"/>
          </p:cNvSpPr>
          <p:nvPr/>
        </p:nvSpPr>
        <p:spPr>
          <a:xfrm>
            <a:off x="566928" y="256032"/>
            <a:ext cx="2560320" cy="201168"/>
          </a:xfrm>
          <a:prstGeom prst="rect">
            <a:avLst/>
          </a:prstGeom>
          <a:noFill/>
        </p:spPr>
        <p:txBody>
          <a:bodyPr wrap="square">
            <a:normAutofit/>
          </a:bodyPr>
          <a:lstStyle/>
          <a:p>
            <a:pPr algn="l">
              <a:buNone/>
            </a:pPr>
            <a:r>
              <a:rPr sz="750" b="1">
                <a:solidFill>
                  <a:srgbClr val="CE8227"/>
                </a:solidFill>
                <a:latin typeface="Aptos"/>
                <a:ea typeface="Aptos"/>
                <a:cs typeface="Aptos"/>
              </a:rPr>
              <a:t>CATEGORY OPPORTUNITY</a:t>
            </a:r>
          </a:p>
        </p:txBody>
      </p:sp>
      <p:sp>
        <p:nvSpPr>
          <p:cNvPr id="3" name="TextBox 2">
            <a:extLst>
              <a:ext uri="{FF2B5EF4-FFF2-40B4-BE49-F238E27FC236}">
                <a16:creationId xmlns:a16="http://schemas.microsoft.com/office/drawing/2014/main" id="{DC24A649-A861-4540-816B-2FD59FE8A93F}"/>
              </a:ext>
            </a:extLst>
          </p:cNvPr>
          <p:cNvSpPr>
            <a:spLocks noGrp="1"/>
          </p:cNvSpPr>
          <p:nvPr/>
        </p:nvSpPr>
        <p:spPr>
          <a:xfrm>
            <a:off x="566928" y="530352"/>
            <a:ext cx="7955279" cy="822960"/>
          </a:xfrm>
          <a:prstGeom prst="rect">
            <a:avLst/>
          </a:prstGeom>
          <a:noFill/>
        </p:spPr>
        <p:txBody>
          <a:bodyPr wrap="square">
            <a:normAutofit/>
          </a:bodyPr>
          <a:lstStyle/>
          <a:p>
            <a:pPr algn="l">
              <a:buNone/>
            </a:pPr>
            <a:r>
              <a:rPr sz="2400" b="1">
                <a:solidFill>
                  <a:srgbClr val="11202A"/>
                </a:solidFill>
                <a:latin typeface="Aptos"/>
                <a:ea typeface="Aptos"/>
                <a:cs typeface="Aptos"/>
              </a:rPr>
              <a:t>Large categories define where seller enablement can most directly lift seller productivity.</a:t>
            </a:r>
          </a:p>
        </p:txBody>
      </p:sp>
      <p:sp>
        <p:nvSpPr>
          <p:cNvPr id="4" name="TextBox 3">
            <a:extLst>
              <a:ext uri="{FF2B5EF4-FFF2-40B4-BE49-F238E27FC236}">
                <a16:creationId xmlns:a16="http://schemas.microsoft.com/office/drawing/2014/main" id="{11A4BEC6-A64E-4260-9FD4-BF50C7E95678}"/>
              </a:ext>
            </a:extLst>
          </p:cNvPr>
          <p:cNvSpPr>
            <a:spLocks noGrp="1"/>
          </p:cNvSpPr>
          <p:nvPr/>
        </p:nvSpPr>
        <p:spPr>
          <a:xfrm>
            <a:off x="685800" y="1835277"/>
            <a:ext cx="1371600" cy="182880"/>
          </a:xfrm>
          <a:prstGeom prst="rect">
            <a:avLst/>
          </a:prstGeom>
          <a:noFill/>
        </p:spPr>
        <p:txBody>
          <a:bodyPr wrap="square">
            <a:noAutofit/>
          </a:bodyPr>
          <a:lstStyle/>
          <a:p>
            <a:pPr algn="l">
              <a:buNone/>
            </a:pPr>
            <a:r>
              <a:rPr sz="1000" b="0" dirty="0" err="1">
                <a:solidFill>
                  <a:srgbClr val="11202A"/>
                </a:solidFill>
                <a:latin typeface="Aptos"/>
                <a:ea typeface="Aptos"/>
                <a:cs typeface="Aptos"/>
              </a:rPr>
              <a:t>health_beauty</a:t>
            </a:r>
            <a:endParaRPr sz="1000" b="0" dirty="0">
              <a:solidFill>
                <a:srgbClr val="11202A"/>
              </a:solidFill>
              <a:latin typeface="Aptos"/>
              <a:ea typeface="Aptos"/>
              <a:cs typeface="Aptos"/>
            </a:endParaRPr>
          </a:p>
        </p:txBody>
      </p:sp>
      <p:sp>
        <p:nvSpPr>
          <p:cNvPr id="5" name="Rectangle 4">
            <a:extLst>
              <a:ext uri="{FF2B5EF4-FFF2-40B4-BE49-F238E27FC236}">
                <a16:creationId xmlns:a16="http://schemas.microsoft.com/office/drawing/2014/main" id="{8F9B8756-03B0-4900-9B26-A3CAC2B1515D}"/>
              </a:ext>
            </a:extLst>
          </p:cNvPr>
          <p:cNvSpPr>
            <a:spLocks noGrp="1"/>
          </p:cNvSpPr>
          <p:nvPr/>
        </p:nvSpPr>
        <p:spPr>
          <a:xfrm>
            <a:off x="2194560" y="1862709"/>
            <a:ext cx="4892040" cy="73152"/>
          </a:xfrm>
          <a:prstGeom prst="rect">
            <a:avLst/>
          </a:prstGeom>
          <a:solidFill>
            <a:srgbClr val="E8E2D7"/>
          </a:solidFill>
          <a:ln w="8890">
            <a:solidFill>
              <a:srgbClr val="E8E2D7"/>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2B476998-E235-49E4-BDAC-E3CCDBA914E6}"/>
              </a:ext>
            </a:extLst>
          </p:cNvPr>
          <p:cNvSpPr>
            <a:spLocks noGrp="1"/>
          </p:cNvSpPr>
          <p:nvPr/>
        </p:nvSpPr>
        <p:spPr>
          <a:xfrm>
            <a:off x="2194560" y="1862709"/>
            <a:ext cx="4892040" cy="73152"/>
          </a:xfrm>
          <a:prstGeom prst="rect">
            <a:avLst/>
          </a:prstGeom>
          <a:solidFill>
            <a:srgbClr val="1C6F82"/>
          </a:solidFill>
          <a:ln w="8890">
            <a:solidFill>
              <a:srgbClr val="1C6F8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7BA546E5-5EA3-423A-A0E5-ACC4030AB1B1}"/>
              </a:ext>
            </a:extLst>
          </p:cNvPr>
          <p:cNvSpPr>
            <a:spLocks noGrp="1"/>
          </p:cNvSpPr>
          <p:nvPr/>
        </p:nvSpPr>
        <p:spPr>
          <a:xfrm>
            <a:off x="7223759" y="1807845"/>
            <a:ext cx="502920" cy="164592"/>
          </a:xfrm>
          <a:prstGeom prst="rect">
            <a:avLst/>
          </a:prstGeom>
          <a:noFill/>
        </p:spPr>
        <p:txBody>
          <a:bodyPr wrap="square">
            <a:noAutofit/>
          </a:bodyPr>
          <a:lstStyle/>
          <a:p>
            <a:pPr algn="r">
              <a:buNone/>
            </a:pPr>
            <a:r>
              <a:rPr sz="1000" b="0">
                <a:solidFill>
                  <a:srgbClr val="56636C"/>
                </a:solidFill>
                <a:latin typeface="Aptos"/>
                <a:ea typeface="Aptos"/>
                <a:cs typeface="Aptos"/>
              </a:rPr>
              <a:t>1.3M</a:t>
            </a:r>
          </a:p>
        </p:txBody>
      </p:sp>
      <p:sp>
        <p:nvSpPr>
          <p:cNvPr id="8" name="TextBox 7">
            <a:extLst>
              <a:ext uri="{FF2B5EF4-FFF2-40B4-BE49-F238E27FC236}">
                <a16:creationId xmlns:a16="http://schemas.microsoft.com/office/drawing/2014/main" id="{7EA12891-8E01-4C67-AB2D-24AC1821D493}"/>
              </a:ext>
            </a:extLst>
          </p:cNvPr>
          <p:cNvSpPr>
            <a:spLocks noGrp="1"/>
          </p:cNvSpPr>
          <p:nvPr/>
        </p:nvSpPr>
        <p:spPr>
          <a:xfrm>
            <a:off x="685800" y="2258187"/>
            <a:ext cx="1371600" cy="182880"/>
          </a:xfrm>
          <a:prstGeom prst="rect">
            <a:avLst/>
          </a:prstGeom>
          <a:noFill/>
        </p:spPr>
        <p:txBody>
          <a:bodyPr wrap="square">
            <a:noAutofit/>
          </a:bodyPr>
          <a:lstStyle/>
          <a:p>
            <a:pPr algn="l">
              <a:buNone/>
            </a:pPr>
            <a:r>
              <a:rPr sz="1000" b="0">
                <a:solidFill>
                  <a:srgbClr val="11202A"/>
                </a:solidFill>
                <a:latin typeface="Aptos"/>
                <a:ea typeface="Aptos"/>
                <a:cs typeface="Aptos"/>
              </a:rPr>
              <a:t>watches_gifts</a:t>
            </a:r>
          </a:p>
        </p:txBody>
      </p:sp>
      <p:sp>
        <p:nvSpPr>
          <p:cNvPr id="9" name="Rectangle 8">
            <a:extLst>
              <a:ext uri="{FF2B5EF4-FFF2-40B4-BE49-F238E27FC236}">
                <a16:creationId xmlns:a16="http://schemas.microsoft.com/office/drawing/2014/main" id="{A289ADDD-5E7C-407B-93DB-30E4E061E39A}"/>
              </a:ext>
            </a:extLst>
          </p:cNvPr>
          <p:cNvSpPr>
            <a:spLocks noGrp="1"/>
          </p:cNvSpPr>
          <p:nvPr/>
        </p:nvSpPr>
        <p:spPr>
          <a:xfrm>
            <a:off x="2194560" y="2285619"/>
            <a:ext cx="4892040" cy="73152"/>
          </a:xfrm>
          <a:prstGeom prst="rect">
            <a:avLst/>
          </a:prstGeom>
          <a:solidFill>
            <a:srgbClr val="E8E2D7"/>
          </a:solidFill>
          <a:ln w="8890">
            <a:solidFill>
              <a:srgbClr val="E8E2D7"/>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Rectangle 9">
            <a:extLst>
              <a:ext uri="{FF2B5EF4-FFF2-40B4-BE49-F238E27FC236}">
                <a16:creationId xmlns:a16="http://schemas.microsoft.com/office/drawing/2014/main" id="{00517FA7-D290-473A-A0F1-8BF1668375F0}"/>
              </a:ext>
            </a:extLst>
          </p:cNvPr>
          <p:cNvSpPr>
            <a:spLocks noGrp="1"/>
          </p:cNvSpPr>
          <p:nvPr/>
        </p:nvSpPr>
        <p:spPr>
          <a:xfrm>
            <a:off x="2194560" y="2285619"/>
            <a:ext cx="4683422" cy="73152"/>
          </a:xfrm>
          <a:prstGeom prst="rect">
            <a:avLst/>
          </a:prstGeom>
          <a:solidFill>
            <a:srgbClr val="1C6F82"/>
          </a:solidFill>
          <a:ln w="8890">
            <a:solidFill>
              <a:srgbClr val="1C6F8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1A0EF8C6-3B2F-4A2A-B485-C964BB956DEC}"/>
              </a:ext>
            </a:extLst>
          </p:cNvPr>
          <p:cNvSpPr>
            <a:spLocks noGrp="1"/>
          </p:cNvSpPr>
          <p:nvPr/>
        </p:nvSpPr>
        <p:spPr>
          <a:xfrm>
            <a:off x="7223759" y="2230755"/>
            <a:ext cx="502920" cy="164592"/>
          </a:xfrm>
          <a:prstGeom prst="rect">
            <a:avLst/>
          </a:prstGeom>
          <a:noFill/>
        </p:spPr>
        <p:txBody>
          <a:bodyPr wrap="square">
            <a:noAutofit/>
          </a:bodyPr>
          <a:lstStyle/>
          <a:p>
            <a:pPr algn="r">
              <a:buNone/>
            </a:pPr>
            <a:r>
              <a:rPr sz="1000" b="0">
                <a:solidFill>
                  <a:srgbClr val="56636C"/>
                </a:solidFill>
                <a:latin typeface="Aptos"/>
                <a:ea typeface="Aptos"/>
                <a:cs typeface="Aptos"/>
              </a:rPr>
              <a:t>1.2M</a:t>
            </a:r>
          </a:p>
        </p:txBody>
      </p:sp>
      <p:sp>
        <p:nvSpPr>
          <p:cNvPr id="12" name="TextBox 11">
            <a:extLst>
              <a:ext uri="{FF2B5EF4-FFF2-40B4-BE49-F238E27FC236}">
                <a16:creationId xmlns:a16="http://schemas.microsoft.com/office/drawing/2014/main" id="{E5383576-A48F-48DB-A468-8C949D882D15}"/>
              </a:ext>
            </a:extLst>
          </p:cNvPr>
          <p:cNvSpPr>
            <a:spLocks noGrp="1"/>
          </p:cNvSpPr>
          <p:nvPr/>
        </p:nvSpPr>
        <p:spPr>
          <a:xfrm>
            <a:off x="685800" y="2681097"/>
            <a:ext cx="1371600" cy="182880"/>
          </a:xfrm>
          <a:prstGeom prst="rect">
            <a:avLst/>
          </a:prstGeom>
          <a:noFill/>
        </p:spPr>
        <p:txBody>
          <a:bodyPr wrap="square">
            <a:noAutofit/>
          </a:bodyPr>
          <a:lstStyle/>
          <a:p>
            <a:pPr algn="l">
              <a:buNone/>
            </a:pPr>
            <a:r>
              <a:rPr sz="1000" b="0">
                <a:solidFill>
                  <a:srgbClr val="11202A"/>
                </a:solidFill>
                <a:latin typeface="Aptos"/>
                <a:ea typeface="Aptos"/>
                <a:cs typeface="Aptos"/>
              </a:rPr>
              <a:t>bed_bath_table</a:t>
            </a:r>
          </a:p>
        </p:txBody>
      </p:sp>
      <p:sp>
        <p:nvSpPr>
          <p:cNvPr id="13" name="Rectangle 12">
            <a:extLst>
              <a:ext uri="{FF2B5EF4-FFF2-40B4-BE49-F238E27FC236}">
                <a16:creationId xmlns:a16="http://schemas.microsoft.com/office/drawing/2014/main" id="{825A8720-A62A-47A4-9FA0-0DA58EC1F816}"/>
              </a:ext>
            </a:extLst>
          </p:cNvPr>
          <p:cNvSpPr>
            <a:spLocks noGrp="1"/>
          </p:cNvSpPr>
          <p:nvPr/>
        </p:nvSpPr>
        <p:spPr>
          <a:xfrm>
            <a:off x="2194560" y="2708529"/>
            <a:ext cx="4892040" cy="73152"/>
          </a:xfrm>
          <a:prstGeom prst="rect">
            <a:avLst/>
          </a:prstGeom>
          <a:solidFill>
            <a:srgbClr val="E8E2D7"/>
          </a:solidFill>
          <a:ln w="8890">
            <a:solidFill>
              <a:srgbClr val="E8E2D7"/>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CCAFEC8B-1AE1-4C01-AD92-006280C7FBC5}"/>
              </a:ext>
            </a:extLst>
          </p:cNvPr>
          <p:cNvSpPr>
            <a:spLocks noGrp="1"/>
          </p:cNvSpPr>
          <p:nvPr/>
        </p:nvSpPr>
        <p:spPr>
          <a:xfrm>
            <a:off x="2194560" y="2708529"/>
            <a:ext cx="4030400" cy="73152"/>
          </a:xfrm>
          <a:prstGeom prst="rect">
            <a:avLst/>
          </a:prstGeom>
          <a:solidFill>
            <a:srgbClr val="1C6F82"/>
          </a:solidFill>
          <a:ln w="8890">
            <a:solidFill>
              <a:srgbClr val="1C6F8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924F0DC-8334-4E12-BE4F-684F237FD2FB}"/>
              </a:ext>
            </a:extLst>
          </p:cNvPr>
          <p:cNvSpPr>
            <a:spLocks noGrp="1"/>
          </p:cNvSpPr>
          <p:nvPr/>
        </p:nvSpPr>
        <p:spPr>
          <a:xfrm>
            <a:off x="7223759" y="2653665"/>
            <a:ext cx="502920" cy="164592"/>
          </a:xfrm>
          <a:prstGeom prst="rect">
            <a:avLst/>
          </a:prstGeom>
          <a:noFill/>
        </p:spPr>
        <p:txBody>
          <a:bodyPr wrap="square">
            <a:noAutofit/>
          </a:bodyPr>
          <a:lstStyle/>
          <a:p>
            <a:pPr algn="r">
              <a:buNone/>
            </a:pPr>
            <a:r>
              <a:rPr sz="1000" b="0">
                <a:solidFill>
                  <a:srgbClr val="56636C"/>
                </a:solidFill>
                <a:latin typeface="Aptos"/>
                <a:ea typeface="Aptos"/>
                <a:cs typeface="Aptos"/>
              </a:rPr>
              <a:t>1.0M</a:t>
            </a:r>
          </a:p>
        </p:txBody>
      </p:sp>
      <p:sp>
        <p:nvSpPr>
          <p:cNvPr id="16" name="TextBox 15">
            <a:extLst>
              <a:ext uri="{FF2B5EF4-FFF2-40B4-BE49-F238E27FC236}">
                <a16:creationId xmlns:a16="http://schemas.microsoft.com/office/drawing/2014/main" id="{FDC4FB29-A8E3-4F31-8262-A46122C5A47C}"/>
              </a:ext>
            </a:extLst>
          </p:cNvPr>
          <p:cNvSpPr>
            <a:spLocks noGrp="1"/>
          </p:cNvSpPr>
          <p:nvPr/>
        </p:nvSpPr>
        <p:spPr>
          <a:xfrm>
            <a:off x="685800" y="3104007"/>
            <a:ext cx="1371600" cy="182880"/>
          </a:xfrm>
          <a:prstGeom prst="rect">
            <a:avLst/>
          </a:prstGeom>
          <a:noFill/>
        </p:spPr>
        <p:txBody>
          <a:bodyPr wrap="square">
            <a:noAutofit/>
          </a:bodyPr>
          <a:lstStyle/>
          <a:p>
            <a:pPr algn="l">
              <a:buNone/>
            </a:pPr>
            <a:r>
              <a:rPr sz="1000" b="0">
                <a:solidFill>
                  <a:srgbClr val="11202A"/>
                </a:solidFill>
                <a:latin typeface="Aptos"/>
                <a:ea typeface="Aptos"/>
                <a:cs typeface="Aptos"/>
              </a:rPr>
              <a:t>sports_leisure</a:t>
            </a:r>
          </a:p>
        </p:txBody>
      </p:sp>
      <p:sp>
        <p:nvSpPr>
          <p:cNvPr id="17" name="Rectangle 16">
            <a:extLst>
              <a:ext uri="{FF2B5EF4-FFF2-40B4-BE49-F238E27FC236}">
                <a16:creationId xmlns:a16="http://schemas.microsoft.com/office/drawing/2014/main" id="{625DCD0A-43A2-4089-9C22-F6155AB4EFB7}"/>
              </a:ext>
            </a:extLst>
          </p:cNvPr>
          <p:cNvSpPr>
            <a:spLocks noGrp="1"/>
          </p:cNvSpPr>
          <p:nvPr/>
        </p:nvSpPr>
        <p:spPr>
          <a:xfrm>
            <a:off x="2194560" y="3131439"/>
            <a:ext cx="4892040" cy="73152"/>
          </a:xfrm>
          <a:prstGeom prst="rect">
            <a:avLst/>
          </a:prstGeom>
          <a:solidFill>
            <a:srgbClr val="E8E2D7"/>
          </a:solidFill>
          <a:ln w="8890">
            <a:solidFill>
              <a:srgbClr val="E8E2D7"/>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39017A76-69C4-4BF6-A666-282E1093D00B}"/>
              </a:ext>
            </a:extLst>
          </p:cNvPr>
          <p:cNvSpPr>
            <a:spLocks noGrp="1"/>
          </p:cNvSpPr>
          <p:nvPr/>
        </p:nvSpPr>
        <p:spPr>
          <a:xfrm>
            <a:off x="2194560" y="3131439"/>
            <a:ext cx="3840189" cy="73152"/>
          </a:xfrm>
          <a:prstGeom prst="rect">
            <a:avLst/>
          </a:prstGeom>
          <a:solidFill>
            <a:srgbClr val="1C6F82"/>
          </a:solidFill>
          <a:ln w="8890">
            <a:solidFill>
              <a:srgbClr val="1C6F8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18DD4199-CDC7-4AF5-8819-CE106786FC40}"/>
              </a:ext>
            </a:extLst>
          </p:cNvPr>
          <p:cNvSpPr>
            <a:spLocks noGrp="1"/>
          </p:cNvSpPr>
          <p:nvPr/>
        </p:nvSpPr>
        <p:spPr>
          <a:xfrm>
            <a:off x="7223759" y="3076575"/>
            <a:ext cx="502920" cy="164592"/>
          </a:xfrm>
          <a:prstGeom prst="rect">
            <a:avLst/>
          </a:prstGeom>
          <a:noFill/>
        </p:spPr>
        <p:txBody>
          <a:bodyPr wrap="square">
            <a:noAutofit/>
          </a:bodyPr>
          <a:lstStyle/>
          <a:p>
            <a:pPr algn="r">
              <a:buNone/>
            </a:pPr>
            <a:r>
              <a:rPr sz="1000" b="0">
                <a:solidFill>
                  <a:srgbClr val="56636C"/>
                </a:solidFill>
                <a:latin typeface="Aptos"/>
                <a:ea typeface="Aptos"/>
                <a:cs typeface="Aptos"/>
              </a:rPr>
              <a:t>1.0M</a:t>
            </a:r>
          </a:p>
        </p:txBody>
      </p:sp>
      <p:sp>
        <p:nvSpPr>
          <p:cNvPr id="20" name="TextBox 19">
            <a:extLst>
              <a:ext uri="{FF2B5EF4-FFF2-40B4-BE49-F238E27FC236}">
                <a16:creationId xmlns:a16="http://schemas.microsoft.com/office/drawing/2014/main" id="{61F50198-EA54-48DD-AF6F-877342BCD8C5}"/>
              </a:ext>
            </a:extLst>
          </p:cNvPr>
          <p:cNvSpPr>
            <a:spLocks noGrp="1"/>
          </p:cNvSpPr>
          <p:nvPr/>
        </p:nvSpPr>
        <p:spPr>
          <a:xfrm>
            <a:off x="685800" y="3526917"/>
            <a:ext cx="1371600" cy="182880"/>
          </a:xfrm>
          <a:prstGeom prst="rect">
            <a:avLst/>
          </a:prstGeom>
          <a:noFill/>
        </p:spPr>
        <p:txBody>
          <a:bodyPr wrap="square">
            <a:noAutofit/>
          </a:bodyPr>
          <a:lstStyle/>
          <a:p>
            <a:pPr algn="l">
              <a:buNone/>
            </a:pPr>
            <a:r>
              <a:rPr sz="1000" b="0">
                <a:solidFill>
                  <a:srgbClr val="11202A"/>
                </a:solidFill>
                <a:latin typeface="Aptos"/>
                <a:ea typeface="Aptos"/>
                <a:cs typeface="Aptos"/>
              </a:rPr>
              <a:t>computers_accessories</a:t>
            </a:r>
          </a:p>
        </p:txBody>
      </p:sp>
      <p:sp>
        <p:nvSpPr>
          <p:cNvPr id="21" name="Rectangle 20">
            <a:extLst>
              <a:ext uri="{FF2B5EF4-FFF2-40B4-BE49-F238E27FC236}">
                <a16:creationId xmlns:a16="http://schemas.microsoft.com/office/drawing/2014/main" id="{4FD870EA-AD63-47F4-8D42-C4100AB0D4B9}"/>
              </a:ext>
            </a:extLst>
          </p:cNvPr>
          <p:cNvSpPr>
            <a:spLocks noGrp="1"/>
          </p:cNvSpPr>
          <p:nvPr/>
        </p:nvSpPr>
        <p:spPr>
          <a:xfrm>
            <a:off x="2194560" y="3554349"/>
            <a:ext cx="4892040" cy="73152"/>
          </a:xfrm>
          <a:prstGeom prst="rect">
            <a:avLst/>
          </a:prstGeom>
          <a:solidFill>
            <a:srgbClr val="E8E2D7"/>
          </a:solidFill>
          <a:ln w="8890">
            <a:solidFill>
              <a:srgbClr val="E8E2D7"/>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Rectangle 21">
            <a:extLst>
              <a:ext uri="{FF2B5EF4-FFF2-40B4-BE49-F238E27FC236}">
                <a16:creationId xmlns:a16="http://schemas.microsoft.com/office/drawing/2014/main" id="{8672E909-CFF4-4C3A-BD01-FDAC6792C488}"/>
              </a:ext>
            </a:extLst>
          </p:cNvPr>
          <p:cNvSpPr>
            <a:spLocks noGrp="1"/>
          </p:cNvSpPr>
          <p:nvPr/>
        </p:nvSpPr>
        <p:spPr>
          <a:xfrm>
            <a:off x="2194560" y="3554349"/>
            <a:ext cx="3544437" cy="73152"/>
          </a:xfrm>
          <a:prstGeom prst="rect">
            <a:avLst/>
          </a:prstGeom>
          <a:solidFill>
            <a:srgbClr val="1C6F82"/>
          </a:solidFill>
          <a:ln w="8890">
            <a:solidFill>
              <a:srgbClr val="1C6F8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7BAB550E-E1E5-41B5-AE04-9CF9B9374E80}"/>
              </a:ext>
            </a:extLst>
          </p:cNvPr>
          <p:cNvSpPr>
            <a:spLocks noGrp="1"/>
          </p:cNvSpPr>
          <p:nvPr/>
        </p:nvSpPr>
        <p:spPr>
          <a:xfrm>
            <a:off x="7223759" y="3499485"/>
            <a:ext cx="502920" cy="164592"/>
          </a:xfrm>
          <a:prstGeom prst="rect">
            <a:avLst/>
          </a:prstGeom>
          <a:noFill/>
        </p:spPr>
        <p:txBody>
          <a:bodyPr wrap="square">
            <a:noAutofit/>
          </a:bodyPr>
          <a:lstStyle/>
          <a:p>
            <a:pPr algn="r">
              <a:buNone/>
            </a:pPr>
            <a:r>
              <a:rPr sz="1000" b="0">
                <a:solidFill>
                  <a:srgbClr val="56636C"/>
                </a:solidFill>
                <a:latin typeface="Aptos"/>
                <a:ea typeface="Aptos"/>
                <a:cs typeface="Aptos"/>
              </a:rPr>
              <a:t>0.9M</a:t>
            </a:r>
          </a:p>
        </p:txBody>
      </p:sp>
      <p:sp>
        <p:nvSpPr>
          <p:cNvPr id="24" name="TextBox 23">
            <a:extLst>
              <a:ext uri="{FF2B5EF4-FFF2-40B4-BE49-F238E27FC236}">
                <a16:creationId xmlns:a16="http://schemas.microsoft.com/office/drawing/2014/main" id="{AF58281E-8B69-4BD6-97F3-CA3CF0C56F5F}"/>
              </a:ext>
            </a:extLst>
          </p:cNvPr>
          <p:cNvSpPr>
            <a:spLocks noGrp="1"/>
          </p:cNvSpPr>
          <p:nvPr/>
        </p:nvSpPr>
        <p:spPr>
          <a:xfrm>
            <a:off x="685800" y="3949826"/>
            <a:ext cx="1371600" cy="182880"/>
          </a:xfrm>
          <a:prstGeom prst="rect">
            <a:avLst/>
          </a:prstGeom>
          <a:noFill/>
        </p:spPr>
        <p:txBody>
          <a:bodyPr wrap="square">
            <a:noAutofit/>
          </a:bodyPr>
          <a:lstStyle/>
          <a:p>
            <a:pPr algn="l">
              <a:buNone/>
            </a:pPr>
            <a:r>
              <a:rPr sz="1000" b="0">
                <a:solidFill>
                  <a:srgbClr val="11202A"/>
                </a:solidFill>
                <a:latin typeface="Aptos"/>
                <a:ea typeface="Aptos"/>
                <a:cs typeface="Aptos"/>
              </a:rPr>
              <a:t>furniture_decor</a:t>
            </a:r>
          </a:p>
        </p:txBody>
      </p:sp>
      <p:sp>
        <p:nvSpPr>
          <p:cNvPr id="25" name="Rectangle 24">
            <a:extLst>
              <a:ext uri="{FF2B5EF4-FFF2-40B4-BE49-F238E27FC236}">
                <a16:creationId xmlns:a16="http://schemas.microsoft.com/office/drawing/2014/main" id="{64F1DAC8-3238-4473-8A94-86D5480FDDDF}"/>
              </a:ext>
            </a:extLst>
          </p:cNvPr>
          <p:cNvSpPr>
            <a:spLocks noGrp="1"/>
          </p:cNvSpPr>
          <p:nvPr/>
        </p:nvSpPr>
        <p:spPr>
          <a:xfrm>
            <a:off x="2194560" y="3977259"/>
            <a:ext cx="4892040" cy="73152"/>
          </a:xfrm>
          <a:prstGeom prst="rect">
            <a:avLst/>
          </a:prstGeom>
          <a:solidFill>
            <a:srgbClr val="E8E2D7"/>
          </a:solidFill>
          <a:ln w="8890">
            <a:solidFill>
              <a:srgbClr val="E8E2D7"/>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52B877EA-0623-4A0E-A184-A3E552009DED}"/>
              </a:ext>
            </a:extLst>
          </p:cNvPr>
          <p:cNvSpPr>
            <a:spLocks noGrp="1"/>
          </p:cNvSpPr>
          <p:nvPr/>
        </p:nvSpPr>
        <p:spPr>
          <a:xfrm>
            <a:off x="2194560" y="3977259"/>
            <a:ext cx="2836323" cy="73152"/>
          </a:xfrm>
          <a:prstGeom prst="rect">
            <a:avLst/>
          </a:prstGeom>
          <a:solidFill>
            <a:srgbClr val="1C6F82"/>
          </a:solidFill>
          <a:ln w="8890">
            <a:solidFill>
              <a:srgbClr val="1C6F8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57FE1C38-8E8F-4355-A12A-22C48E74CDB3}"/>
              </a:ext>
            </a:extLst>
          </p:cNvPr>
          <p:cNvSpPr>
            <a:spLocks noGrp="1"/>
          </p:cNvSpPr>
          <p:nvPr/>
        </p:nvSpPr>
        <p:spPr>
          <a:xfrm>
            <a:off x="7223759" y="3922395"/>
            <a:ext cx="502920" cy="164592"/>
          </a:xfrm>
          <a:prstGeom prst="rect">
            <a:avLst/>
          </a:prstGeom>
          <a:noFill/>
        </p:spPr>
        <p:txBody>
          <a:bodyPr wrap="square">
            <a:noAutofit/>
          </a:bodyPr>
          <a:lstStyle/>
          <a:p>
            <a:pPr algn="r">
              <a:buNone/>
            </a:pPr>
            <a:r>
              <a:rPr sz="1000" b="0">
                <a:solidFill>
                  <a:srgbClr val="56636C"/>
                </a:solidFill>
                <a:latin typeface="Aptos"/>
                <a:ea typeface="Aptos"/>
                <a:cs typeface="Aptos"/>
              </a:rPr>
              <a:t>0.7M</a:t>
            </a:r>
          </a:p>
        </p:txBody>
      </p:sp>
      <p:sp>
        <p:nvSpPr>
          <p:cNvPr id="28" name="TextBox 27">
            <a:extLst>
              <a:ext uri="{FF2B5EF4-FFF2-40B4-BE49-F238E27FC236}">
                <a16:creationId xmlns:a16="http://schemas.microsoft.com/office/drawing/2014/main" id="{04886437-3FEB-45AD-AB43-715F2BDBDE33}"/>
              </a:ext>
            </a:extLst>
          </p:cNvPr>
          <p:cNvSpPr>
            <a:spLocks noGrp="1"/>
          </p:cNvSpPr>
          <p:nvPr/>
        </p:nvSpPr>
        <p:spPr>
          <a:xfrm>
            <a:off x="685800" y="4372737"/>
            <a:ext cx="1371600" cy="182880"/>
          </a:xfrm>
          <a:prstGeom prst="rect">
            <a:avLst/>
          </a:prstGeom>
          <a:noFill/>
        </p:spPr>
        <p:txBody>
          <a:bodyPr wrap="square">
            <a:noAutofit/>
          </a:bodyPr>
          <a:lstStyle/>
          <a:p>
            <a:pPr algn="l">
              <a:buNone/>
            </a:pPr>
            <a:r>
              <a:rPr sz="1000" b="0">
                <a:solidFill>
                  <a:srgbClr val="11202A"/>
                </a:solidFill>
                <a:latin typeface="Aptos"/>
                <a:ea typeface="Aptos"/>
                <a:cs typeface="Aptos"/>
              </a:rPr>
              <a:t>cool_stuff</a:t>
            </a:r>
          </a:p>
        </p:txBody>
      </p:sp>
      <p:sp>
        <p:nvSpPr>
          <p:cNvPr id="29" name="Rectangle 28">
            <a:extLst>
              <a:ext uri="{FF2B5EF4-FFF2-40B4-BE49-F238E27FC236}">
                <a16:creationId xmlns:a16="http://schemas.microsoft.com/office/drawing/2014/main" id="{4FE7A09D-E12D-4622-A608-031FF35F83FE}"/>
              </a:ext>
            </a:extLst>
          </p:cNvPr>
          <p:cNvSpPr>
            <a:spLocks noGrp="1"/>
          </p:cNvSpPr>
          <p:nvPr/>
        </p:nvSpPr>
        <p:spPr>
          <a:xfrm>
            <a:off x="2194560" y="4400169"/>
            <a:ext cx="4892040" cy="73152"/>
          </a:xfrm>
          <a:prstGeom prst="rect">
            <a:avLst/>
          </a:prstGeom>
          <a:solidFill>
            <a:srgbClr val="E8E2D7"/>
          </a:solidFill>
          <a:ln w="8890">
            <a:solidFill>
              <a:srgbClr val="E8E2D7"/>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Rectangle 29">
            <a:extLst>
              <a:ext uri="{FF2B5EF4-FFF2-40B4-BE49-F238E27FC236}">
                <a16:creationId xmlns:a16="http://schemas.microsoft.com/office/drawing/2014/main" id="{5535EAE7-13DF-4F36-BD47-F25EAD83E7AE}"/>
              </a:ext>
            </a:extLst>
          </p:cNvPr>
          <p:cNvSpPr>
            <a:spLocks noGrp="1"/>
          </p:cNvSpPr>
          <p:nvPr/>
        </p:nvSpPr>
        <p:spPr>
          <a:xfrm>
            <a:off x="2194560" y="4400169"/>
            <a:ext cx="2469146" cy="73152"/>
          </a:xfrm>
          <a:prstGeom prst="rect">
            <a:avLst/>
          </a:prstGeom>
          <a:solidFill>
            <a:srgbClr val="1C6F82"/>
          </a:solidFill>
          <a:ln w="8890">
            <a:solidFill>
              <a:srgbClr val="1C6F8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3A9594FA-441A-4CF8-B1A0-C4EFCBE590B2}"/>
              </a:ext>
            </a:extLst>
          </p:cNvPr>
          <p:cNvSpPr>
            <a:spLocks noGrp="1"/>
          </p:cNvSpPr>
          <p:nvPr/>
        </p:nvSpPr>
        <p:spPr>
          <a:xfrm>
            <a:off x="7223759" y="4345305"/>
            <a:ext cx="502920" cy="164592"/>
          </a:xfrm>
          <a:prstGeom prst="rect">
            <a:avLst/>
          </a:prstGeom>
          <a:noFill/>
        </p:spPr>
        <p:txBody>
          <a:bodyPr wrap="square">
            <a:noAutofit/>
          </a:bodyPr>
          <a:lstStyle/>
          <a:p>
            <a:pPr algn="r">
              <a:buNone/>
            </a:pPr>
            <a:r>
              <a:rPr sz="1000" b="0">
                <a:solidFill>
                  <a:srgbClr val="56636C"/>
                </a:solidFill>
                <a:latin typeface="Aptos"/>
                <a:ea typeface="Aptos"/>
                <a:cs typeface="Aptos"/>
              </a:rPr>
              <a:t>0.6M</a:t>
            </a:r>
          </a:p>
        </p:txBody>
      </p:sp>
      <p:sp>
        <p:nvSpPr>
          <p:cNvPr id="32" name="TextBox 31">
            <a:extLst>
              <a:ext uri="{FF2B5EF4-FFF2-40B4-BE49-F238E27FC236}">
                <a16:creationId xmlns:a16="http://schemas.microsoft.com/office/drawing/2014/main" id="{4A574369-9EE3-46EC-ACCD-C4A8BD17A247}"/>
              </a:ext>
            </a:extLst>
          </p:cNvPr>
          <p:cNvSpPr>
            <a:spLocks noGrp="1"/>
          </p:cNvSpPr>
          <p:nvPr/>
        </p:nvSpPr>
        <p:spPr>
          <a:xfrm>
            <a:off x="685800" y="4795647"/>
            <a:ext cx="1371600" cy="182880"/>
          </a:xfrm>
          <a:prstGeom prst="rect">
            <a:avLst/>
          </a:prstGeom>
          <a:noFill/>
        </p:spPr>
        <p:txBody>
          <a:bodyPr wrap="square">
            <a:noAutofit/>
          </a:bodyPr>
          <a:lstStyle/>
          <a:p>
            <a:pPr algn="l">
              <a:buNone/>
            </a:pPr>
            <a:r>
              <a:rPr sz="1000" b="0">
                <a:solidFill>
                  <a:srgbClr val="11202A"/>
                </a:solidFill>
                <a:latin typeface="Aptos"/>
                <a:ea typeface="Aptos"/>
                <a:cs typeface="Aptos"/>
              </a:rPr>
              <a:t>housewares</a:t>
            </a:r>
          </a:p>
        </p:txBody>
      </p:sp>
      <p:sp>
        <p:nvSpPr>
          <p:cNvPr id="33" name="Rectangle 32">
            <a:extLst>
              <a:ext uri="{FF2B5EF4-FFF2-40B4-BE49-F238E27FC236}">
                <a16:creationId xmlns:a16="http://schemas.microsoft.com/office/drawing/2014/main" id="{772D5716-4CF9-4B28-995D-D93112088F70}"/>
              </a:ext>
            </a:extLst>
          </p:cNvPr>
          <p:cNvSpPr>
            <a:spLocks noGrp="1"/>
          </p:cNvSpPr>
          <p:nvPr/>
        </p:nvSpPr>
        <p:spPr>
          <a:xfrm>
            <a:off x="2194560" y="4823079"/>
            <a:ext cx="4892040" cy="73152"/>
          </a:xfrm>
          <a:prstGeom prst="rect">
            <a:avLst/>
          </a:prstGeom>
          <a:solidFill>
            <a:srgbClr val="E8E2D7"/>
          </a:solidFill>
          <a:ln w="8890">
            <a:solidFill>
              <a:srgbClr val="E8E2D7"/>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Rectangle 33">
            <a:extLst>
              <a:ext uri="{FF2B5EF4-FFF2-40B4-BE49-F238E27FC236}">
                <a16:creationId xmlns:a16="http://schemas.microsoft.com/office/drawing/2014/main" id="{18E8741C-1547-4CC8-90FF-E967306F4E68}"/>
              </a:ext>
            </a:extLst>
          </p:cNvPr>
          <p:cNvSpPr>
            <a:spLocks noGrp="1"/>
          </p:cNvSpPr>
          <p:nvPr/>
        </p:nvSpPr>
        <p:spPr>
          <a:xfrm>
            <a:off x="2194560" y="4823079"/>
            <a:ext cx="2457322" cy="73152"/>
          </a:xfrm>
          <a:prstGeom prst="rect">
            <a:avLst/>
          </a:prstGeom>
          <a:solidFill>
            <a:srgbClr val="1C6F82"/>
          </a:solidFill>
          <a:ln w="8890">
            <a:solidFill>
              <a:srgbClr val="1C6F8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6613DF09-4C79-44D1-BF7B-B9FFF1653291}"/>
              </a:ext>
            </a:extLst>
          </p:cNvPr>
          <p:cNvSpPr>
            <a:spLocks noGrp="1"/>
          </p:cNvSpPr>
          <p:nvPr/>
        </p:nvSpPr>
        <p:spPr>
          <a:xfrm>
            <a:off x="7223759" y="4768215"/>
            <a:ext cx="502920" cy="164592"/>
          </a:xfrm>
          <a:prstGeom prst="rect">
            <a:avLst/>
          </a:prstGeom>
          <a:noFill/>
        </p:spPr>
        <p:txBody>
          <a:bodyPr wrap="square">
            <a:noAutofit/>
          </a:bodyPr>
          <a:lstStyle/>
          <a:p>
            <a:pPr algn="r">
              <a:buNone/>
            </a:pPr>
            <a:r>
              <a:rPr sz="1000" b="0">
                <a:solidFill>
                  <a:srgbClr val="56636C"/>
                </a:solidFill>
                <a:latin typeface="Aptos"/>
                <a:ea typeface="Aptos"/>
                <a:cs typeface="Aptos"/>
              </a:rPr>
              <a:t>0.6M</a:t>
            </a:r>
          </a:p>
        </p:txBody>
      </p:sp>
      <p:sp>
        <p:nvSpPr>
          <p:cNvPr id="36" name="Rectangle 35">
            <a:extLst>
              <a:ext uri="{FF2B5EF4-FFF2-40B4-BE49-F238E27FC236}">
                <a16:creationId xmlns:a16="http://schemas.microsoft.com/office/drawing/2014/main" id="{85F1F4ED-F701-4432-B9BF-38D851AD58F2}"/>
              </a:ext>
            </a:extLst>
          </p:cNvPr>
          <p:cNvSpPr>
            <a:spLocks noGrp="1"/>
          </p:cNvSpPr>
          <p:nvPr/>
        </p:nvSpPr>
        <p:spPr>
          <a:xfrm>
            <a:off x="8229600" y="1853565"/>
            <a:ext cx="2560320" cy="3337560"/>
          </a:xfrm>
          <a:prstGeom prst="rect">
            <a:avLst/>
          </a:prstGeom>
          <a:solidFill>
            <a:srgbClr val="FFFCF6"/>
          </a:solidFill>
          <a:ln w="8890">
            <a:solidFill>
              <a:srgbClr val="E2B06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C34FD352-6A3B-44A7-8C1B-441ABE9CF04E}"/>
              </a:ext>
            </a:extLst>
          </p:cNvPr>
          <p:cNvSpPr>
            <a:spLocks noGrp="1"/>
          </p:cNvSpPr>
          <p:nvPr/>
        </p:nvSpPr>
        <p:spPr>
          <a:xfrm>
            <a:off x="8549640" y="2173605"/>
            <a:ext cx="1463040" cy="274320"/>
          </a:xfrm>
          <a:prstGeom prst="rect">
            <a:avLst/>
          </a:prstGeom>
          <a:noFill/>
        </p:spPr>
        <p:txBody>
          <a:bodyPr wrap="square">
            <a:normAutofit/>
          </a:bodyPr>
          <a:lstStyle/>
          <a:p>
            <a:pPr algn="l">
              <a:buNone/>
            </a:pPr>
            <a:r>
              <a:rPr sz="1100" b="1">
                <a:solidFill>
                  <a:srgbClr val="CE8227"/>
                </a:solidFill>
                <a:latin typeface="Aptos"/>
                <a:ea typeface="Aptos"/>
                <a:cs typeface="Aptos"/>
              </a:rPr>
              <a:t>Decision use</a:t>
            </a:r>
          </a:p>
        </p:txBody>
      </p:sp>
      <p:sp>
        <p:nvSpPr>
          <p:cNvPr id="38" name="TextBox 37">
            <a:extLst>
              <a:ext uri="{FF2B5EF4-FFF2-40B4-BE49-F238E27FC236}">
                <a16:creationId xmlns:a16="http://schemas.microsoft.com/office/drawing/2014/main" id="{3E064B25-9D25-4226-83DD-51E802DFCB9D}"/>
              </a:ext>
            </a:extLst>
          </p:cNvPr>
          <p:cNvSpPr>
            <a:spLocks noGrp="1"/>
          </p:cNvSpPr>
          <p:nvPr/>
        </p:nvSpPr>
        <p:spPr>
          <a:xfrm>
            <a:off x="8549640" y="2630805"/>
            <a:ext cx="1874519" cy="1463040"/>
          </a:xfrm>
          <a:prstGeom prst="rect">
            <a:avLst/>
          </a:prstGeom>
          <a:noFill/>
        </p:spPr>
        <p:txBody>
          <a:bodyPr wrap="square">
            <a:normAutofit/>
          </a:bodyPr>
          <a:lstStyle/>
          <a:p>
            <a:pPr algn="l">
              <a:buNone/>
            </a:pPr>
            <a:r>
              <a:rPr sz="1200" b="1">
                <a:solidFill>
                  <a:srgbClr val="11202A"/>
                </a:solidFill>
                <a:latin typeface="Aptos"/>
                <a:ea typeface="Aptos"/>
                <a:cs typeface="Aptos"/>
              </a:rPr>
              <a:t>Prioritize seller support, stock readiness, fulfillment monitoring, and review follow-up in categories where demand is already proven.</a:t>
            </a:r>
          </a:p>
        </p:txBody>
      </p:sp>
      <p:sp>
        <p:nvSpPr>
          <p:cNvPr id="39" name="TextBox 38">
            <a:extLst>
              <a:ext uri="{FF2B5EF4-FFF2-40B4-BE49-F238E27FC236}">
                <a16:creationId xmlns:a16="http://schemas.microsoft.com/office/drawing/2014/main" id="{D21F8201-5577-4A65-8AEC-F8259F7507F3}"/>
              </a:ext>
            </a:extLst>
          </p:cNvPr>
          <p:cNvSpPr>
            <a:spLocks noGrp="1"/>
          </p:cNvSpPr>
          <p:nvPr/>
        </p:nvSpPr>
        <p:spPr>
          <a:xfrm>
            <a:off x="8549640" y="4459605"/>
            <a:ext cx="1828800" cy="320040"/>
          </a:xfrm>
          <a:prstGeom prst="rect">
            <a:avLst/>
          </a:prstGeom>
          <a:noFill/>
        </p:spPr>
        <p:txBody>
          <a:bodyPr wrap="square">
            <a:noAutofit/>
          </a:bodyPr>
          <a:lstStyle/>
          <a:p>
            <a:pPr algn="l">
              <a:buNone/>
            </a:pPr>
            <a:r>
              <a:rPr sz="1200" b="0" dirty="0">
                <a:solidFill>
                  <a:srgbClr val="56636C"/>
                </a:solidFill>
                <a:latin typeface="Aptos"/>
                <a:ea typeface="Aptos"/>
                <a:cs typeface="Aptos"/>
              </a:rPr>
              <a:t>The dashboard ranks biggest categories first.</a:t>
            </a:r>
          </a:p>
        </p:txBody>
      </p:sp>
      <p:sp>
        <p:nvSpPr>
          <p:cNvPr id="40" name="TextBox 39">
            <a:extLst>
              <a:ext uri="{FF2B5EF4-FFF2-40B4-BE49-F238E27FC236}">
                <a16:creationId xmlns:a16="http://schemas.microsoft.com/office/drawing/2014/main" id="{A4F07BF2-3056-4031-81FD-A92DA2476E17}"/>
              </a:ext>
            </a:extLst>
          </p:cNvPr>
          <p:cNvSpPr>
            <a:spLocks noGrp="1"/>
          </p:cNvSpPr>
          <p:nvPr/>
        </p:nvSpPr>
        <p:spPr>
          <a:xfrm>
            <a:off x="566928" y="6519672"/>
            <a:ext cx="5029200" cy="164592"/>
          </a:xfrm>
          <a:prstGeom prst="rect">
            <a:avLst/>
          </a:prstGeom>
          <a:noFill/>
        </p:spPr>
        <p:txBody>
          <a:bodyPr wrap="square">
            <a:normAutofit/>
          </a:bodyPr>
          <a:lstStyle/>
          <a:p>
            <a:pPr algn="l">
              <a:buNone/>
            </a:pPr>
            <a:r>
              <a:rPr sz="650" b="0">
                <a:solidFill>
                  <a:srgbClr val="96968C"/>
                </a:solidFill>
                <a:latin typeface="Aptos"/>
                <a:ea typeface="Aptos"/>
                <a:cs typeface="Aptos"/>
              </a:rPr>
              <a:t>Source: Olist Brazilian E-Commerce dataset; DuckDB/dbt warehouse marts</a:t>
            </a:r>
          </a:p>
        </p:txBody>
      </p:sp>
      <p:sp>
        <p:nvSpPr>
          <p:cNvPr id="41" name="TextBox 40">
            <a:extLst>
              <a:ext uri="{FF2B5EF4-FFF2-40B4-BE49-F238E27FC236}">
                <a16:creationId xmlns:a16="http://schemas.microsoft.com/office/drawing/2014/main" id="{0B23B4AA-5452-4184-97A2-3429A59AB042}"/>
              </a:ext>
            </a:extLst>
          </p:cNvPr>
          <p:cNvSpPr>
            <a:spLocks noGrp="1"/>
          </p:cNvSpPr>
          <p:nvPr/>
        </p:nvSpPr>
        <p:spPr>
          <a:xfrm>
            <a:off x="11292840" y="6519672"/>
            <a:ext cx="320040" cy="164592"/>
          </a:xfrm>
          <a:prstGeom prst="rect">
            <a:avLst/>
          </a:prstGeom>
          <a:noFill/>
        </p:spPr>
        <p:txBody>
          <a:bodyPr wrap="square">
            <a:normAutofit/>
          </a:bodyPr>
          <a:lstStyle/>
          <a:p>
            <a:pPr algn="r">
              <a:buNone/>
            </a:pPr>
            <a:r>
              <a:rPr sz="650">
                <a:solidFill>
                  <a:srgbClr val="96968C"/>
                </a:solidFill>
                <a:latin typeface="Aptos"/>
                <a:ea typeface="Aptos"/>
                <a:cs typeface="Aptos"/>
              </a:rPr>
              <a:t>09</a:t>
            </a:r>
          </a:p>
        </p:txBody>
      </p:sp>
    </p:spTree>
    <p:extLst>
      <p:ext uri="{BB962C8B-B14F-4D97-AF65-F5344CB8AC3E}">
        <p14:creationId xmlns:p14="http://schemas.microsoft.com/office/powerpoint/2010/main" val="13817844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F886DD-B2B3-484F-B727-FA16E4A8C8FE}"/>
              </a:ext>
            </a:extLst>
          </p:cNvPr>
          <p:cNvSpPr>
            <a:spLocks noGrp="1"/>
          </p:cNvSpPr>
          <p:nvPr/>
        </p:nvSpPr>
        <p:spPr>
          <a:xfrm>
            <a:off x="566928" y="256032"/>
            <a:ext cx="2560320" cy="201168"/>
          </a:xfrm>
          <a:prstGeom prst="rect">
            <a:avLst/>
          </a:prstGeom>
          <a:noFill/>
        </p:spPr>
        <p:txBody>
          <a:bodyPr wrap="square">
            <a:normAutofit/>
          </a:bodyPr>
          <a:lstStyle/>
          <a:p>
            <a:pPr algn="l">
              <a:buNone/>
            </a:pPr>
            <a:r>
              <a:rPr sz="750" b="1">
                <a:solidFill>
                  <a:srgbClr val="CE8227"/>
                </a:solidFill>
                <a:latin typeface="Aptos"/>
                <a:ea typeface="Aptos"/>
                <a:cs typeface="Aptos"/>
              </a:rPr>
              <a:t>FULFILLMENT FRICTION</a:t>
            </a:r>
          </a:p>
        </p:txBody>
      </p:sp>
      <p:sp>
        <p:nvSpPr>
          <p:cNvPr id="3" name="TextBox 2">
            <a:extLst>
              <a:ext uri="{FF2B5EF4-FFF2-40B4-BE49-F238E27FC236}">
                <a16:creationId xmlns:a16="http://schemas.microsoft.com/office/drawing/2014/main" id="{4AD58FF1-6EF5-4618-AD3E-BA6E1F57CE6B}"/>
              </a:ext>
            </a:extLst>
          </p:cNvPr>
          <p:cNvSpPr>
            <a:spLocks noGrp="1"/>
          </p:cNvSpPr>
          <p:nvPr/>
        </p:nvSpPr>
        <p:spPr>
          <a:xfrm>
            <a:off x="566928" y="530352"/>
            <a:ext cx="7955279" cy="822960"/>
          </a:xfrm>
          <a:prstGeom prst="rect">
            <a:avLst/>
          </a:prstGeom>
          <a:noFill/>
        </p:spPr>
        <p:txBody>
          <a:bodyPr wrap="square">
            <a:normAutofit/>
          </a:bodyPr>
          <a:lstStyle/>
          <a:p>
            <a:pPr algn="l">
              <a:buNone/>
            </a:pPr>
            <a:r>
              <a:rPr sz="2400" b="1">
                <a:solidFill>
                  <a:srgbClr val="11202A"/>
                </a:solidFill>
                <a:latin typeface="Aptos"/>
                <a:ea typeface="Aptos"/>
                <a:cs typeface="Aptos"/>
              </a:rPr>
              <a:t>Slow-delivery states turn logistics into seller-review and retention risk.</a:t>
            </a:r>
          </a:p>
        </p:txBody>
      </p:sp>
      <p:sp>
        <p:nvSpPr>
          <p:cNvPr id="4" name="TextBox 3">
            <a:extLst>
              <a:ext uri="{FF2B5EF4-FFF2-40B4-BE49-F238E27FC236}">
                <a16:creationId xmlns:a16="http://schemas.microsoft.com/office/drawing/2014/main" id="{2F7C1E8E-690A-4A33-8B6C-B0ECDE7C3419}"/>
              </a:ext>
            </a:extLst>
          </p:cNvPr>
          <p:cNvSpPr>
            <a:spLocks noGrp="1"/>
          </p:cNvSpPr>
          <p:nvPr/>
        </p:nvSpPr>
        <p:spPr>
          <a:xfrm>
            <a:off x="685800" y="1720977"/>
            <a:ext cx="1371600" cy="182880"/>
          </a:xfrm>
          <a:prstGeom prst="rect">
            <a:avLst/>
          </a:prstGeom>
          <a:noFill/>
        </p:spPr>
        <p:txBody>
          <a:bodyPr wrap="square">
            <a:noAutofit/>
          </a:bodyPr>
          <a:lstStyle/>
          <a:p>
            <a:pPr algn="l">
              <a:buNone/>
            </a:pPr>
            <a:r>
              <a:rPr sz="1000" b="0" dirty="0">
                <a:solidFill>
                  <a:srgbClr val="11202A"/>
                </a:solidFill>
                <a:latin typeface="Aptos"/>
                <a:ea typeface="Aptos"/>
                <a:cs typeface="Aptos"/>
              </a:rPr>
              <a:t>AM</a:t>
            </a:r>
          </a:p>
        </p:txBody>
      </p:sp>
      <p:sp>
        <p:nvSpPr>
          <p:cNvPr id="5" name="Rectangle 4">
            <a:extLst>
              <a:ext uri="{FF2B5EF4-FFF2-40B4-BE49-F238E27FC236}">
                <a16:creationId xmlns:a16="http://schemas.microsoft.com/office/drawing/2014/main" id="{83BC1187-C309-4932-B9EE-80DC56BD09D8}"/>
              </a:ext>
            </a:extLst>
          </p:cNvPr>
          <p:cNvSpPr>
            <a:spLocks noGrp="1"/>
          </p:cNvSpPr>
          <p:nvPr/>
        </p:nvSpPr>
        <p:spPr>
          <a:xfrm>
            <a:off x="2194560" y="1748409"/>
            <a:ext cx="3703320" cy="73152"/>
          </a:xfrm>
          <a:prstGeom prst="rect">
            <a:avLst/>
          </a:prstGeom>
          <a:solidFill>
            <a:srgbClr val="E8E2D7"/>
          </a:solidFill>
          <a:ln w="8890">
            <a:solidFill>
              <a:srgbClr val="E8E2D7"/>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2E71D09D-AEC0-429B-A510-4FB9D5EC1B0C}"/>
              </a:ext>
            </a:extLst>
          </p:cNvPr>
          <p:cNvSpPr>
            <a:spLocks noGrp="1"/>
          </p:cNvSpPr>
          <p:nvPr/>
        </p:nvSpPr>
        <p:spPr>
          <a:xfrm>
            <a:off x="2194560" y="1748409"/>
            <a:ext cx="3703320" cy="73152"/>
          </a:xfrm>
          <a:prstGeom prst="rect">
            <a:avLst/>
          </a:prstGeom>
          <a:solidFill>
            <a:srgbClr val="BE533D"/>
          </a:solidFill>
          <a:ln w="8890">
            <a:solidFill>
              <a:srgbClr val="BE533D"/>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1AF379A-98F3-4A44-8775-134D838C38F4}"/>
              </a:ext>
            </a:extLst>
          </p:cNvPr>
          <p:cNvSpPr>
            <a:spLocks noGrp="1"/>
          </p:cNvSpPr>
          <p:nvPr/>
        </p:nvSpPr>
        <p:spPr>
          <a:xfrm>
            <a:off x="6035040" y="1693545"/>
            <a:ext cx="502920" cy="164592"/>
          </a:xfrm>
          <a:prstGeom prst="rect">
            <a:avLst/>
          </a:prstGeom>
          <a:noFill/>
        </p:spPr>
        <p:txBody>
          <a:bodyPr wrap="square">
            <a:noAutofit/>
          </a:bodyPr>
          <a:lstStyle/>
          <a:p>
            <a:pPr algn="r">
              <a:buNone/>
            </a:pPr>
            <a:r>
              <a:rPr sz="1000" b="0">
                <a:solidFill>
                  <a:srgbClr val="56636C"/>
                </a:solidFill>
                <a:latin typeface="Aptos"/>
                <a:ea typeface="Aptos"/>
                <a:cs typeface="Aptos"/>
              </a:rPr>
              <a:t>36.6d</a:t>
            </a:r>
          </a:p>
        </p:txBody>
      </p:sp>
      <p:sp>
        <p:nvSpPr>
          <p:cNvPr id="8" name="TextBox 7">
            <a:extLst>
              <a:ext uri="{FF2B5EF4-FFF2-40B4-BE49-F238E27FC236}">
                <a16:creationId xmlns:a16="http://schemas.microsoft.com/office/drawing/2014/main" id="{EA071846-EE26-4763-A631-9A71B965C284}"/>
              </a:ext>
            </a:extLst>
          </p:cNvPr>
          <p:cNvSpPr>
            <a:spLocks noGrp="1"/>
          </p:cNvSpPr>
          <p:nvPr/>
        </p:nvSpPr>
        <p:spPr>
          <a:xfrm>
            <a:off x="685800" y="2138172"/>
            <a:ext cx="1371600" cy="182880"/>
          </a:xfrm>
          <a:prstGeom prst="rect">
            <a:avLst/>
          </a:prstGeom>
          <a:noFill/>
        </p:spPr>
        <p:txBody>
          <a:bodyPr wrap="square">
            <a:noAutofit/>
          </a:bodyPr>
          <a:lstStyle/>
          <a:p>
            <a:pPr algn="l">
              <a:buNone/>
            </a:pPr>
            <a:r>
              <a:rPr sz="1000" b="0">
                <a:solidFill>
                  <a:srgbClr val="11202A"/>
                </a:solidFill>
                <a:latin typeface="Aptos"/>
                <a:ea typeface="Aptos"/>
                <a:cs typeface="Aptos"/>
              </a:rPr>
              <a:t>AL</a:t>
            </a:r>
          </a:p>
        </p:txBody>
      </p:sp>
      <p:sp>
        <p:nvSpPr>
          <p:cNvPr id="9" name="Rectangle 8">
            <a:extLst>
              <a:ext uri="{FF2B5EF4-FFF2-40B4-BE49-F238E27FC236}">
                <a16:creationId xmlns:a16="http://schemas.microsoft.com/office/drawing/2014/main" id="{AE174D2F-1ED8-4E7D-A3FC-42ED52E6D0E6}"/>
              </a:ext>
            </a:extLst>
          </p:cNvPr>
          <p:cNvSpPr>
            <a:spLocks noGrp="1"/>
          </p:cNvSpPr>
          <p:nvPr/>
        </p:nvSpPr>
        <p:spPr>
          <a:xfrm>
            <a:off x="2194560" y="2165604"/>
            <a:ext cx="3703320" cy="73152"/>
          </a:xfrm>
          <a:prstGeom prst="rect">
            <a:avLst/>
          </a:prstGeom>
          <a:solidFill>
            <a:srgbClr val="E8E2D7"/>
          </a:solidFill>
          <a:ln w="8890">
            <a:solidFill>
              <a:srgbClr val="E8E2D7"/>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Rectangle 9">
            <a:extLst>
              <a:ext uri="{FF2B5EF4-FFF2-40B4-BE49-F238E27FC236}">
                <a16:creationId xmlns:a16="http://schemas.microsoft.com/office/drawing/2014/main" id="{AEC6C1C6-1A98-40BB-A6C8-034A5592CE6F}"/>
              </a:ext>
            </a:extLst>
          </p:cNvPr>
          <p:cNvSpPr>
            <a:spLocks noGrp="1"/>
          </p:cNvSpPr>
          <p:nvPr/>
        </p:nvSpPr>
        <p:spPr>
          <a:xfrm>
            <a:off x="2194560" y="2165604"/>
            <a:ext cx="2647203" cy="73152"/>
          </a:xfrm>
          <a:prstGeom prst="rect">
            <a:avLst/>
          </a:prstGeom>
          <a:solidFill>
            <a:srgbClr val="BE533D"/>
          </a:solidFill>
          <a:ln w="8890">
            <a:solidFill>
              <a:srgbClr val="BE533D"/>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01BF1B95-E102-48E1-8E17-BA4DFFEEEBE0}"/>
              </a:ext>
            </a:extLst>
          </p:cNvPr>
          <p:cNvSpPr>
            <a:spLocks noGrp="1"/>
          </p:cNvSpPr>
          <p:nvPr/>
        </p:nvSpPr>
        <p:spPr>
          <a:xfrm>
            <a:off x="6035040" y="2110740"/>
            <a:ext cx="502920" cy="164592"/>
          </a:xfrm>
          <a:prstGeom prst="rect">
            <a:avLst/>
          </a:prstGeom>
          <a:noFill/>
        </p:spPr>
        <p:txBody>
          <a:bodyPr wrap="square">
            <a:noAutofit/>
          </a:bodyPr>
          <a:lstStyle/>
          <a:p>
            <a:pPr algn="r">
              <a:buNone/>
            </a:pPr>
            <a:r>
              <a:rPr sz="1000" b="0">
                <a:solidFill>
                  <a:srgbClr val="56636C"/>
                </a:solidFill>
                <a:latin typeface="Aptos"/>
                <a:ea typeface="Aptos"/>
                <a:cs typeface="Aptos"/>
              </a:rPr>
              <a:t>26.2d</a:t>
            </a:r>
          </a:p>
        </p:txBody>
      </p:sp>
      <p:sp>
        <p:nvSpPr>
          <p:cNvPr id="12" name="TextBox 11">
            <a:extLst>
              <a:ext uri="{FF2B5EF4-FFF2-40B4-BE49-F238E27FC236}">
                <a16:creationId xmlns:a16="http://schemas.microsoft.com/office/drawing/2014/main" id="{D9C26CC9-62D1-42E6-A454-FB97F3437512}"/>
              </a:ext>
            </a:extLst>
          </p:cNvPr>
          <p:cNvSpPr>
            <a:spLocks noGrp="1"/>
          </p:cNvSpPr>
          <p:nvPr/>
        </p:nvSpPr>
        <p:spPr>
          <a:xfrm>
            <a:off x="685800" y="2555366"/>
            <a:ext cx="1371600" cy="182880"/>
          </a:xfrm>
          <a:prstGeom prst="rect">
            <a:avLst/>
          </a:prstGeom>
          <a:noFill/>
        </p:spPr>
        <p:txBody>
          <a:bodyPr wrap="square">
            <a:noAutofit/>
          </a:bodyPr>
          <a:lstStyle/>
          <a:p>
            <a:pPr algn="l">
              <a:buNone/>
            </a:pPr>
            <a:r>
              <a:rPr sz="1000" b="0">
                <a:solidFill>
                  <a:srgbClr val="11202A"/>
                </a:solidFill>
                <a:latin typeface="Aptos"/>
                <a:ea typeface="Aptos"/>
                <a:cs typeface="Aptos"/>
              </a:rPr>
              <a:t>PA</a:t>
            </a:r>
          </a:p>
        </p:txBody>
      </p:sp>
      <p:sp>
        <p:nvSpPr>
          <p:cNvPr id="13" name="Rectangle 12">
            <a:extLst>
              <a:ext uri="{FF2B5EF4-FFF2-40B4-BE49-F238E27FC236}">
                <a16:creationId xmlns:a16="http://schemas.microsoft.com/office/drawing/2014/main" id="{71602677-E785-45E1-B3B2-24AF914089EB}"/>
              </a:ext>
            </a:extLst>
          </p:cNvPr>
          <p:cNvSpPr>
            <a:spLocks noGrp="1"/>
          </p:cNvSpPr>
          <p:nvPr/>
        </p:nvSpPr>
        <p:spPr>
          <a:xfrm>
            <a:off x="2194560" y="2582799"/>
            <a:ext cx="3703320" cy="73152"/>
          </a:xfrm>
          <a:prstGeom prst="rect">
            <a:avLst/>
          </a:prstGeom>
          <a:solidFill>
            <a:srgbClr val="E8E2D7"/>
          </a:solidFill>
          <a:ln w="8890">
            <a:solidFill>
              <a:srgbClr val="E8E2D7"/>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80C78D83-2506-4F9D-8868-5F23FC27A8E7}"/>
              </a:ext>
            </a:extLst>
          </p:cNvPr>
          <p:cNvSpPr>
            <a:spLocks noGrp="1"/>
          </p:cNvSpPr>
          <p:nvPr/>
        </p:nvSpPr>
        <p:spPr>
          <a:xfrm>
            <a:off x="2194560" y="2582799"/>
            <a:ext cx="2425680" cy="73152"/>
          </a:xfrm>
          <a:prstGeom prst="rect">
            <a:avLst/>
          </a:prstGeom>
          <a:solidFill>
            <a:srgbClr val="BE533D"/>
          </a:solidFill>
          <a:ln w="8890">
            <a:solidFill>
              <a:srgbClr val="BE533D"/>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D29F3ABF-A7B8-4249-8B02-D78FFE3F0FC3}"/>
              </a:ext>
            </a:extLst>
          </p:cNvPr>
          <p:cNvSpPr>
            <a:spLocks noGrp="1"/>
          </p:cNvSpPr>
          <p:nvPr/>
        </p:nvSpPr>
        <p:spPr>
          <a:xfrm>
            <a:off x="6035040" y="2527935"/>
            <a:ext cx="502920" cy="164592"/>
          </a:xfrm>
          <a:prstGeom prst="rect">
            <a:avLst/>
          </a:prstGeom>
          <a:noFill/>
        </p:spPr>
        <p:txBody>
          <a:bodyPr wrap="square">
            <a:noAutofit/>
          </a:bodyPr>
          <a:lstStyle/>
          <a:p>
            <a:pPr algn="r">
              <a:buNone/>
            </a:pPr>
            <a:r>
              <a:rPr sz="1000" b="0">
                <a:solidFill>
                  <a:srgbClr val="56636C"/>
                </a:solidFill>
                <a:latin typeface="Aptos"/>
                <a:ea typeface="Aptos"/>
                <a:cs typeface="Aptos"/>
              </a:rPr>
              <a:t>24.0d</a:t>
            </a:r>
          </a:p>
        </p:txBody>
      </p:sp>
      <p:sp>
        <p:nvSpPr>
          <p:cNvPr id="16" name="TextBox 15">
            <a:extLst>
              <a:ext uri="{FF2B5EF4-FFF2-40B4-BE49-F238E27FC236}">
                <a16:creationId xmlns:a16="http://schemas.microsoft.com/office/drawing/2014/main" id="{51E8ED70-2FF9-47A2-90AE-AF9E4B17890F}"/>
              </a:ext>
            </a:extLst>
          </p:cNvPr>
          <p:cNvSpPr>
            <a:spLocks noGrp="1"/>
          </p:cNvSpPr>
          <p:nvPr/>
        </p:nvSpPr>
        <p:spPr>
          <a:xfrm>
            <a:off x="685800" y="2972562"/>
            <a:ext cx="1371600" cy="182880"/>
          </a:xfrm>
          <a:prstGeom prst="rect">
            <a:avLst/>
          </a:prstGeom>
          <a:noFill/>
        </p:spPr>
        <p:txBody>
          <a:bodyPr wrap="square">
            <a:noAutofit/>
          </a:bodyPr>
          <a:lstStyle/>
          <a:p>
            <a:pPr algn="l">
              <a:buNone/>
            </a:pPr>
            <a:r>
              <a:rPr sz="1000" b="0">
                <a:solidFill>
                  <a:srgbClr val="11202A"/>
                </a:solidFill>
                <a:latin typeface="Aptos"/>
                <a:ea typeface="Aptos"/>
                <a:cs typeface="Aptos"/>
              </a:rPr>
              <a:t>SE</a:t>
            </a:r>
          </a:p>
        </p:txBody>
      </p:sp>
      <p:sp>
        <p:nvSpPr>
          <p:cNvPr id="17" name="Rectangle 16">
            <a:extLst>
              <a:ext uri="{FF2B5EF4-FFF2-40B4-BE49-F238E27FC236}">
                <a16:creationId xmlns:a16="http://schemas.microsoft.com/office/drawing/2014/main" id="{8C685D37-6FFA-4E70-8634-6A320606DB0B}"/>
              </a:ext>
            </a:extLst>
          </p:cNvPr>
          <p:cNvSpPr>
            <a:spLocks noGrp="1"/>
          </p:cNvSpPr>
          <p:nvPr/>
        </p:nvSpPr>
        <p:spPr>
          <a:xfrm>
            <a:off x="2194560" y="2999994"/>
            <a:ext cx="3703320" cy="73152"/>
          </a:xfrm>
          <a:prstGeom prst="rect">
            <a:avLst/>
          </a:prstGeom>
          <a:solidFill>
            <a:srgbClr val="E8E2D7"/>
          </a:solidFill>
          <a:ln w="8890">
            <a:solidFill>
              <a:srgbClr val="E8E2D7"/>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E0B29F09-0F15-404C-A23F-D1B3C3777E2A}"/>
              </a:ext>
            </a:extLst>
          </p:cNvPr>
          <p:cNvSpPr>
            <a:spLocks noGrp="1"/>
          </p:cNvSpPr>
          <p:nvPr/>
        </p:nvSpPr>
        <p:spPr>
          <a:xfrm>
            <a:off x="2194560" y="2999994"/>
            <a:ext cx="2141272" cy="73152"/>
          </a:xfrm>
          <a:prstGeom prst="rect">
            <a:avLst/>
          </a:prstGeom>
          <a:solidFill>
            <a:srgbClr val="BE533D"/>
          </a:solidFill>
          <a:ln w="8890">
            <a:solidFill>
              <a:srgbClr val="BE533D"/>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7D06723E-2C70-4F7D-A546-C4886A8899EE}"/>
              </a:ext>
            </a:extLst>
          </p:cNvPr>
          <p:cNvSpPr>
            <a:spLocks noGrp="1"/>
          </p:cNvSpPr>
          <p:nvPr/>
        </p:nvSpPr>
        <p:spPr>
          <a:xfrm>
            <a:off x="6035040" y="2945130"/>
            <a:ext cx="502920" cy="164592"/>
          </a:xfrm>
          <a:prstGeom prst="rect">
            <a:avLst/>
          </a:prstGeom>
          <a:noFill/>
        </p:spPr>
        <p:txBody>
          <a:bodyPr wrap="square">
            <a:noAutofit/>
          </a:bodyPr>
          <a:lstStyle/>
          <a:p>
            <a:pPr algn="r">
              <a:buNone/>
            </a:pPr>
            <a:r>
              <a:rPr sz="1000" b="0">
                <a:solidFill>
                  <a:srgbClr val="56636C"/>
                </a:solidFill>
                <a:latin typeface="Aptos"/>
                <a:ea typeface="Aptos"/>
                <a:cs typeface="Aptos"/>
              </a:rPr>
              <a:t>21.2d</a:t>
            </a:r>
          </a:p>
        </p:txBody>
      </p:sp>
      <p:sp>
        <p:nvSpPr>
          <p:cNvPr id="20" name="TextBox 19">
            <a:extLst>
              <a:ext uri="{FF2B5EF4-FFF2-40B4-BE49-F238E27FC236}">
                <a16:creationId xmlns:a16="http://schemas.microsoft.com/office/drawing/2014/main" id="{01C6D295-FE45-4ECC-86E9-ED9EC3B34953}"/>
              </a:ext>
            </a:extLst>
          </p:cNvPr>
          <p:cNvSpPr>
            <a:spLocks noGrp="1"/>
          </p:cNvSpPr>
          <p:nvPr/>
        </p:nvSpPr>
        <p:spPr>
          <a:xfrm>
            <a:off x="685800" y="3389757"/>
            <a:ext cx="1371600" cy="182880"/>
          </a:xfrm>
          <a:prstGeom prst="rect">
            <a:avLst/>
          </a:prstGeom>
          <a:noFill/>
        </p:spPr>
        <p:txBody>
          <a:bodyPr wrap="square">
            <a:noAutofit/>
          </a:bodyPr>
          <a:lstStyle/>
          <a:p>
            <a:pPr algn="l">
              <a:buNone/>
            </a:pPr>
            <a:r>
              <a:rPr sz="1000" b="0">
                <a:solidFill>
                  <a:srgbClr val="11202A"/>
                </a:solidFill>
                <a:latin typeface="Aptos"/>
                <a:ea typeface="Aptos"/>
                <a:cs typeface="Aptos"/>
              </a:rPr>
              <a:t>RO</a:t>
            </a:r>
          </a:p>
        </p:txBody>
      </p:sp>
      <p:sp>
        <p:nvSpPr>
          <p:cNvPr id="21" name="Rectangle 20">
            <a:extLst>
              <a:ext uri="{FF2B5EF4-FFF2-40B4-BE49-F238E27FC236}">
                <a16:creationId xmlns:a16="http://schemas.microsoft.com/office/drawing/2014/main" id="{1BCD762C-F08D-4091-AF53-D98A1683580F}"/>
              </a:ext>
            </a:extLst>
          </p:cNvPr>
          <p:cNvSpPr>
            <a:spLocks noGrp="1"/>
          </p:cNvSpPr>
          <p:nvPr/>
        </p:nvSpPr>
        <p:spPr>
          <a:xfrm>
            <a:off x="2194560" y="3417189"/>
            <a:ext cx="3703320" cy="73152"/>
          </a:xfrm>
          <a:prstGeom prst="rect">
            <a:avLst/>
          </a:prstGeom>
          <a:solidFill>
            <a:srgbClr val="E8E2D7"/>
          </a:solidFill>
          <a:ln w="8890">
            <a:solidFill>
              <a:srgbClr val="E8E2D7"/>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Rectangle 21">
            <a:extLst>
              <a:ext uri="{FF2B5EF4-FFF2-40B4-BE49-F238E27FC236}">
                <a16:creationId xmlns:a16="http://schemas.microsoft.com/office/drawing/2014/main" id="{7FA64DB2-B178-470B-B620-CB9D0F11FDCE}"/>
              </a:ext>
            </a:extLst>
          </p:cNvPr>
          <p:cNvSpPr>
            <a:spLocks noGrp="1"/>
          </p:cNvSpPr>
          <p:nvPr/>
        </p:nvSpPr>
        <p:spPr>
          <a:xfrm>
            <a:off x="2194560" y="3417189"/>
            <a:ext cx="1942872" cy="73152"/>
          </a:xfrm>
          <a:prstGeom prst="rect">
            <a:avLst/>
          </a:prstGeom>
          <a:solidFill>
            <a:srgbClr val="BE533D"/>
          </a:solidFill>
          <a:ln w="8890">
            <a:solidFill>
              <a:srgbClr val="BE533D"/>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D1941775-2CC9-409C-A0B7-CCDACC70D237}"/>
              </a:ext>
            </a:extLst>
          </p:cNvPr>
          <p:cNvSpPr>
            <a:spLocks noGrp="1"/>
          </p:cNvSpPr>
          <p:nvPr/>
        </p:nvSpPr>
        <p:spPr>
          <a:xfrm>
            <a:off x="6035040" y="3362325"/>
            <a:ext cx="502920" cy="164592"/>
          </a:xfrm>
          <a:prstGeom prst="rect">
            <a:avLst/>
          </a:prstGeom>
          <a:noFill/>
        </p:spPr>
        <p:txBody>
          <a:bodyPr wrap="square">
            <a:noAutofit/>
          </a:bodyPr>
          <a:lstStyle/>
          <a:p>
            <a:pPr algn="r">
              <a:buNone/>
            </a:pPr>
            <a:r>
              <a:rPr sz="1000" b="0" dirty="0">
                <a:solidFill>
                  <a:srgbClr val="56636C"/>
                </a:solidFill>
                <a:latin typeface="Aptos"/>
                <a:ea typeface="Aptos"/>
                <a:cs typeface="Aptos"/>
              </a:rPr>
              <a:t>19.2d</a:t>
            </a:r>
          </a:p>
        </p:txBody>
      </p:sp>
      <p:sp>
        <p:nvSpPr>
          <p:cNvPr id="24" name="TextBox 23">
            <a:extLst>
              <a:ext uri="{FF2B5EF4-FFF2-40B4-BE49-F238E27FC236}">
                <a16:creationId xmlns:a16="http://schemas.microsoft.com/office/drawing/2014/main" id="{07C1E896-B81A-423A-829E-D5D19C695D91}"/>
              </a:ext>
            </a:extLst>
          </p:cNvPr>
          <p:cNvSpPr>
            <a:spLocks noGrp="1"/>
          </p:cNvSpPr>
          <p:nvPr/>
        </p:nvSpPr>
        <p:spPr>
          <a:xfrm>
            <a:off x="685800" y="3806951"/>
            <a:ext cx="1371600" cy="182880"/>
          </a:xfrm>
          <a:prstGeom prst="rect">
            <a:avLst/>
          </a:prstGeom>
          <a:noFill/>
        </p:spPr>
        <p:txBody>
          <a:bodyPr wrap="square">
            <a:noAutofit/>
          </a:bodyPr>
          <a:lstStyle/>
          <a:p>
            <a:pPr algn="l">
              <a:buNone/>
            </a:pPr>
            <a:r>
              <a:rPr sz="1000" b="0">
                <a:solidFill>
                  <a:srgbClr val="11202A"/>
                </a:solidFill>
                <a:latin typeface="Aptos"/>
                <a:ea typeface="Aptos"/>
                <a:cs typeface="Aptos"/>
              </a:rPr>
              <a:t>PB</a:t>
            </a:r>
          </a:p>
        </p:txBody>
      </p:sp>
      <p:sp>
        <p:nvSpPr>
          <p:cNvPr id="25" name="Rectangle 24">
            <a:extLst>
              <a:ext uri="{FF2B5EF4-FFF2-40B4-BE49-F238E27FC236}">
                <a16:creationId xmlns:a16="http://schemas.microsoft.com/office/drawing/2014/main" id="{E5A9E090-F853-464B-9901-96527438E460}"/>
              </a:ext>
            </a:extLst>
          </p:cNvPr>
          <p:cNvSpPr>
            <a:spLocks noGrp="1"/>
          </p:cNvSpPr>
          <p:nvPr/>
        </p:nvSpPr>
        <p:spPr>
          <a:xfrm>
            <a:off x="2194560" y="3834384"/>
            <a:ext cx="3703320" cy="73152"/>
          </a:xfrm>
          <a:prstGeom prst="rect">
            <a:avLst/>
          </a:prstGeom>
          <a:solidFill>
            <a:srgbClr val="E8E2D7"/>
          </a:solidFill>
          <a:ln w="8890">
            <a:solidFill>
              <a:srgbClr val="E8E2D7"/>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E4EFFC04-F127-408C-890D-2E2A68E2C3C9}"/>
              </a:ext>
            </a:extLst>
          </p:cNvPr>
          <p:cNvSpPr>
            <a:spLocks noGrp="1"/>
          </p:cNvSpPr>
          <p:nvPr/>
        </p:nvSpPr>
        <p:spPr>
          <a:xfrm>
            <a:off x="2194560" y="3834384"/>
            <a:ext cx="1905431" cy="73152"/>
          </a:xfrm>
          <a:prstGeom prst="rect">
            <a:avLst/>
          </a:prstGeom>
          <a:solidFill>
            <a:srgbClr val="BE533D"/>
          </a:solidFill>
          <a:ln w="8890">
            <a:solidFill>
              <a:srgbClr val="BE533D"/>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7BD000D1-2001-48FC-B65D-92E45BE80418}"/>
              </a:ext>
            </a:extLst>
          </p:cNvPr>
          <p:cNvSpPr>
            <a:spLocks noGrp="1"/>
          </p:cNvSpPr>
          <p:nvPr/>
        </p:nvSpPr>
        <p:spPr>
          <a:xfrm>
            <a:off x="6035040" y="3779520"/>
            <a:ext cx="502920" cy="164592"/>
          </a:xfrm>
          <a:prstGeom prst="rect">
            <a:avLst/>
          </a:prstGeom>
          <a:noFill/>
        </p:spPr>
        <p:txBody>
          <a:bodyPr wrap="square">
            <a:noAutofit/>
          </a:bodyPr>
          <a:lstStyle/>
          <a:p>
            <a:pPr algn="r">
              <a:buNone/>
            </a:pPr>
            <a:r>
              <a:rPr sz="1000" b="0">
                <a:solidFill>
                  <a:srgbClr val="56636C"/>
                </a:solidFill>
                <a:latin typeface="Aptos"/>
                <a:ea typeface="Aptos"/>
                <a:cs typeface="Aptos"/>
              </a:rPr>
              <a:t>18.9d</a:t>
            </a:r>
          </a:p>
        </p:txBody>
      </p:sp>
      <p:sp>
        <p:nvSpPr>
          <p:cNvPr id="28" name="TextBox 27">
            <a:extLst>
              <a:ext uri="{FF2B5EF4-FFF2-40B4-BE49-F238E27FC236}">
                <a16:creationId xmlns:a16="http://schemas.microsoft.com/office/drawing/2014/main" id="{1B09AC2A-6CAD-45FE-941A-DD2EFCEAF5D4}"/>
              </a:ext>
            </a:extLst>
          </p:cNvPr>
          <p:cNvSpPr>
            <a:spLocks noGrp="1"/>
          </p:cNvSpPr>
          <p:nvPr/>
        </p:nvSpPr>
        <p:spPr>
          <a:xfrm>
            <a:off x="685800" y="4224147"/>
            <a:ext cx="1371600" cy="182880"/>
          </a:xfrm>
          <a:prstGeom prst="rect">
            <a:avLst/>
          </a:prstGeom>
          <a:noFill/>
        </p:spPr>
        <p:txBody>
          <a:bodyPr wrap="square">
            <a:noAutofit/>
          </a:bodyPr>
          <a:lstStyle/>
          <a:p>
            <a:pPr algn="l">
              <a:buNone/>
            </a:pPr>
            <a:r>
              <a:rPr sz="1000" b="0">
                <a:solidFill>
                  <a:srgbClr val="11202A"/>
                </a:solidFill>
                <a:latin typeface="Aptos"/>
                <a:ea typeface="Aptos"/>
                <a:cs typeface="Aptos"/>
              </a:rPr>
              <a:t>MA</a:t>
            </a:r>
          </a:p>
        </p:txBody>
      </p:sp>
      <p:sp>
        <p:nvSpPr>
          <p:cNvPr id="29" name="Rectangle 28">
            <a:extLst>
              <a:ext uri="{FF2B5EF4-FFF2-40B4-BE49-F238E27FC236}">
                <a16:creationId xmlns:a16="http://schemas.microsoft.com/office/drawing/2014/main" id="{41D829CE-1F15-4AD7-8547-D88CAB9E7F3D}"/>
              </a:ext>
            </a:extLst>
          </p:cNvPr>
          <p:cNvSpPr>
            <a:spLocks noGrp="1"/>
          </p:cNvSpPr>
          <p:nvPr/>
        </p:nvSpPr>
        <p:spPr>
          <a:xfrm>
            <a:off x="2194560" y="4251578"/>
            <a:ext cx="3703320" cy="73152"/>
          </a:xfrm>
          <a:prstGeom prst="rect">
            <a:avLst/>
          </a:prstGeom>
          <a:solidFill>
            <a:srgbClr val="E8E2D7"/>
          </a:solidFill>
          <a:ln w="8890">
            <a:solidFill>
              <a:srgbClr val="E8E2D7"/>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Rectangle 29">
            <a:extLst>
              <a:ext uri="{FF2B5EF4-FFF2-40B4-BE49-F238E27FC236}">
                <a16:creationId xmlns:a16="http://schemas.microsoft.com/office/drawing/2014/main" id="{93CCE908-1541-450B-A2F7-9C9C64D8E096}"/>
              </a:ext>
            </a:extLst>
          </p:cNvPr>
          <p:cNvSpPr>
            <a:spLocks noGrp="1"/>
          </p:cNvSpPr>
          <p:nvPr/>
        </p:nvSpPr>
        <p:spPr>
          <a:xfrm>
            <a:off x="2194560" y="4251578"/>
            <a:ext cx="1886697" cy="73152"/>
          </a:xfrm>
          <a:prstGeom prst="rect">
            <a:avLst/>
          </a:prstGeom>
          <a:solidFill>
            <a:srgbClr val="BE533D"/>
          </a:solidFill>
          <a:ln w="8890">
            <a:solidFill>
              <a:srgbClr val="BE533D"/>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4D4F55F8-D646-4B11-9C9B-5C15750BAE38}"/>
              </a:ext>
            </a:extLst>
          </p:cNvPr>
          <p:cNvSpPr>
            <a:spLocks noGrp="1"/>
          </p:cNvSpPr>
          <p:nvPr/>
        </p:nvSpPr>
        <p:spPr>
          <a:xfrm>
            <a:off x="6035040" y="4196714"/>
            <a:ext cx="502920" cy="164592"/>
          </a:xfrm>
          <a:prstGeom prst="rect">
            <a:avLst/>
          </a:prstGeom>
          <a:noFill/>
        </p:spPr>
        <p:txBody>
          <a:bodyPr wrap="square">
            <a:noAutofit/>
          </a:bodyPr>
          <a:lstStyle/>
          <a:p>
            <a:pPr algn="r">
              <a:buNone/>
            </a:pPr>
            <a:r>
              <a:rPr sz="1000" b="0">
                <a:solidFill>
                  <a:srgbClr val="56636C"/>
                </a:solidFill>
                <a:latin typeface="Aptos"/>
                <a:ea typeface="Aptos"/>
                <a:cs typeface="Aptos"/>
              </a:rPr>
              <a:t>18.7d</a:t>
            </a:r>
          </a:p>
        </p:txBody>
      </p:sp>
      <p:sp>
        <p:nvSpPr>
          <p:cNvPr id="32" name="TextBox 31">
            <a:extLst>
              <a:ext uri="{FF2B5EF4-FFF2-40B4-BE49-F238E27FC236}">
                <a16:creationId xmlns:a16="http://schemas.microsoft.com/office/drawing/2014/main" id="{B0F549A5-49A5-4969-87BD-A3D3A429EE51}"/>
              </a:ext>
            </a:extLst>
          </p:cNvPr>
          <p:cNvSpPr>
            <a:spLocks noGrp="1"/>
          </p:cNvSpPr>
          <p:nvPr/>
        </p:nvSpPr>
        <p:spPr>
          <a:xfrm>
            <a:off x="685800" y="4641342"/>
            <a:ext cx="1371600" cy="182880"/>
          </a:xfrm>
          <a:prstGeom prst="rect">
            <a:avLst/>
          </a:prstGeom>
          <a:noFill/>
        </p:spPr>
        <p:txBody>
          <a:bodyPr wrap="square">
            <a:noAutofit/>
          </a:bodyPr>
          <a:lstStyle/>
          <a:p>
            <a:pPr algn="l">
              <a:buNone/>
            </a:pPr>
            <a:r>
              <a:rPr sz="1000" b="0">
                <a:solidFill>
                  <a:srgbClr val="11202A"/>
                </a:solidFill>
                <a:latin typeface="Aptos"/>
                <a:ea typeface="Aptos"/>
                <a:cs typeface="Aptos"/>
              </a:rPr>
              <a:t>MT</a:t>
            </a:r>
          </a:p>
        </p:txBody>
      </p:sp>
      <p:sp>
        <p:nvSpPr>
          <p:cNvPr id="33" name="Rectangle 32">
            <a:extLst>
              <a:ext uri="{FF2B5EF4-FFF2-40B4-BE49-F238E27FC236}">
                <a16:creationId xmlns:a16="http://schemas.microsoft.com/office/drawing/2014/main" id="{B9F1A5BF-7497-4E55-9586-91315E743A86}"/>
              </a:ext>
            </a:extLst>
          </p:cNvPr>
          <p:cNvSpPr>
            <a:spLocks noGrp="1"/>
          </p:cNvSpPr>
          <p:nvPr/>
        </p:nvSpPr>
        <p:spPr>
          <a:xfrm>
            <a:off x="2194560" y="4668774"/>
            <a:ext cx="3703320" cy="73152"/>
          </a:xfrm>
          <a:prstGeom prst="rect">
            <a:avLst/>
          </a:prstGeom>
          <a:solidFill>
            <a:srgbClr val="E8E2D7"/>
          </a:solidFill>
          <a:ln w="8890">
            <a:solidFill>
              <a:srgbClr val="E8E2D7"/>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Rectangle 33">
            <a:extLst>
              <a:ext uri="{FF2B5EF4-FFF2-40B4-BE49-F238E27FC236}">
                <a16:creationId xmlns:a16="http://schemas.microsoft.com/office/drawing/2014/main" id="{21846721-F6DD-4692-A004-2BF4256B4792}"/>
              </a:ext>
            </a:extLst>
          </p:cNvPr>
          <p:cNvSpPr>
            <a:spLocks noGrp="1"/>
          </p:cNvSpPr>
          <p:nvPr/>
        </p:nvSpPr>
        <p:spPr>
          <a:xfrm>
            <a:off x="2194560" y="4668774"/>
            <a:ext cx="1834593" cy="73152"/>
          </a:xfrm>
          <a:prstGeom prst="rect">
            <a:avLst/>
          </a:prstGeom>
          <a:solidFill>
            <a:srgbClr val="BE533D"/>
          </a:solidFill>
          <a:ln w="8890">
            <a:solidFill>
              <a:srgbClr val="BE533D"/>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886B4ADB-8164-4EC2-85FB-6CD030416E55}"/>
              </a:ext>
            </a:extLst>
          </p:cNvPr>
          <p:cNvSpPr>
            <a:spLocks noGrp="1"/>
          </p:cNvSpPr>
          <p:nvPr/>
        </p:nvSpPr>
        <p:spPr>
          <a:xfrm>
            <a:off x="6035040" y="4613910"/>
            <a:ext cx="502920" cy="164592"/>
          </a:xfrm>
          <a:prstGeom prst="rect">
            <a:avLst/>
          </a:prstGeom>
          <a:noFill/>
        </p:spPr>
        <p:txBody>
          <a:bodyPr wrap="square">
            <a:noAutofit/>
          </a:bodyPr>
          <a:lstStyle/>
          <a:p>
            <a:pPr algn="r">
              <a:buNone/>
            </a:pPr>
            <a:r>
              <a:rPr sz="1000" b="0">
                <a:solidFill>
                  <a:srgbClr val="56636C"/>
                </a:solidFill>
                <a:latin typeface="Aptos"/>
                <a:ea typeface="Aptos"/>
                <a:cs typeface="Aptos"/>
              </a:rPr>
              <a:t>18.2d</a:t>
            </a:r>
          </a:p>
        </p:txBody>
      </p:sp>
      <p:sp>
        <p:nvSpPr>
          <p:cNvPr id="36" name="Rectangle 35">
            <a:extLst>
              <a:ext uri="{FF2B5EF4-FFF2-40B4-BE49-F238E27FC236}">
                <a16:creationId xmlns:a16="http://schemas.microsoft.com/office/drawing/2014/main" id="{5A2ACCEB-1E29-4F6B-A89A-EC4EC978E30D}"/>
              </a:ext>
            </a:extLst>
          </p:cNvPr>
          <p:cNvSpPr>
            <a:spLocks noGrp="1"/>
          </p:cNvSpPr>
          <p:nvPr/>
        </p:nvSpPr>
        <p:spPr>
          <a:xfrm>
            <a:off x="7406640" y="1784985"/>
            <a:ext cx="2926080" cy="3154680"/>
          </a:xfrm>
          <a:prstGeom prst="rect">
            <a:avLst/>
          </a:prstGeom>
          <a:solidFill>
            <a:srgbClr val="0F1B24"/>
          </a:solidFill>
          <a:ln w="8890">
            <a:solidFill>
              <a:srgbClr val="0F1B24"/>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B0A41842-8B9B-47C5-AFDF-35C4A73FEDEF}"/>
              </a:ext>
            </a:extLst>
          </p:cNvPr>
          <p:cNvSpPr>
            <a:spLocks noGrp="1"/>
          </p:cNvSpPr>
          <p:nvPr/>
        </p:nvSpPr>
        <p:spPr>
          <a:xfrm>
            <a:off x="7726679" y="2150744"/>
            <a:ext cx="1645920" cy="274320"/>
          </a:xfrm>
          <a:prstGeom prst="rect">
            <a:avLst/>
          </a:prstGeom>
          <a:noFill/>
        </p:spPr>
        <p:txBody>
          <a:bodyPr wrap="square">
            <a:normAutofit/>
          </a:bodyPr>
          <a:lstStyle/>
          <a:p>
            <a:pPr algn="l">
              <a:buNone/>
            </a:pPr>
            <a:r>
              <a:rPr sz="1000" b="1">
                <a:solidFill>
                  <a:srgbClr val="CE8227"/>
                </a:solidFill>
                <a:latin typeface="Aptos"/>
                <a:ea typeface="Aptos"/>
                <a:cs typeface="Aptos"/>
              </a:rPr>
              <a:t>Decision implication</a:t>
            </a:r>
          </a:p>
        </p:txBody>
      </p:sp>
      <p:sp>
        <p:nvSpPr>
          <p:cNvPr id="38" name="TextBox 37">
            <a:extLst>
              <a:ext uri="{FF2B5EF4-FFF2-40B4-BE49-F238E27FC236}">
                <a16:creationId xmlns:a16="http://schemas.microsoft.com/office/drawing/2014/main" id="{A2E58729-7AF4-43A6-A448-4F0F3087483C}"/>
              </a:ext>
            </a:extLst>
          </p:cNvPr>
          <p:cNvSpPr>
            <a:spLocks noGrp="1"/>
          </p:cNvSpPr>
          <p:nvPr/>
        </p:nvSpPr>
        <p:spPr>
          <a:xfrm>
            <a:off x="7726679" y="2607945"/>
            <a:ext cx="2057400" cy="1143000"/>
          </a:xfrm>
          <a:prstGeom prst="rect">
            <a:avLst/>
          </a:prstGeom>
          <a:noFill/>
        </p:spPr>
        <p:txBody>
          <a:bodyPr wrap="square">
            <a:normAutofit fontScale="92500" lnSpcReduction="10000"/>
          </a:bodyPr>
          <a:lstStyle/>
          <a:p>
            <a:pPr algn="l">
              <a:buNone/>
            </a:pPr>
            <a:r>
              <a:rPr sz="1300" b="1">
                <a:solidFill>
                  <a:srgbClr val="FFFFFF"/>
                </a:solidFill>
                <a:latin typeface="Aptos"/>
                <a:ea typeface="Aptos"/>
                <a:cs typeface="Aptos"/>
              </a:rPr>
              <a:t>Use dashboard friction signals to fix carrier paths, seller location mix, and estimated-date accuracy before pushing growth into weak corridors.</a:t>
            </a:r>
          </a:p>
        </p:txBody>
      </p:sp>
      <p:sp>
        <p:nvSpPr>
          <p:cNvPr id="39" name="TextBox 38">
            <a:extLst>
              <a:ext uri="{FF2B5EF4-FFF2-40B4-BE49-F238E27FC236}">
                <a16:creationId xmlns:a16="http://schemas.microsoft.com/office/drawing/2014/main" id="{6C609B60-5F75-4C3A-8CBF-CB24DD9CC6CC}"/>
              </a:ext>
            </a:extLst>
          </p:cNvPr>
          <p:cNvSpPr>
            <a:spLocks noGrp="1"/>
          </p:cNvSpPr>
          <p:nvPr/>
        </p:nvSpPr>
        <p:spPr>
          <a:xfrm>
            <a:off x="685800" y="5351145"/>
            <a:ext cx="6583680" cy="320040"/>
          </a:xfrm>
          <a:prstGeom prst="rect">
            <a:avLst/>
          </a:prstGeom>
          <a:noFill/>
        </p:spPr>
        <p:txBody>
          <a:bodyPr wrap="square">
            <a:normAutofit/>
          </a:bodyPr>
          <a:lstStyle/>
          <a:p>
            <a:pPr algn="l">
              <a:buNone/>
            </a:pPr>
            <a:r>
              <a:rPr sz="1000" b="0" dirty="0">
                <a:solidFill>
                  <a:srgbClr val="56636C"/>
                </a:solidFill>
                <a:latin typeface="Aptos"/>
                <a:ea typeface="Aptos"/>
                <a:cs typeface="Aptos"/>
              </a:rPr>
              <a:t>States shown have at least 100 orders; delivery friction should be read as an operating risk for seller experience.</a:t>
            </a:r>
          </a:p>
        </p:txBody>
      </p:sp>
      <p:sp>
        <p:nvSpPr>
          <p:cNvPr id="40" name="TextBox 39">
            <a:extLst>
              <a:ext uri="{FF2B5EF4-FFF2-40B4-BE49-F238E27FC236}">
                <a16:creationId xmlns:a16="http://schemas.microsoft.com/office/drawing/2014/main" id="{795DB78F-C84C-42C9-9133-ECAE0701FF04}"/>
              </a:ext>
            </a:extLst>
          </p:cNvPr>
          <p:cNvSpPr>
            <a:spLocks noGrp="1"/>
          </p:cNvSpPr>
          <p:nvPr/>
        </p:nvSpPr>
        <p:spPr>
          <a:xfrm>
            <a:off x="566928" y="6519672"/>
            <a:ext cx="5029200" cy="164592"/>
          </a:xfrm>
          <a:prstGeom prst="rect">
            <a:avLst/>
          </a:prstGeom>
          <a:noFill/>
        </p:spPr>
        <p:txBody>
          <a:bodyPr wrap="square">
            <a:normAutofit/>
          </a:bodyPr>
          <a:lstStyle/>
          <a:p>
            <a:pPr algn="l">
              <a:buNone/>
            </a:pPr>
            <a:r>
              <a:rPr sz="650" b="0">
                <a:solidFill>
                  <a:srgbClr val="96968C"/>
                </a:solidFill>
                <a:latin typeface="Aptos"/>
                <a:ea typeface="Aptos"/>
                <a:cs typeface="Aptos"/>
              </a:rPr>
              <a:t>Source: Olist Brazilian E-Commerce dataset; DuckDB/dbt warehouse marts</a:t>
            </a:r>
          </a:p>
        </p:txBody>
      </p:sp>
      <p:sp>
        <p:nvSpPr>
          <p:cNvPr id="41" name="TextBox 40">
            <a:extLst>
              <a:ext uri="{FF2B5EF4-FFF2-40B4-BE49-F238E27FC236}">
                <a16:creationId xmlns:a16="http://schemas.microsoft.com/office/drawing/2014/main" id="{C326BBFE-9957-4744-A9BC-9A8640F8F6B6}"/>
              </a:ext>
            </a:extLst>
          </p:cNvPr>
          <p:cNvSpPr>
            <a:spLocks noGrp="1"/>
          </p:cNvSpPr>
          <p:nvPr/>
        </p:nvSpPr>
        <p:spPr>
          <a:xfrm>
            <a:off x="11292840" y="6519672"/>
            <a:ext cx="320040" cy="164592"/>
          </a:xfrm>
          <a:prstGeom prst="rect">
            <a:avLst/>
          </a:prstGeom>
          <a:noFill/>
        </p:spPr>
        <p:txBody>
          <a:bodyPr wrap="square">
            <a:normAutofit/>
          </a:bodyPr>
          <a:lstStyle/>
          <a:p>
            <a:pPr algn="r">
              <a:buNone/>
            </a:pPr>
            <a:r>
              <a:rPr sz="650">
                <a:solidFill>
                  <a:srgbClr val="96968C"/>
                </a:solidFill>
                <a:latin typeface="Aptos"/>
                <a:ea typeface="Aptos"/>
                <a:cs typeface="Aptos"/>
              </a:rPr>
              <a:t>10</a:t>
            </a:r>
          </a:p>
        </p:txBody>
      </p:sp>
    </p:spTree>
    <p:extLst>
      <p:ext uri="{BB962C8B-B14F-4D97-AF65-F5344CB8AC3E}">
        <p14:creationId xmlns:p14="http://schemas.microsoft.com/office/powerpoint/2010/main" val="1864358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29A264-8AF2-4346-BA9F-307B0F4E9645}"/>
              </a:ext>
            </a:extLst>
          </p:cNvPr>
          <p:cNvSpPr>
            <a:spLocks noGrp="1"/>
          </p:cNvSpPr>
          <p:nvPr/>
        </p:nvSpPr>
        <p:spPr>
          <a:xfrm>
            <a:off x="566928" y="256032"/>
            <a:ext cx="2560320" cy="201168"/>
          </a:xfrm>
          <a:prstGeom prst="rect">
            <a:avLst/>
          </a:prstGeom>
          <a:noFill/>
        </p:spPr>
        <p:txBody>
          <a:bodyPr wrap="square">
            <a:normAutofit/>
          </a:bodyPr>
          <a:lstStyle/>
          <a:p>
            <a:pPr algn="l">
              <a:buNone/>
            </a:pPr>
            <a:r>
              <a:rPr sz="750" b="1">
                <a:solidFill>
                  <a:srgbClr val="CE8227"/>
                </a:solidFill>
                <a:latin typeface="Aptos"/>
                <a:ea typeface="Aptos"/>
                <a:cs typeface="Aptos"/>
              </a:rPr>
              <a:t>OPERATING MODEL</a:t>
            </a:r>
          </a:p>
        </p:txBody>
      </p:sp>
      <p:sp>
        <p:nvSpPr>
          <p:cNvPr id="3" name="TextBox 2">
            <a:extLst>
              <a:ext uri="{FF2B5EF4-FFF2-40B4-BE49-F238E27FC236}">
                <a16:creationId xmlns:a16="http://schemas.microsoft.com/office/drawing/2014/main" id="{33E2F2C2-BF29-4026-BE0D-AB79796BDB7D}"/>
              </a:ext>
            </a:extLst>
          </p:cNvPr>
          <p:cNvSpPr>
            <a:spLocks noGrp="1"/>
          </p:cNvSpPr>
          <p:nvPr/>
        </p:nvSpPr>
        <p:spPr>
          <a:xfrm>
            <a:off x="566928" y="530352"/>
            <a:ext cx="7955279" cy="822960"/>
          </a:xfrm>
          <a:prstGeom prst="rect">
            <a:avLst/>
          </a:prstGeom>
          <a:noFill/>
        </p:spPr>
        <p:txBody>
          <a:bodyPr wrap="square">
            <a:normAutofit/>
          </a:bodyPr>
          <a:lstStyle/>
          <a:p>
            <a:pPr algn="l">
              <a:buNone/>
            </a:pPr>
            <a:r>
              <a:rPr sz="2400" b="1">
                <a:solidFill>
                  <a:srgbClr val="11202A"/>
                </a:solidFill>
                <a:latin typeface="Aptos"/>
                <a:ea typeface="Aptos"/>
                <a:cs typeface="Aptos"/>
              </a:rPr>
              <a:t>The dashboard turns the warehouse into a recurring seller review system.</a:t>
            </a:r>
          </a:p>
        </p:txBody>
      </p:sp>
      <p:sp>
        <p:nvSpPr>
          <p:cNvPr id="4" name="Rectangle 3">
            <a:extLst>
              <a:ext uri="{FF2B5EF4-FFF2-40B4-BE49-F238E27FC236}">
                <a16:creationId xmlns:a16="http://schemas.microsoft.com/office/drawing/2014/main" id="{EC081C68-2923-4BE5-A1F1-38FE0C2D0580}"/>
              </a:ext>
            </a:extLst>
          </p:cNvPr>
          <p:cNvSpPr>
            <a:spLocks noGrp="1"/>
          </p:cNvSpPr>
          <p:nvPr/>
        </p:nvSpPr>
        <p:spPr>
          <a:xfrm>
            <a:off x="777240" y="1600200"/>
            <a:ext cx="4389120" cy="1234440"/>
          </a:xfrm>
          <a:prstGeom prst="rect">
            <a:avLst/>
          </a:prstGeom>
          <a:solidFill>
            <a:srgbClr val="E8F3F6"/>
          </a:solidFill>
          <a:ln w="8890">
            <a:solidFill>
              <a:srgbClr val="9EB9C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3FA7649-5CD7-430E-9D9F-B84BCA4CD60F}"/>
              </a:ext>
            </a:extLst>
          </p:cNvPr>
          <p:cNvSpPr>
            <a:spLocks noGrp="1"/>
          </p:cNvSpPr>
          <p:nvPr/>
        </p:nvSpPr>
        <p:spPr>
          <a:xfrm>
            <a:off x="1005840" y="1828800"/>
            <a:ext cx="1371600" cy="228600"/>
          </a:xfrm>
          <a:prstGeom prst="rect">
            <a:avLst/>
          </a:prstGeom>
          <a:noFill/>
        </p:spPr>
        <p:txBody>
          <a:bodyPr wrap="square">
            <a:normAutofit/>
          </a:bodyPr>
          <a:lstStyle/>
          <a:p>
            <a:pPr algn="l">
              <a:buNone/>
            </a:pPr>
            <a:r>
              <a:rPr sz="1300" b="1">
                <a:solidFill>
                  <a:srgbClr val="1C6F82"/>
                </a:solidFill>
                <a:latin typeface="Aptos"/>
                <a:ea typeface="Aptos"/>
                <a:cs typeface="Aptos"/>
              </a:rPr>
              <a:t>Growth plateau</a:t>
            </a:r>
          </a:p>
        </p:txBody>
      </p:sp>
      <p:sp>
        <p:nvSpPr>
          <p:cNvPr id="6" name="TextBox 5">
            <a:extLst>
              <a:ext uri="{FF2B5EF4-FFF2-40B4-BE49-F238E27FC236}">
                <a16:creationId xmlns:a16="http://schemas.microsoft.com/office/drawing/2014/main" id="{971BF3F4-8F30-447F-BA92-70342A16FE85}"/>
              </a:ext>
            </a:extLst>
          </p:cNvPr>
          <p:cNvSpPr>
            <a:spLocks noGrp="1"/>
          </p:cNvSpPr>
          <p:nvPr/>
        </p:nvSpPr>
        <p:spPr>
          <a:xfrm>
            <a:off x="1005840" y="2167128"/>
            <a:ext cx="2926080" cy="228600"/>
          </a:xfrm>
          <a:prstGeom prst="rect">
            <a:avLst/>
          </a:prstGeom>
          <a:noFill/>
        </p:spPr>
        <p:txBody>
          <a:bodyPr wrap="square">
            <a:noAutofit/>
          </a:bodyPr>
          <a:lstStyle/>
          <a:p>
            <a:pPr algn="l">
              <a:buNone/>
            </a:pPr>
            <a:r>
              <a:rPr sz="1200" b="1" dirty="0">
                <a:solidFill>
                  <a:srgbClr val="11202A"/>
                </a:solidFill>
                <a:latin typeface="Aptos"/>
                <a:ea typeface="Aptos"/>
                <a:cs typeface="Aptos"/>
              </a:rPr>
              <a:t>GMV, orders, active sellers</a:t>
            </a:r>
          </a:p>
        </p:txBody>
      </p:sp>
      <p:sp>
        <p:nvSpPr>
          <p:cNvPr id="7" name="TextBox 6">
            <a:extLst>
              <a:ext uri="{FF2B5EF4-FFF2-40B4-BE49-F238E27FC236}">
                <a16:creationId xmlns:a16="http://schemas.microsoft.com/office/drawing/2014/main" id="{CAF3D840-B8FB-46BA-9AE5-FBECF34DD119}"/>
              </a:ext>
            </a:extLst>
          </p:cNvPr>
          <p:cNvSpPr>
            <a:spLocks noGrp="1"/>
          </p:cNvSpPr>
          <p:nvPr/>
        </p:nvSpPr>
        <p:spPr>
          <a:xfrm>
            <a:off x="1005840" y="2468880"/>
            <a:ext cx="3383280" cy="228600"/>
          </a:xfrm>
          <a:prstGeom prst="rect">
            <a:avLst/>
          </a:prstGeom>
          <a:noFill/>
        </p:spPr>
        <p:txBody>
          <a:bodyPr wrap="square">
            <a:noAutofit/>
          </a:bodyPr>
          <a:lstStyle/>
          <a:p>
            <a:pPr algn="l">
              <a:buNone/>
            </a:pPr>
            <a:r>
              <a:rPr sz="1000" b="0" dirty="0">
                <a:solidFill>
                  <a:srgbClr val="56636C"/>
                </a:solidFill>
                <a:latin typeface="Aptos"/>
                <a:ea typeface="Aptos"/>
                <a:cs typeface="Aptos"/>
              </a:rPr>
              <a:t>Diagnose where growth slowed</a:t>
            </a:r>
          </a:p>
        </p:txBody>
      </p:sp>
      <p:sp>
        <p:nvSpPr>
          <p:cNvPr id="8" name="Rectangle 7">
            <a:extLst>
              <a:ext uri="{FF2B5EF4-FFF2-40B4-BE49-F238E27FC236}">
                <a16:creationId xmlns:a16="http://schemas.microsoft.com/office/drawing/2014/main" id="{E0A15F51-B591-46B2-A3A1-7C0ED225CBFC}"/>
              </a:ext>
            </a:extLst>
          </p:cNvPr>
          <p:cNvSpPr>
            <a:spLocks noGrp="1"/>
          </p:cNvSpPr>
          <p:nvPr/>
        </p:nvSpPr>
        <p:spPr>
          <a:xfrm>
            <a:off x="5989320" y="1600200"/>
            <a:ext cx="4389120" cy="1234440"/>
          </a:xfrm>
          <a:prstGeom prst="rect">
            <a:avLst/>
          </a:prstGeom>
          <a:solidFill>
            <a:srgbClr val="FFFCF6"/>
          </a:solidFill>
          <a:ln w="8890">
            <a:solidFill>
              <a:srgbClr val="9EB9C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87A9D5B-F365-428B-921D-0C485AC79DD5}"/>
              </a:ext>
            </a:extLst>
          </p:cNvPr>
          <p:cNvSpPr>
            <a:spLocks noGrp="1"/>
          </p:cNvSpPr>
          <p:nvPr/>
        </p:nvSpPr>
        <p:spPr>
          <a:xfrm>
            <a:off x="6217920" y="1828800"/>
            <a:ext cx="1371600" cy="228600"/>
          </a:xfrm>
          <a:prstGeom prst="rect">
            <a:avLst/>
          </a:prstGeom>
          <a:noFill/>
        </p:spPr>
        <p:txBody>
          <a:bodyPr wrap="square">
            <a:normAutofit/>
          </a:bodyPr>
          <a:lstStyle/>
          <a:p>
            <a:pPr algn="l">
              <a:buNone/>
            </a:pPr>
            <a:r>
              <a:rPr sz="1300" b="1">
                <a:solidFill>
                  <a:srgbClr val="1C6F82"/>
                </a:solidFill>
                <a:latin typeface="Aptos"/>
                <a:ea typeface="Aptos"/>
                <a:cs typeface="Aptos"/>
              </a:rPr>
              <a:t>Seller health</a:t>
            </a:r>
          </a:p>
        </p:txBody>
      </p:sp>
      <p:sp>
        <p:nvSpPr>
          <p:cNvPr id="10" name="TextBox 9">
            <a:extLst>
              <a:ext uri="{FF2B5EF4-FFF2-40B4-BE49-F238E27FC236}">
                <a16:creationId xmlns:a16="http://schemas.microsoft.com/office/drawing/2014/main" id="{30C0C974-AA7B-4495-800B-2C9DB2EBEA93}"/>
              </a:ext>
            </a:extLst>
          </p:cNvPr>
          <p:cNvSpPr>
            <a:spLocks noGrp="1"/>
          </p:cNvSpPr>
          <p:nvPr/>
        </p:nvSpPr>
        <p:spPr>
          <a:xfrm>
            <a:off x="6217920" y="2167128"/>
            <a:ext cx="2926080" cy="228600"/>
          </a:xfrm>
          <a:prstGeom prst="rect">
            <a:avLst/>
          </a:prstGeom>
          <a:noFill/>
        </p:spPr>
        <p:txBody>
          <a:bodyPr wrap="square">
            <a:noAutofit/>
          </a:bodyPr>
          <a:lstStyle/>
          <a:p>
            <a:pPr algn="l">
              <a:buNone/>
            </a:pPr>
            <a:r>
              <a:rPr sz="1200" b="1">
                <a:solidFill>
                  <a:srgbClr val="11202A"/>
                </a:solidFill>
                <a:latin typeface="Aptos"/>
                <a:ea typeface="Aptos"/>
                <a:cs typeface="Aptos"/>
              </a:rPr>
              <a:t>Protect / grow / fix / activate</a:t>
            </a:r>
          </a:p>
        </p:txBody>
      </p:sp>
      <p:sp>
        <p:nvSpPr>
          <p:cNvPr id="11" name="TextBox 10">
            <a:extLst>
              <a:ext uri="{FF2B5EF4-FFF2-40B4-BE49-F238E27FC236}">
                <a16:creationId xmlns:a16="http://schemas.microsoft.com/office/drawing/2014/main" id="{CD08E078-9FFB-4C8D-86D6-6E71F8AB333B}"/>
              </a:ext>
            </a:extLst>
          </p:cNvPr>
          <p:cNvSpPr>
            <a:spLocks noGrp="1"/>
          </p:cNvSpPr>
          <p:nvPr/>
        </p:nvSpPr>
        <p:spPr>
          <a:xfrm>
            <a:off x="6217920" y="2468880"/>
            <a:ext cx="3383280" cy="228600"/>
          </a:xfrm>
          <a:prstGeom prst="rect">
            <a:avLst/>
          </a:prstGeom>
          <a:noFill/>
        </p:spPr>
        <p:txBody>
          <a:bodyPr wrap="square">
            <a:noAutofit/>
          </a:bodyPr>
          <a:lstStyle/>
          <a:p>
            <a:pPr algn="l">
              <a:buNone/>
            </a:pPr>
            <a:r>
              <a:rPr sz="1000" b="0">
                <a:solidFill>
                  <a:srgbClr val="56636C"/>
                </a:solidFill>
                <a:latin typeface="Aptos"/>
                <a:ea typeface="Aptos"/>
                <a:cs typeface="Aptos"/>
              </a:rPr>
              <a:t>Prioritize account actions</a:t>
            </a:r>
          </a:p>
        </p:txBody>
      </p:sp>
      <p:sp>
        <p:nvSpPr>
          <p:cNvPr id="12" name="Rectangle 11">
            <a:extLst>
              <a:ext uri="{FF2B5EF4-FFF2-40B4-BE49-F238E27FC236}">
                <a16:creationId xmlns:a16="http://schemas.microsoft.com/office/drawing/2014/main" id="{6B705F9A-D7D8-484A-A24A-FA592940F929}"/>
              </a:ext>
            </a:extLst>
          </p:cNvPr>
          <p:cNvSpPr>
            <a:spLocks noGrp="1"/>
          </p:cNvSpPr>
          <p:nvPr/>
        </p:nvSpPr>
        <p:spPr>
          <a:xfrm>
            <a:off x="777240" y="3474720"/>
            <a:ext cx="4389120" cy="1234440"/>
          </a:xfrm>
          <a:prstGeom prst="rect">
            <a:avLst/>
          </a:prstGeom>
          <a:solidFill>
            <a:srgbClr val="E8F3F6"/>
          </a:solidFill>
          <a:ln w="8890">
            <a:solidFill>
              <a:srgbClr val="9EB9C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2941B1C-52F8-45A9-AC5C-49C8C552B387}"/>
              </a:ext>
            </a:extLst>
          </p:cNvPr>
          <p:cNvSpPr>
            <a:spLocks noGrp="1"/>
          </p:cNvSpPr>
          <p:nvPr/>
        </p:nvSpPr>
        <p:spPr>
          <a:xfrm>
            <a:off x="1005840" y="3703320"/>
            <a:ext cx="1371600" cy="228600"/>
          </a:xfrm>
          <a:prstGeom prst="rect">
            <a:avLst/>
          </a:prstGeom>
          <a:noFill/>
        </p:spPr>
        <p:txBody>
          <a:bodyPr wrap="square">
            <a:normAutofit/>
          </a:bodyPr>
          <a:lstStyle/>
          <a:p>
            <a:pPr algn="l">
              <a:buNone/>
            </a:pPr>
            <a:r>
              <a:rPr sz="1300" b="1">
                <a:solidFill>
                  <a:srgbClr val="1C6F82"/>
                </a:solidFill>
                <a:latin typeface="Aptos"/>
                <a:ea typeface="Aptos"/>
                <a:cs typeface="Aptos"/>
              </a:rPr>
              <a:t>Categories</a:t>
            </a:r>
          </a:p>
        </p:txBody>
      </p:sp>
      <p:sp>
        <p:nvSpPr>
          <p:cNvPr id="14" name="TextBox 13">
            <a:extLst>
              <a:ext uri="{FF2B5EF4-FFF2-40B4-BE49-F238E27FC236}">
                <a16:creationId xmlns:a16="http://schemas.microsoft.com/office/drawing/2014/main" id="{803551D8-95F1-461D-8757-174DC23636CF}"/>
              </a:ext>
            </a:extLst>
          </p:cNvPr>
          <p:cNvSpPr>
            <a:spLocks noGrp="1"/>
          </p:cNvSpPr>
          <p:nvPr/>
        </p:nvSpPr>
        <p:spPr>
          <a:xfrm>
            <a:off x="1005840" y="4041648"/>
            <a:ext cx="2926080" cy="228600"/>
          </a:xfrm>
          <a:prstGeom prst="rect">
            <a:avLst/>
          </a:prstGeom>
          <a:noFill/>
        </p:spPr>
        <p:txBody>
          <a:bodyPr wrap="square">
            <a:noAutofit/>
          </a:bodyPr>
          <a:lstStyle/>
          <a:p>
            <a:pPr algn="l">
              <a:buNone/>
            </a:pPr>
            <a:r>
              <a:rPr sz="1200" b="1">
                <a:solidFill>
                  <a:srgbClr val="11202A"/>
                </a:solidFill>
                <a:latin typeface="Aptos"/>
                <a:ea typeface="Aptos"/>
                <a:cs typeface="Aptos"/>
              </a:rPr>
              <a:t>Demand and seller productivity</a:t>
            </a:r>
          </a:p>
        </p:txBody>
      </p:sp>
      <p:sp>
        <p:nvSpPr>
          <p:cNvPr id="15" name="TextBox 14">
            <a:extLst>
              <a:ext uri="{FF2B5EF4-FFF2-40B4-BE49-F238E27FC236}">
                <a16:creationId xmlns:a16="http://schemas.microsoft.com/office/drawing/2014/main" id="{3C26795E-86EB-4C7F-B5DF-2293A3D3D790}"/>
              </a:ext>
            </a:extLst>
          </p:cNvPr>
          <p:cNvSpPr>
            <a:spLocks noGrp="1"/>
          </p:cNvSpPr>
          <p:nvPr/>
        </p:nvSpPr>
        <p:spPr>
          <a:xfrm>
            <a:off x="1005840" y="4343400"/>
            <a:ext cx="3383280" cy="228600"/>
          </a:xfrm>
          <a:prstGeom prst="rect">
            <a:avLst/>
          </a:prstGeom>
          <a:noFill/>
        </p:spPr>
        <p:txBody>
          <a:bodyPr wrap="square">
            <a:noAutofit/>
          </a:bodyPr>
          <a:lstStyle/>
          <a:p>
            <a:pPr algn="l">
              <a:buNone/>
            </a:pPr>
            <a:r>
              <a:rPr sz="1000" b="0">
                <a:solidFill>
                  <a:srgbClr val="56636C"/>
                </a:solidFill>
                <a:latin typeface="Aptos"/>
                <a:ea typeface="Aptos"/>
                <a:cs typeface="Aptos"/>
              </a:rPr>
              <a:t>Guide assortment and seller support</a:t>
            </a:r>
          </a:p>
        </p:txBody>
      </p:sp>
      <p:sp>
        <p:nvSpPr>
          <p:cNvPr id="16" name="Rectangle 15">
            <a:extLst>
              <a:ext uri="{FF2B5EF4-FFF2-40B4-BE49-F238E27FC236}">
                <a16:creationId xmlns:a16="http://schemas.microsoft.com/office/drawing/2014/main" id="{1D942A84-2B21-4BB1-B22B-99BFFCB7942F}"/>
              </a:ext>
            </a:extLst>
          </p:cNvPr>
          <p:cNvSpPr>
            <a:spLocks noGrp="1"/>
          </p:cNvSpPr>
          <p:nvPr/>
        </p:nvSpPr>
        <p:spPr>
          <a:xfrm>
            <a:off x="5989320" y="3474720"/>
            <a:ext cx="4389120" cy="1234440"/>
          </a:xfrm>
          <a:prstGeom prst="rect">
            <a:avLst/>
          </a:prstGeom>
          <a:solidFill>
            <a:srgbClr val="FFFCF6"/>
          </a:solidFill>
          <a:ln w="8890">
            <a:solidFill>
              <a:srgbClr val="9EB9C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58568A4-E30A-4D1B-A86B-004393B7A7C4}"/>
              </a:ext>
            </a:extLst>
          </p:cNvPr>
          <p:cNvSpPr>
            <a:spLocks noGrp="1"/>
          </p:cNvSpPr>
          <p:nvPr/>
        </p:nvSpPr>
        <p:spPr>
          <a:xfrm>
            <a:off x="6217920" y="3703320"/>
            <a:ext cx="1371600" cy="228600"/>
          </a:xfrm>
          <a:prstGeom prst="rect">
            <a:avLst/>
          </a:prstGeom>
          <a:noFill/>
        </p:spPr>
        <p:txBody>
          <a:bodyPr wrap="square">
            <a:normAutofit/>
          </a:bodyPr>
          <a:lstStyle/>
          <a:p>
            <a:pPr algn="l">
              <a:buNone/>
            </a:pPr>
            <a:r>
              <a:rPr sz="1300" b="1">
                <a:solidFill>
                  <a:srgbClr val="1C6F82"/>
                </a:solidFill>
                <a:latin typeface="Aptos"/>
                <a:ea typeface="Aptos"/>
                <a:cs typeface="Aptos"/>
              </a:rPr>
              <a:t>Fulfillment</a:t>
            </a:r>
          </a:p>
        </p:txBody>
      </p:sp>
      <p:sp>
        <p:nvSpPr>
          <p:cNvPr id="18" name="TextBox 17">
            <a:extLst>
              <a:ext uri="{FF2B5EF4-FFF2-40B4-BE49-F238E27FC236}">
                <a16:creationId xmlns:a16="http://schemas.microsoft.com/office/drawing/2014/main" id="{227911DE-1D29-4DF2-8BA9-AB16C6F8E5CA}"/>
              </a:ext>
            </a:extLst>
          </p:cNvPr>
          <p:cNvSpPr>
            <a:spLocks noGrp="1"/>
          </p:cNvSpPr>
          <p:nvPr/>
        </p:nvSpPr>
        <p:spPr>
          <a:xfrm>
            <a:off x="6217920" y="4041648"/>
            <a:ext cx="2926080" cy="228600"/>
          </a:xfrm>
          <a:prstGeom prst="rect">
            <a:avLst/>
          </a:prstGeom>
          <a:noFill/>
        </p:spPr>
        <p:txBody>
          <a:bodyPr wrap="square">
            <a:noAutofit/>
          </a:bodyPr>
          <a:lstStyle/>
          <a:p>
            <a:pPr algn="l">
              <a:buNone/>
            </a:pPr>
            <a:r>
              <a:rPr sz="1200" b="1">
                <a:solidFill>
                  <a:srgbClr val="11202A"/>
                </a:solidFill>
                <a:latin typeface="Aptos"/>
                <a:ea typeface="Aptos"/>
                <a:cs typeface="Aptos"/>
              </a:rPr>
              <a:t>Delivery time and late rate</a:t>
            </a:r>
          </a:p>
        </p:txBody>
      </p:sp>
      <p:sp>
        <p:nvSpPr>
          <p:cNvPr id="19" name="TextBox 18">
            <a:extLst>
              <a:ext uri="{FF2B5EF4-FFF2-40B4-BE49-F238E27FC236}">
                <a16:creationId xmlns:a16="http://schemas.microsoft.com/office/drawing/2014/main" id="{20C2F513-4DAD-4E94-A151-46739AED85AC}"/>
              </a:ext>
            </a:extLst>
          </p:cNvPr>
          <p:cNvSpPr>
            <a:spLocks noGrp="1"/>
          </p:cNvSpPr>
          <p:nvPr/>
        </p:nvSpPr>
        <p:spPr>
          <a:xfrm>
            <a:off x="6217920" y="4343400"/>
            <a:ext cx="3383280" cy="228600"/>
          </a:xfrm>
          <a:prstGeom prst="rect">
            <a:avLst/>
          </a:prstGeom>
          <a:noFill/>
        </p:spPr>
        <p:txBody>
          <a:bodyPr wrap="square">
            <a:noAutofit/>
          </a:bodyPr>
          <a:lstStyle/>
          <a:p>
            <a:pPr algn="l">
              <a:buNone/>
            </a:pPr>
            <a:r>
              <a:rPr sz="1000" b="0">
                <a:solidFill>
                  <a:srgbClr val="56636C"/>
                </a:solidFill>
                <a:latin typeface="Aptos"/>
                <a:ea typeface="Aptos"/>
                <a:cs typeface="Aptos"/>
              </a:rPr>
              <a:t>Target logistics friction</a:t>
            </a:r>
          </a:p>
        </p:txBody>
      </p:sp>
      <p:sp>
        <p:nvSpPr>
          <p:cNvPr id="20" name="TextBox 19">
            <a:extLst>
              <a:ext uri="{FF2B5EF4-FFF2-40B4-BE49-F238E27FC236}">
                <a16:creationId xmlns:a16="http://schemas.microsoft.com/office/drawing/2014/main" id="{456A007C-0983-4F18-B6C1-955619156D00}"/>
              </a:ext>
            </a:extLst>
          </p:cNvPr>
          <p:cNvSpPr>
            <a:spLocks noGrp="1"/>
          </p:cNvSpPr>
          <p:nvPr/>
        </p:nvSpPr>
        <p:spPr>
          <a:xfrm>
            <a:off x="566928" y="6519672"/>
            <a:ext cx="5029200" cy="164592"/>
          </a:xfrm>
          <a:prstGeom prst="rect">
            <a:avLst/>
          </a:prstGeom>
          <a:noFill/>
        </p:spPr>
        <p:txBody>
          <a:bodyPr wrap="square">
            <a:normAutofit/>
          </a:bodyPr>
          <a:lstStyle/>
          <a:p>
            <a:pPr algn="l">
              <a:buNone/>
            </a:pPr>
            <a:r>
              <a:rPr sz="650" b="0">
                <a:solidFill>
                  <a:srgbClr val="96968C"/>
                </a:solidFill>
                <a:latin typeface="Aptos"/>
                <a:ea typeface="Aptos"/>
                <a:cs typeface="Aptos"/>
              </a:rPr>
              <a:t>Source: Olist Brazilian E-Commerce dataset; DuckDB/dbt warehouse marts</a:t>
            </a:r>
          </a:p>
        </p:txBody>
      </p:sp>
      <p:sp>
        <p:nvSpPr>
          <p:cNvPr id="21" name="TextBox 20">
            <a:extLst>
              <a:ext uri="{FF2B5EF4-FFF2-40B4-BE49-F238E27FC236}">
                <a16:creationId xmlns:a16="http://schemas.microsoft.com/office/drawing/2014/main" id="{AB3786A4-4BAF-4186-93DE-FB5327275013}"/>
              </a:ext>
            </a:extLst>
          </p:cNvPr>
          <p:cNvSpPr>
            <a:spLocks noGrp="1"/>
          </p:cNvSpPr>
          <p:nvPr/>
        </p:nvSpPr>
        <p:spPr>
          <a:xfrm>
            <a:off x="11292840" y="6519672"/>
            <a:ext cx="320040" cy="164592"/>
          </a:xfrm>
          <a:prstGeom prst="rect">
            <a:avLst/>
          </a:prstGeom>
          <a:noFill/>
        </p:spPr>
        <p:txBody>
          <a:bodyPr wrap="square">
            <a:normAutofit/>
          </a:bodyPr>
          <a:lstStyle/>
          <a:p>
            <a:pPr algn="r">
              <a:buNone/>
            </a:pPr>
            <a:r>
              <a:rPr sz="650">
                <a:solidFill>
                  <a:srgbClr val="96968C"/>
                </a:solidFill>
                <a:latin typeface="Aptos"/>
                <a:ea typeface="Aptos"/>
                <a:cs typeface="Aptos"/>
              </a:rPr>
              <a:t>11</a:t>
            </a:r>
          </a:p>
        </p:txBody>
      </p:sp>
    </p:spTree>
    <p:extLst>
      <p:ext uri="{BB962C8B-B14F-4D97-AF65-F5344CB8AC3E}">
        <p14:creationId xmlns:p14="http://schemas.microsoft.com/office/powerpoint/2010/main" val="13687321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84BDE6-0C48-4B1E-8C41-1FDA2795671C}"/>
              </a:ext>
            </a:extLst>
          </p:cNvPr>
          <p:cNvSpPr>
            <a:spLocks noGrp="1"/>
          </p:cNvSpPr>
          <p:nvPr/>
        </p:nvSpPr>
        <p:spPr>
          <a:xfrm>
            <a:off x="566928" y="256032"/>
            <a:ext cx="2560320" cy="201168"/>
          </a:xfrm>
          <a:prstGeom prst="rect">
            <a:avLst/>
          </a:prstGeom>
          <a:noFill/>
        </p:spPr>
        <p:txBody>
          <a:bodyPr wrap="square">
            <a:normAutofit/>
          </a:bodyPr>
          <a:lstStyle/>
          <a:p>
            <a:pPr algn="l">
              <a:buNone/>
            </a:pPr>
            <a:r>
              <a:rPr sz="750" b="1">
                <a:solidFill>
                  <a:srgbClr val="CE8227"/>
                </a:solidFill>
                <a:latin typeface="Aptos"/>
                <a:ea typeface="Aptos"/>
                <a:cs typeface="Aptos"/>
              </a:rPr>
              <a:t>ROADMAP</a:t>
            </a:r>
          </a:p>
        </p:txBody>
      </p:sp>
      <p:sp>
        <p:nvSpPr>
          <p:cNvPr id="3" name="TextBox 2">
            <a:extLst>
              <a:ext uri="{FF2B5EF4-FFF2-40B4-BE49-F238E27FC236}">
                <a16:creationId xmlns:a16="http://schemas.microsoft.com/office/drawing/2014/main" id="{CF8B16A6-607E-4A23-94EF-C006F56FC4A6}"/>
              </a:ext>
            </a:extLst>
          </p:cNvPr>
          <p:cNvSpPr>
            <a:spLocks noGrp="1"/>
          </p:cNvSpPr>
          <p:nvPr/>
        </p:nvSpPr>
        <p:spPr>
          <a:xfrm>
            <a:off x="566928" y="530352"/>
            <a:ext cx="7955279" cy="822960"/>
          </a:xfrm>
          <a:prstGeom prst="rect">
            <a:avLst/>
          </a:prstGeom>
          <a:noFill/>
        </p:spPr>
        <p:txBody>
          <a:bodyPr wrap="square">
            <a:normAutofit/>
          </a:bodyPr>
          <a:lstStyle/>
          <a:p>
            <a:pPr algn="l">
              <a:buNone/>
            </a:pPr>
            <a:r>
              <a:rPr sz="2400" b="1">
                <a:solidFill>
                  <a:srgbClr val="11202A"/>
                </a:solidFill>
                <a:latin typeface="Aptos"/>
                <a:ea typeface="Aptos"/>
                <a:cs typeface="Aptos"/>
              </a:rPr>
              <a:t>The next phase should connect seller activity to economics and action ownership.</a:t>
            </a:r>
          </a:p>
        </p:txBody>
      </p:sp>
      <p:sp>
        <p:nvSpPr>
          <p:cNvPr id="4" name="Rectangle 3">
            <a:extLst>
              <a:ext uri="{FF2B5EF4-FFF2-40B4-BE49-F238E27FC236}">
                <a16:creationId xmlns:a16="http://schemas.microsoft.com/office/drawing/2014/main" id="{D8EBFDC8-8494-4494-BDC1-EB0CA4379476}"/>
              </a:ext>
            </a:extLst>
          </p:cNvPr>
          <p:cNvSpPr>
            <a:spLocks noGrp="1"/>
          </p:cNvSpPr>
          <p:nvPr/>
        </p:nvSpPr>
        <p:spPr>
          <a:xfrm>
            <a:off x="731520" y="1828800"/>
            <a:ext cx="2057400" cy="2103120"/>
          </a:xfrm>
          <a:prstGeom prst="rect">
            <a:avLst/>
          </a:prstGeom>
          <a:solidFill>
            <a:srgbClr val="E8F3F6"/>
          </a:solidFill>
          <a:ln w="8890">
            <a:solidFill>
              <a:srgbClr val="9EB9C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FB51173-F6A2-42E6-A98B-7A524C1C6A2D}"/>
              </a:ext>
            </a:extLst>
          </p:cNvPr>
          <p:cNvSpPr>
            <a:spLocks noGrp="1"/>
          </p:cNvSpPr>
          <p:nvPr/>
        </p:nvSpPr>
        <p:spPr>
          <a:xfrm>
            <a:off x="932688" y="2057400"/>
            <a:ext cx="365760" cy="228600"/>
          </a:xfrm>
          <a:prstGeom prst="rect">
            <a:avLst/>
          </a:prstGeom>
          <a:noFill/>
        </p:spPr>
        <p:txBody>
          <a:bodyPr wrap="square">
            <a:normAutofit/>
          </a:bodyPr>
          <a:lstStyle/>
          <a:p>
            <a:pPr algn="r">
              <a:buNone/>
            </a:pPr>
            <a:r>
              <a:rPr sz="650">
                <a:solidFill>
                  <a:srgbClr val="96968C"/>
                </a:solidFill>
                <a:latin typeface="Aptos"/>
                <a:ea typeface="Aptos"/>
                <a:cs typeface="Aptos"/>
              </a:rPr>
              <a:t>1</a:t>
            </a:r>
          </a:p>
        </p:txBody>
      </p:sp>
      <p:sp>
        <p:nvSpPr>
          <p:cNvPr id="6" name="TextBox 5">
            <a:extLst>
              <a:ext uri="{FF2B5EF4-FFF2-40B4-BE49-F238E27FC236}">
                <a16:creationId xmlns:a16="http://schemas.microsoft.com/office/drawing/2014/main" id="{4F4DEAA9-03D4-4DB3-94A4-7C9663279E64}"/>
              </a:ext>
            </a:extLst>
          </p:cNvPr>
          <p:cNvSpPr>
            <a:spLocks noGrp="1"/>
          </p:cNvSpPr>
          <p:nvPr/>
        </p:nvSpPr>
        <p:spPr>
          <a:xfrm>
            <a:off x="932688" y="2500884"/>
            <a:ext cx="1371600" cy="274320"/>
          </a:xfrm>
          <a:prstGeom prst="rect">
            <a:avLst/>
          </a:prstGeom>
          <a:noFill/>
        </p:spPr>
        <p:txBody>
          <a:bodyPr wrap="square">
            <a:normAutofit/>
          </a:bodyPr>
          <a:lstStyle/>
          <a:p>
            <a:pPr algn="l">
              <a:buNone/>
            </a:pPr>
            <a:r>
              <a:rPr sz="1200" b="1" dirty="0">
                <a:solidFill>
                  <a:srgbClr val="11202A"/>
                </a:solidFill>
                <a:latin typeface="Aptos"/>
                <a:ea typeface="Aptos"/>
                <a:cs typeface="Aptos"/>
              </a:rPr>
              <a:t>Stabilize metrics</a:t>
            </a:r>
          </a:p>
        </p:txBody>
      </p:sp>
      <p:sp>
        <p:nvSpPr>
          <p:cNvPr id="7" name="TextBox 6">
            <a:extLst>
              <a:ext uri="{FF2B5EF4-FFF2-40B4-BE49-F238E27FC236}">
                <a16:creationId xmlns:a16="http://schemas.microsoft.com/office/drawing/2014/main" id="{F3B90ED7-B073-4644-BBB8-A9C1A94BCB39}"/>
              </a:ext>
            </a:extLst>
          </p:cNvPr>
          <p:cNvSpPr>
            <a:spLocks noGrp="1"/>
          </p:cNvSpPr>
          <p:nvPr/>
        </p:nvSpPr>
        <p:spPr>
          <a:xfrm>
            <a:off x="932688" y="2898648"/>
            <a:ext cx="1508760" cy="850392"/>
          </a:xfrm>
          <a:prstGeom prst="rect">
            <a:avLst/>
          </a:prstGeom>
          <a:noFill/>
        </p:spPr>
        <p:txBody>
          <a:bodyPr wrap="square">
            <a:noAutofit/>
          </a:bodyPr>
          <a:lstStyle/>
          <a:p>
            <a:pPr algn="l">
              <a:buNone/>
            </a:pPr>
            <a:r>
              <a:rPr sz="1000" b="0" dirty="0">
                <a:solidFill>
                  <a:srgbClr val="56636C"/>
                </a:solidFill>
                <a:latin typeface="Aptos"/>
                <a:ea typeface="Aptos"/>
                <a:cs typeface="Aptos"/>
              </a:rPr>
              <a:t>Define terms clearly: Product GMV = item price only; GTV = item price + freight; payment value stays separate.</a:t>
            </a:r>
          </a:p>
        </p:txBody>
      </p:sp>
      <p:sp>
        <p:nvSpPr>
          <p:cNvPr id="8" name="Rectangle 7">
            <a:extLst>
              <a:ext uri="{FF2B5EF4-FFF2-40B4-BE49-F238E27FC236}">
                <a16:creationId xmlns:a16="http://schemas.microsoft.com/office/drawing/2014/main" id="{1A3C5BDD-DABD-435B-ADAA-CB6A3B887463}"/>
              </a:ext>
            </a:extLst>
          </p:cNvPr>
          <p:cNvSpPr>
            <a:spLocks noGrp="1"/>
          </p:cNvSpPr>
          <p:nvPr/>
        </p:nvSpPr>
        <p:spPr>
          <a:xfrm>
            <a:off x="3474720" y="1828800"/>
            <a:ext cx="2057400" cy="2103120"/>
          </a:xfrm>
          <a:prstGeom prst="rect">
            <a:avLst/>
          </a:prstGeom>
          <a:solidFill>
            <a:srgbClr val="FFFCF6"/>
          </a:solidFill>
          <a:ln w="8890">
            <a:solidFill>
              <a:srgbClr val="9EB9C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F1ED141-3117-4220-86C5-A9722FC26855}"/>
              </a:ext>
            </a:extLst>
          </p:cNvPr>
          <p:cNvSpPr>
            <a:spLocks noGrp="1"/>
          </p:cNvSpPr>
          <p:nvPr/>
        </p:nvSpPr>
        <p:spPr>
          <a:xfrm>
            <a:off x="3675887" y="2057400"/>
            <a:ext cx="365760" cy="228600"/>
          </a:xfrm>
          <a:prstGeom prst="rect">
            <a:avLst/>
          </a:prstGeom>
          <a:noFill/>
        </p:spPr>
        <p:txBody>
          <a:bodyPr wrap="square">
            <a:normAutofit/>
          </a:bodyPr>
          <a:lstStyle/>
          <a:p>
            <a:pPr algn="r">
              <a:buNone/>
            </a:pPr>
            <a:r>
              <a:rPr sz="650">
                <a:solidFill>
                  <a:srgbClr val="96968C"/>
                </a:solidFill>
                <a:latin typeface="Aptos"/>
                <a:ea typeface="Aptos"/>
                <a:cs typeface="Aptos"/>
              </a:rPr>
              <a:t>2</a:t>
            </a:r>
          </a:p>
        </p:txBody>
      </p:sp>
      <p:sp>
        <p:nvSpPr>
          <p:cNvPr id="10" name="TextBox 9">
            <a:extLst>
              <a:ext uri="{FF2B5EF4-FFF2-40B4-BE49-F238E27FC236}">
                <a16:creationId xmlns:a16="http://schemas.microsoft.com/office/drawing/2014/main" id="{1F87E72E-5FD5-4BFC-9145-C6E10C74FD3D}"/>
              </a:ext>
            </a:extLst>
          </p:cNvPr>
          <p:cNvSpPr>
            <a:spLocks noGrp="1"/>
          </p:cNvSpPr>
          <p:nvPr/>
        </p:nvSpPr>
        <p:spPr>
          <a:xfrm>
            <a:off x="3675886" y="2487168"/>
            <a:ext cx="1508759" cy="301752"/>
          </a:xfrm>
          <a:prstGeom prst="rect">
            <a:avLst/>
          </a:prstGeom>
          <a:noFill/>
        </p:spPr>
        <p:txBody>
          <a:bodyPr wrap="square">
            <a:normAutofit/>
          </a:bodyPr>
          <a:lstStyle/>
          <a:p>
            <a:pPr algn="l">
              <a:buNone/>
            </a:pPr>
            <a:r>
              <a:rPr sz="1200" b="1" dirty="0">
                <a:solidFill>
                  <a:srgbClr val="11202A"/>
                </a:solidFill>
                <a:latin typeface="Aptos"/>
                <a:ea typeface="Aptos"/>
                <a:cs typeface="Aptos"/>
              </a:rPr>
              <a:t>Automate refresh</a:t>
            </a:r>
          </a:p>
        </p:txBody>
      </p:sp>
      <p:sp>
        <p:nvSpPr>
          <p:cNvPr id="11" name="TextBox 10">
            <a:extLst>
              <a:ext uri="{FF2B5EF4-FFF2-40B4-BE49-F238E27FC236}">
                <a16:creationId xmlns:a16="http://schemas.microsoft.com/office/drawing/2014/main" id="{6B50CB52-A1C4-4813-B040-E49E1A07F37F}"/>
              </a:ext>
            </a:extLst>
          </p:cNvPr>
          <p:cNvSpPr>
            <a:spLocks noGrp="1"/>
          </p:cNvSpPr>
          <p:nvPr/>
        </p:nvSpPr>
        <p:spPr>
          <a:xfrm>
            <a:off x="3675887" y="2898648"/>
            <a:ext cx="1508760" cy="850392"/>
          </a:xfrm>
          <a:prstGeom prst="rect">
            <a:avLst/>
          </a:prstGeom>
          <a:noFill/>
        </p:spPr>
        <p:txBody>
          <a:bodyPr wrap="square">
            <a:noAutofit/>
          </a:bodyPr>
          <a:lstStyle/>
          <a:p>
            <a:pPr algn="l">
              <a:buNone/>
            </a:pPr>
            <a:r>
              <a:rPr sz="1000" b="0">
                <a:solidFill>
                  <a:srgbClr val="56636C"/>
                </a:solidFill>
                <a:latin typeface="Aptos"/>
                <a:ea typeface="Aptos"/>
                <a:cs typeface="Aptos"/>
              </a:rPr>
              <a:t>Run Dagster assets for load, dbt, checks, dashboard readiness.</a:t>
            </a:r>
          </a:p>
        </p:txBody>
      </p:sp>
      <p:sp>
        <p:nvSpPr>
          <p:cNvPr id="12" name="Rectangle 11">
            <a:extLst>
              <a:ext uri="{FF2B5EF4-FFF2-40B4-BE49-F238E27FC236}">
                <a16:creationId xmlns:a16="http://schemas.microsoft.com/office/drawing/2014/main" id="{80F8979D-7125-498B-B82D-A1459135B15F}"/>
              </a:ext>
            </a:extLst>
          </p:cNvPr>
          <p:cNvSpPr>
            <a:spLocks noGrp="1"/>
          </p:cNvSpPr>
          <p:nvPr/>
        </p:nvSpPr>
        <p:spPr>
          <a:xfrm>
            <a:off x="6217920" y="1828800"/>
            <a:ext cx="2057400" cy="2103120"/>
          </a:xfrm>
          <a:prstGeom prst="rect">
            <a:avLst/>
          </a:prstGeom>
          <a:solidFill>
            <a:srgbClr val="E8F3F6"/>
          </a:solidFill>
          <a:ln w="8890">
            <a:solidFill>
              <a:srgbClr val="9EB9C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5FE2FF2-B98E-4E55-AFFE-90041D5E29A8}"/>
              </a:ext>
            </a:extLst>
          </p:cNvPr>
          <p:cNvSpPr>
            <a:spLocks noGrp="1"/>
          </p:cNvSpPr>
          <p:nvPr/>
        </p:nvSpPr>
        <p:spPr>
          <a:xfrm>
            <a:off x="6419088" y="2057400"/>
            <a:ext cx="365760" cy="228600"/>
          </a:xfrm>
          <a:prstGeom prst="rect">
            <a:avLst/>
          </a:prstGeom>
          <a:noFill/>
        </p:spPr>
        <p:txBody>
          <a:bodyPr wrap="square">
            <a:normAutofit/>
          </a:bodyPr>
          <a:lstStyle/>
          <a:p>
            <a:pPr algn="r">
              <a:buNone/>
            </a:pPr>
            <a:r>
              <a:rPr sz="650">
                <a:solidFill>
                  <a:srgbClr val="96968C"/>
                </a:solidFill>
                <a:latin typeface="Aptos"/>
                <a:ea typeface="Aptos"/>
                <a:cs typeface="Aptos"/>
              </a:rPr>
              <a:t>3</a:t>
            </a:r>
          </a:p>
        </p:txBody>
      </p:sp>
      <p:sp>
        <p:nvSpPr>
          <p:cNvPr id="14" name="TextBox 13">
            <a:extLst>
              <a:ext uri="{FF2B5EF4-FFF2-40B4-BE49-F238E27FC236}">
                <a16:creationId xmlns:a16="http://schemas.microsoft.com/office/drawing/2014/main" id="{52D6F459-F5DE-4BD5-B1EA-A2C65AA1F500}"/>
              </a:ext>
            </a:extLst>
          </p:cNvPr>
          <p:cNvSpPr>
            <a:spLocks noGrp="1"/>
          </p:cNvSpPr>
          <p:nvPr/>
        </p:nvSpPr>
        <p:spPr>
          <a:xfrm>
            <a:off x="6419088" y="2500884"/>
            <a:ext cx="1371600" cy="274320"/>
          </a:xfrm>
          <a:prstGeom prst="rect">
            <a:avLst/>
          </a:prstGeom>
          <a:noFill/>
        </p:spPr>
        <p:txBody>
          <a:bodyPr wrap="square">
            <a:normAutofit/>
          </a:bodyPr>
          <a:lstStyle/>
          <a:p>
            <a:pPr algn="l">
              <a:buNone/>
            </a:pPr>
            <a:r>
              <a:rPr sz="1200" b="1">
                <a:solidFill>
                  <a:srgbClr val="11202A"/>
                </a:solidFill>
                <a:latin typeface="Aptos"/>
                <a:ea typeface="Aptos"/>
                <a:cs typeface="Aptos"/>
              </a:rPr>
              <a:t>Assign owners</a:t>
            </a:r>
          </a:p>
        </p:txBody>
      </p:sp>
      <p:sp>
        <p:nvSpPr>
          <p:cNvPr id="15" name="TextBox 14">
            <a:extLst>
              <a:ext uri="{FF2B5EF4-FFF2-40B4-BE49-F238E27FC236}">
                <a16:creationId xmlns:a16="http://schemas.microsoft.com/office/drawing/2014/main" id="{1B6D160B-D8F9-4EEA-BADB-9F8287175DBF}"/>
              </a:ext>
            </a:extLst>
          </p:cNvPr>
          <p:cNvSpPr>
            <a:spLocks noGrp="1"/>
          </p:cNvSpPr>
          <p:nvPr/>
        </p:nvSpPr>
        <p:spPr>
          <a:xfrm>
            <a:off x="6419088" y="2898648"/>
            <a:ext cx="1508760" cy="850392"/>
          </a:xfrm>
          <a:prstGeom prst="rect">
            <a:avLst/>
          </a:prstGeom>
          <a:noFill/>
        </p:spPr>
        <p:txBody>
          <a:bodyPr wrap="square">
            <a:noAutofit/>
          </a:bodyPr>
          <a:lstStyle/>
          <a:p>
            <a:pPr algn="l">
              <a:buNone/>
            </a:pPr>
            <a:r>
              <a:rPr sz="1000" b="0">
                <a:solidFill>
                  <a:srgbClr val="56636C"/>
                </a:solidFill>
                <a:latin typeface="Aptos"/>
                <a:ea typeface="Aptos"/>
                <a:cs typeface="Aptos"/>
              </a:rPr>
              <a:t>Route protect, grow, fix, activate lists to seller teams.</a:t>
            </a:r>
          </a:p>
        </p:txBody>
      </p:sp>
      <p:sp>
        <p:nvSpPr>
          <p:cNvPr id="16" name="Rectangle 15">
            <a:extLst>
              <a:ext uri="{FF2B5EF4-FFF2-40B4-BE49-F238E27FC236}">
                <a16:creationId xmlns:a16="http://schemas.microsoft.com/office/drawing/2014/main" id="{9C65F322-2AF7-4F0B-9ACC-8158EE82C036}"/>
              </a:ext>
            </a:extLst>
          </p:cNvPr>
          <p:cNvSpPr>
            <a:spLocks noGrp="1"/>
          </p:cNvSpPr>
          <p:nvPr/>
        </p:nvSpPr>
        <p:spPr>
          <a:xfrm>
            <a:off x="8961120" y="1828800"/>
            <a:ext cx="2057400" cy="2103120"/>
          </a:xfrm>
          <a:prstGeom prst="rect">
            <a:avLst/>
          </a:prstGeom>
          <a:solidFill>
            <a:srgbClr val="FFFCF6"/>
          </a:solidFill>
          <a:ln w="8890">
            <a:solidFill>
              <a:srgbClr val="9EB9C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0A3B214-DF6C-403E-9B22-98D603188F5F}"/>
              </a:ext>
            </a:extLst>
          </p:cNvPr>
          <p:cNvSpPr>
            <a:spLocks noGrp="1"/>
          </p:cNvSpPr>
          <p:nvPr/>
        </p:nvSpPr>
        <p:spPr>
          <a:xfrm>
            <a:off x="9162288" y="2057400"/>
            <a:ext cx="365760" cy="228600"/>
          </a:xfrm>
          <a:prstGeom prst="rect">
            <a:avLst/>
          </a:prstGeom>
          <a:noFill/>
        </p:spPr>
        <p:txBody>
          <a:bodyPr wrap="square">
            <a:normAutofit/>
          </a:bodyPr>
          <a:lstStyle/>
          <a:p>
            <a:pPr algn="r">
              <a:buNone/>
            </a:pPr>
            <a:r>
              <a:rPr sz="650">
                <a:solidFill>
                  <a:srgbClr val="96968C"/>
                </a:solidFill>
                <a:latin typeface="Aptos"/>
                <a:ea typeface="Aptos"/>
                <a:cs typeface="Aptos"/>
              </a:rPr>
              <a:t>4</a:t>
            </a:r>
          </a:p>
        </p:txBody>
      </p:sp>
      <p:sp>
        <p:nvSpPr>
          <p:cNvPr id="18" name="TextBox 17">
            <a:extLst>
              <a:ext uri="{FF2B5EF4-FFF2-40B4-BE49-F238E27FC236}">
                <a16:creationId xmlns:a16="http://schemas.microsoft.com/office/drawing/2014/main" id="{27842A70-D47A-4CC8-AF87-41907B62A9B2}"/>
              </a:ext>
            </a:extLst>
          </p:cNvPr>
          <p:cNvSpPr>
            <a:spLocks noGrp="1"/>
          </p:cNvSpPr>
          <p:nvPr/>
        </p:nvSpPr>
        <p:spPr>
          <a:xfrm>
            <a:off x="9162288" y="2500884"/>
            <a:ext cx="1371600" cy="274320"/>
          </a:xfrm>
          <a:prstGeom prst="rect">
            <a:avLst/>
          </a:prstGeom>
          <a:noFill/>
        </p:spPr>
        <p:txBody>
          <a:bodyPr wrap="square">
            <a:normAutofit/>
          </a:bodyPr>
          <a:lstStyle/>
          <a:p>
            <a:pPr algn="l">
              <a:buNone/>
            </a:pPr>
            <a:r>
              <a:rPr sz="1200" b="1">
                <a:solidFill>
                  <a:srgbClr val="11202A"/>
                </a:solidFill>
                <a:latin typeface="Aptos"/>
                <a:ea typeface="Aptos"/>
                <a:cs typeface="Aptos"/>
              </a:rPr>
              <a:t>Add economics</a:t>
            </a:r>
          </a:p>
        </p:txBody>
      </p:sp>
      <p:sp>
        <p:nvSpPr>
          <p:cNvPr id="19" name="TextBox 18">
            <a:extLst>
              <a:ext uri="{FF2B5EF4-FFF2-40B4-BE49-F238E27FC236}">
                <a16:creationId xmlns:a16="http://schemas.microsoft.com/office/drawing/2014/main" id="{3D96F7AE-A63D-40EA-8A1D-F0BA7035F965}"/>
              </a:ext>
            </a:extLst>
          </p:cNvPr>
          <p:cNvSpPr>
            <a:spLocks noGrp="1"/>
          </p:cNvSpPr>
          <p:nvPr/>
        </p:nvSpPr>
        <p:spPr>
          <a:xfrm>
            <a:off x="9162288" y="2898648"/>
            <a:ext cx="1508760" cy="850392"/>
          </a:xfrm>
          <a:prstGeom prst="rect">
            <a:avLst/>
          </a:prstGeom>
          <a:noFill/>
        </p:spPr>
        <p:txBody>
          <a:bodyPr wrap="square">
            <a:noAutofit/>
          </a:bodyPr>
          <a:lstStyle/>
          <a:p>
            <a:pPr algn="l">
              <a:buNone/>
            </a:pPr>
            <a:r>
              <a:rPr sz="1000" b="0">
                <a:solidFill>
                  <a:srgbClr val="56636C"/>
                </a:solidFill>
                <a:latin typeface="Aptos"/>
                <a:ea typeface="Aptos"/>
                <a:cs typeface="Aptos"/>
              </a:rPr>
              <a:t>Bring in take rate, SaaS revenue, logistics margin, seller acquisition cost (CAC), and seller lifetime value (LTV).</a:t>
            </a:r>
          </a:p>
        </p:txBody>
      </p:sp>
      <p:sp>
        <p:nvSpPr>
          <p:cNvPr id="20" name="TextBox 19">
            <a:extLst>
              <a:ext uri="{FF2B5EF4-FFF2-40B4-BE49-F238E27FC236}">
                <a16:creationId xmlns:a16="http://schemas.microsoft.com/office/drawing/2014/main" id="{55F4E6DA-161E-4868-A33C-6466CF08C5C4}"/>
              </a:ext>
            </a:extLst>
          </p:cNvPr>
          <p:cNvSpPr>
            <a:spLocks noGrp="1"/>
          </p:cNvSpPr>
          <p:nvPr/>
        </p:nvSpPr>
        <p:spPr>
          <a:xfrm>
            <a:off x="777240" y="5074920"/>
            <a:ext cx="8686800" cy="411480"/>
          </a:xfrm>
          <a:prstGeom prst="rect">
            <a:avLst/>
          </a:prstGeom>
          <a:noFill/>
        </p:spPr>
        <p:txBody>
          <a:bodyPr wrap="square">
            <a:normAutofit/>
          </a:bodyPr>
          <a:lstStyle/>
          <a:p>
            <a:pPr algn="l">
              <a:buNone/>
            </a:pPr>
            <a:r>
              <a:rPr sz="1500" b="1">
                <a:solidFill>
                  <a:srgbClr val="11202A"/>
                </a:solidFill>
                <a:latin typeface="Aptos"/>
                <a:ea typeface="Aptos"/>
                <a:cs typeface="Aptos"/>
              </a:rPr>
              <a:t>Outcome: a repeatable seller-focused decision system, not a one-time assignment analysis.</a:t>
            </a:r>
          </a:p>
        </p:txBody>
      </p:sp>
      <p:sp>
        <p:nvSpPr>
          <p:cNvPr id="21" name="TextBox 20">
            <a:extLst>
              <a:ext uri="{FF2B5EF4-FFF2-40B4-BE49-F238E27FC236}">
                <a16:creationId xmlns:a16="http://schemas.microsoft.com/office/drawing/2014/main" id="{C33A68B0-4A56-495F-8E2E-2B255C52DCDB}"/>
              </a:ext>
            </a:extLst>
          </p:cNvPr>
          <p:cNvSpPr>
            <a:spLocks noGrp="1"/>
          </p:cNvSpPr>
          <p:nvPr/>
        </p:nvSpPr>
        <p:spPr>
          <a:xfrm>
            <a:off x="566928" y="6519672"/>
            <a:ext cx="5029200" cy="164592"/>
          </a:xfrm>
          <a:prstGeom prst="rect">
            <a:avLst/>
          </a:prstGeom>
          <a:noFill/>
        </p:spPr>
        <p:txBody>
          <a:bodyPr wrap="square">
            <a:normAutofit/>
          </a:bodyPr>
          <a:lstStyle/>
          <a:p>
            <a:pPr algn="l">
              <a:buNone/>
            </a:pPr>
            <a:r>
              <a:rPr sz="650" b="0">
                <a:solidFill>
                  <a:srgbClr val="96968C"/>
                </a:solidFill>
                <a:latin typeface="Aptos"/>
                <a:ea typeface="Aptos"/>
                <a:cs typeface="Aptos"/>
              </a:rPr>
              <a:t>Source: Olist Brazilian E-Commerce dataset; DuckDB/dbt warehouse marts</a:t>
            </a:r>
          </a:p>
        </p:txBody>
      </p:sp>
      <p:sp>
        <p:nvSpPr>
          <p:cNvPr id="22" name="TextBox 21">
            <a:extLst>
              <a:ext uri="{FF2B5EF4-FFF2-40B4-BE49-F238E27FC236}">
                <a16:creationId xmlns:a16="http://schemas.microsoft.com/office/drawing/2014/main" id="{C0D84A1E-EF6C-4719-BDFA-9AA5DA527A21}"/>
              </a:ext>
            </a:extLst>
          </p:cNvPr>
          <p:cNvSpPr>
            <a:spLocks noGrp="1"/>
          </p:cNvSpPr>
          <p:nvPr/>
        </p:nvSpPr>
        <p:spPr>
          <a:xfrm>
            <a:off x="11292840" y="6519672"/>
            <a:ext cx="320040" cy="164592"/>
          </a:xfrm>
          <a:prstGeom prst="rect">
            <a:avLst/>
          </a:prstGeom>
          <a:noFill/>
        </p:spPr>
        <p:txBody>
          <a:bodyPr wrap="square">
            <a:normAutofit/>
          </a:bodyPr>
          <a:lstStyle/>
          <a:p>
            <a:pPr algn="r">
              <a:buNone/>
            </a:pPr>
            <a:r>
              <a:rPr sz="650">
                <a:solidFill>
                  <a:srgbClr val="96968C"/>
                </a:solidFill>
                <a:latin typeface="Aptos"/>
                <a:ea typeface="Aptos"/>
                <a:cs typeface="Aptos"/>
              </a:rPr>
              <a:t>12</a:t>
            </a:r>
          </a:p>
        </p:txBody>
      </p:sp>
    </p:spTree>
    <p:extLst>
      <p:ext uri="{BB962C8B-B14F-4D97-AF65-F5344CB8AC3E}">
        <p14:creationId xmlns:p14="http://schemas.microsoft.com/office/powerpoint/2010/main" val="16531595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B2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E55F7E4-1842-4033-AEA4-C807337E218E}"/>
              </a:ext>
            </a:extLst>
          </p:cNvPr>
          <p:cNvSpPr>
            <a:spLocks noGrp="1"/>
          </p:cNvSpPr>
          <p:nvPr/>
        </p:nvSpPr>
        <p:spPr>
          <a:xfrm>
            <a:off x="594360" y="475488"/>
            <a:ext cx="1463040" cy="228600"/>
          </a:xfrm>
          <a:prstGeom prst="rect">
            <a:avLst/>
          </a:prstGeom>
          <a:noFill/>
        </p:spPr>
        <p:txBody>
          <a:bodyPr wrap="square">
            <a:normAutofit/>
          </a:bodyPr>
          <a:lstStyle/>
          <a:p>
            <a:pPr algn="l">
              <a:buNone/>
            </a:pPr>
            <a:r>
              <a:rPr sz="800" b="1">
                <a:solidFill>
                  <a:srgbClr val="CE8227"/>
                </a:solidFill>
                <a:latin typeface="Aptos"/>
                <a:ea typeface="Aptos"/>
                <a:cs typeface="Aptos"/>
              </a:rPr>
              <a:t>CLOSE</a:t>
            </a:r>
          </a:p>
        </p:txBody>
      </p:sp>
      <p:sp>
        <p:nvSpPr>
          <p:cNvPr id="3" name="TextBox 2">
            <a:extLst>
              <a:ext uri="{FF2B5EF4-FFF2-40B4-BE49-F238E27FC236}">
                <a16:creationId xmlns:a16="http://schemas.microsoft.com/office/drawing/2014/main" id="{F429280B-5E3B-44E0-B228-E81AE7ABAC1B}"/>
              </a:ext>
            </a:extLst>
          </p:cNvPr>
          <p:cNvSpPr>
            <a:spLocks noGrp="1"/>
          </p:cNvSpPr>
          <p:nvPr/>
        </p:nvSpPr>
        <p:spPr>
          <a:xfrm>
            <a:off x="594359" y="1143000"/>
            <a:ext cx="7759065" cy="1051560"/>
          </a:xfrm>
          <a:prstGeom prst="rect">
            <a:avLst/>
          </a:prstGeom>
          <a:noFill/>
        </p:spPr>
        <p:txBody>
          <a:bodyPr wrap="square">
            <a:normAutofit/>
          </a:bodyPr>
          <a:lstStyle/>
          <a:p>
            <a:pPr algn="l">
              <a:buNone/>
            </a:pPr>
            <a:r>
              <a:rPr sz="3000" b="1" dirty="0">
                <a:solidFill>
                  <a:srgbClr val="FFFFFF"/>
                </a:solidFill>
                <a:latin typeface="Aptos"/>
                <a:ea typeface="Aptos"/>
                <a:cs typeface="Aptos"/>
              </a:rPr>
              <a:t>The project now lands as a business case, a dashboard, and a traceable data build.</a:t>
            </a:r>
          </a:p>
        </p:txBody>
      </p:sp>
      <p:sp>
        <p:nvSpPr>
          <p:cNvPr id="4" name="TextBox 3">
            <a:extLst>
              <a:ext uri="{FF2B5EF4-FFF2-40B4-BE49-F238E27FC236}">
                <a16:creationId xmlns:a16="http://schemas.microsoft.com/office/drawing/2014/main" id="{B6151E0A-9C50-4B4A-A26F-BA3B77E09E3C}"/>
              </a:ext>
            </a:extLst>
          </p:cNvPr>
          <p:cNvSpPr>
            <a:spLocks noGrp="1"/>
          </p:cNvSpPr>
          <p:nvPr/>
        </p:nvSpPr>
        <p:spPr>
          <a:xfrm>
            <a:off x="594360" y="2487168"/>
            <a:ext cx="6492240" cy="502920"/>
          </a:xfrm>
          <a:prstGeom prst="rect">
            <a:avLst/>
          </a:prstGeom>
          <a:noFill/>
        </p:spPr>
        <p:txBody>
          <a:bodyPr wrap="square">
            <a:normAutofit/>
          </a:bodyPr>
          <a:lstStyle/>
          <a:p>
            <a:pPr algn="l">
              <a:buNone/>
            </a:pPr>
            <a:r>
              <a:rPr sz="1300" b="0">
                <a:solidFill>
                  <a:srgbClr val="D2DADC"/>
                </a:solidFill>
                <a:latin typeface="Aptos"/>
                <a:ea typeface="Aptos"/>
                <a:cs typeface="Aptos"/>
              </a:rPr>
              <a:t>Decision makers get a growth action plan. Data specialists can trace the build through raw load, dbt models, tests, Dagster assets, and dashboard marts.</a:t>
            </a:r>
          </a:p>
        </p:txBody>
      </p:sp>
      <p:sp>
        <p:nvSpPr>
          <p:cNvPr id="5" name="TextBox 4">
            <a:extLst>
              <a:ext uri="{FF2B5EF4-FFF2-40B4-BE49-F238E27FC236}">
                <a16:creationId xmlns:a16="http://schemas.microsoft.com/office/drawing/2014/main" id="{387A42CE-5D16-478A-A67C-F905CCA97D9E}"/>
              </a:ext>
            </a:extLst>
          </p:cNvPr>
          <p:cNvSpPr>
            <a:spLocks noGrp="1"/>
          </p:cNvSpPr>
          <p:nvPr/>
        </p:nvSpPr>
        <p:spPr>
          <a:xfrm>
            <a:off x="594360" y="4343400"/>
            <a:ext cx="1554480" cy="320040"/>
          </a:xfrm>
          <a:prstGeom prst="rect">
            <a:avLst/>
          </a:prstGeom>
          <a:noFill/>
        </p:spPr>
        <p:txBody>
          <a:bodyPr wrap="square">
            <a:normAutofit/>
          </a:bodyPr>
          <a:lstStyle/>
          <a:p>
            <a:pPr algn="l">
              <a:buNone/>
            </a:pPr>
            <a:r>
              <a:rPr sz="2200" b="1">
                <a:solidFill>
                  <a:srgbClr val="FFFFFF"/>
                </a:solidFill>
                <a:latin typeface="Aptos"/>
                <a:ea typeface="Aptos"/>
                <a:cs typeface="Aptos"/>
              </a:rPr>
              <a:t>3,095</a:t>
            </a:r>
          </a:p>
        </p:txBody>
      </p:sp>
      <p:sp>
        <p:nvSpPr>
          <p:cNvPr id="6" name="TextBox 5">
            <a:extLst>
              <a:ext uri="{FF2B5EF4-FFF2-40B4-BE49-F238E27FC236}">
                <a16:creationId xmlns:a16="http://schemas.microsoft.com/office/drawing/2014/main" id="{C6EA7777-D31D-4E5A-918F-55029FE1F100}"/>
              </a:ext>
            </a:extLst>
          </p:cNvPr>
          <p:cNvSpPr>
            <a:spLocks noGrp="1"/>
          </p:cNvSpPr>
          <p:nvPr/>
        </p:nvSpPr>
        <p:spPr>
          <a:xfrm>
            <a:off x="594360" y="4690872"/>
            <a:ext cx="1645920" cy="228600"/>
          </a:xfrm>
          <a:prstGeom prst="rect">
            <a:avLst/>
          </a:prstGeom>
          <a:noFill/>
        </p:spPr>
        <p:txBody>
          <a:bodyPr wrap="square">
            <a:noAutofit/>
          </a:bodyPr>
          <a:lstStyle/>
          <a:p>
            <a:pPr algn="l">
              <a:buNone/>
            </a:pPr>
            <a:r>
              <a:rPr sz="1200" b="1" dirty="0">
                <a:solidFill>
                  <a:srgbClr val="E6AA50"/>
                </a:solidFill>
                <a:latin typeface="Aptos"/>
                <a:ea typeface="Aptos"/>
                <a:cs typeface="Aptos"/>
              </a:rPr>
              <a:t>sellers</a:t>
            </a:r>
          </a:p>
        </p:txBody>
      </p:sp>
      <p:sp>
        <p:nvSpPr>
          <p:cNvPr id="7" name="TextBox 6">
            <a:extLst>
              <a:ext uri="{FF2B5EF4-FFF2-40B4-BE49-F238E27FC236}">
                <a16:creationId xmlns:a16="http://schemas.microsoft.com/office/drawing/2014/main" id="{B1917310-4CBA-450A-9195-E8798DC33C2C}"/>
              </a:ext>
            </a:extLst>
          </p:cNvPr>
          <p:cNvSpPr>
            <a:spLocks noGrp="1"/>
          </p:cNvSpPr>
          <p:nvPr/>
        </p:nvSpPr>
        <p:spPr>
          <a:xfrm>
            <a:off x="594360" y="4937760"/>
            <a:ext cx="1828800" cy="320040"/>
          </a:xfrm>
          <a:prstGeom prst="rect">
            <a:avLst/>
          </a:prstGeom>
          <a:noFill/>
        </p:spPr>
        <p:txBody>
          <a:bodyPr wrap="square">
            <a:normAutofit/>
          </a:bodyPr>
          <a:lstStyle/>
          <a:p>
            <a:pPr algn="l">
              <a:buNone/>
            </a:pPr>
            <a:r>
              <a:rPr sz="1100" b="0" dirty="0">
                <a:solidFill>
                  <a:srgbClr val="BEC6C8"/>
                </a:solidFill>
                <a:latin typeface="Aptos"/>
                <a:ea typeface="Aptos"/>
                <a:cs typeface="Aptos"/>
              </a:rPr>
              <a:t>merchant base visible</a:t>
            </a:r>
          </a:p>
        </p:txBody>
      </p:sp>
      <p:sp>
        <p:nvSpPr>
          <p:cNvPr id="8" name="TextBox 7">
            <a:extLst>
              <a:ext uri="{FF2B5EF4-FFF2-40B4-BE49-F238E27FC236}">
                <a16:creationId xmlns:a16="http://schemas.microsoft.com/office/drawing/2014/main" id="{A2515622-F288-4E6E-9AB9-468BF30902B7}"/>
              </a:ext>
            </a:extLst>
          </p:cNvPr>
          <p:cNvSpPr>
            <a:spLocks noGrp="1"/>
          </p:cNvSpPr>
          <p:nvPr/>
        </p:nvSpPr>
        <p:spPr>
          <a:xfrm>
            <a:off x="2788920" y="4343400"/>
            <a:ext cx="1554480" cy="320040"/>
          </a:xfrm>
          <a:prstGeom prst="rect">
            <a:avLst/>
          </a:prstGeom>
          <a:noFill/>
        </p:spPr>
        <p:txBody>
          <a:bodyPr wrap="square">
            <a:normAutofit/>
          </a:bodyPr>
          <a:lstStyle/>
          <a:p>
            <a:pPr algn="l">
              <a:buNone/>
            </a:pPr>
            <a:r>
              <a:rPr sz="2200" b="1" dirty="0">
                <a:solidFill>
                  <a:srgbClr val="FFFFFF"/>
                </a:solidFill>
                <a:latin typeface="Aptos"/>
                <a:ea typeface="Aptos"/>
                <a:cs typeface="Aptos"/>
              </a:rPr>
              <a:t>38 + 15</a:t>
            </a:r>
          </a:p>
        </p:txBody>
      </p:sp>
      <p:sp>
        <p:nvSpPr>
          <p:cNvPr id="9" name="TextBox 8">
            <a:extLst>
              <a:ext uri="{FF2B5EF4-FFF2-40B4-BE49-F238E27FC236}">
                <a16:creationId xmlns:a16="http://schemas.microsoft.com/office/drawing/2014/main" id="{A58FEA98-6331-4E25-8AA6-3E053736B46B}"/>
              </a:ext>
            </a:extLst>
          </p:cNvPr>
          <p:cNvSpPr>
            <a:spLocks noGrp="1"/>
          </p:cNvSpPr>
          <p:nvPr/>
        </p:nvSpPr>
        <p:spPr>
          <a:xfrm>
            <a:off x="2788920" y="4690872"/>
            <a:ext cx="1645920" cy="228600"/>
          </a:xfrm>
          <a:prstGeom prst="rect">
            <a:avLst/>
          </a:prstGeom>
          <a:noFill/>
        </p:spPr>
        <p:txBody>
          <a:bodyPr wrap="square">
            <a:noAutofit/>
          </a:bodyPr>
          <a:lstStyle/>
          <a:p>
            <a:pPr algn="l">
              <a:buNone/>
            </a:pPr>
            <a:r>
              <a:rPr sz="1200" b="1">
                <a:solidFill>
                  <a:srgbClr val="E6AA50"/>
                </a:solidFill>
                <a:latin typeface="Aptos"/>
                <a:ea typeface="Aptos"/>
                <a:cs typeface="Aptos"/>
              </a:rPr>
              <a:t>checks</a:t>
            </a:r>
          </a:p>
        </p:txBody>
      </p:sp>
      <p:sp>
        <p:nvSpPr>
          <p:cNvPr id="10" name="TextBox 9">
            <a:extLst>
              <a:ext uri="{FF2B5EF4-FFF2-40B4-BE49-F238E27FC236}">
                <a16:creationId xmlns:a16="http://schemas.microsoft.com/office/drawing/2014/main" id="{719C1815-C4FE-4624-8A93-2D69497EDD8C}"/>
              </a:ext>
            </a:extLst>
          </p:cNvPr>
          <p:cNvSpPr>
            <a:spLocks noGrp="1"/>
          </p:cNvSpPr>
          <p:nvPr/>
        </p:nvSpPr>
        <p:spPr>
          <a:xfrm>
            <a:off x="2788920" y="4937760"/>
            <a:ext cx="1828800" cy="320040"/>
          </a:xfrm>
          <a:prstGeom prst="rect">
            <a:avLst/>
          </a:prstGeom>
          <a:noFill/>
        </p:spPr>
        <p:txBody>
          <a:bodyPr wrap="square">
            <a:normAutofit/>
          </a:bodyPr>
          <a:lstStyle/>
          <a:p>
            <a:pPr algn="l">
              <a:buNone/>
            </a:pPr>
            <a:r>
              <a:rPr sz="1100" b="0">
                <a:solidFill>
                  <a:srgbClr val="BEC6C8"/>
                </a:solidFill>
                <a:latin typeface="Aptos"/>
                <a:ea typeface="Aptos"/>
                <a:cs typeface="Aptos"/>
              </a:rPr>
              <a:t>dbt and SQL passed</a:t>
            </a:r>
          </a:p>
        </p:txBody>
      </p:sp>
      <p:sp>
        <p:nvSpPr>
          <p:cNvPr id="11" name="TextBox 10">
            <a:extLst>
              <a:ext uri="{FF2B5EF4-FFF2-40B4-BE49-F238E27FC236}">
                <a16:creationId xmlns:a16="http://schemas.microsoft.com/office/drawing/2014/main" id="{55ED41B3-55D6-445E-A234-0F4C5711A6E9}"/>
              </a:ext>
            </a:extLst>
          </p:cNvPr>
          <p:cNvSpPr>
            <a:spLocks noGrp="1"/>
          </p:cNvSpPr>
          <p:nvPr/>
        </p:nvSpPr>
        <p:spPr>
          <a:xfrm>
            <a:off x="4983480" y="4343400"/>
            <a:ext cx="1554480" cy="320040"/>
          </a:xfrm>
          <a:prstGeom prst="rect">
            <a:avLst/>
          </a:prstGeom>
          <a:noFill/>
        </p:spPr>
        <p:txBody>
          <a:bodyPr wrap="square">
            <a:noAutofit/>
          </a:bodyPr>
          <a:lstStyle/>
          <a:p>
            <a:r>
              <a:rPr sz="2200" b="1" dirty="0">
                <a:solidFill>
                  <a:srgbClr val="FFFFFF"/>
                </a:solidFill>
                <a:latin typeface="Aptos"/>
              </a:rPr>
              <a:t>13</a:t>
            </a:r>
          </a:p>
        </p:txBody>
      </p:sp>
      <p:sp>
        <p:nvSpPr>
          <p:cNvPr id="12" name="TextBox 11">
            <a:extLst>
              <a:ext uri="{FF2B5EF4-FFF2-40B4-BE49-F238E27FC236}">
                <a16:creationId xmlns:a16="http://schemas.microsoft.com/office/drawing/2014/main" id="{A575A05A-4EFF-441D-8424-688DD5B6DDCB}"/>
              </a:ext>
            </a:extLst>
          </p:cNvPr>
          <p:cNvSpPr>
            <a:spLocks noGrp="1"/>
          </p:cNvSpPr>
          <p:nvPr/>
        </p:nvSpPr>
        <p:spPr>
          <a:xfrm>
            <a:off x="4983480" y="4690872"/>
            <a:ext cx="1645920" cy="228600"/>
          </a:xfrm>
          <a:prstGeom prst="rect">
            <a:avLst/>
          </a:prstGeom>
          <a:noFill/>
        </p:spPr>
        <p:txBody>
          <a:bodyPr wrap="square">
            <a:noAutofit/>
          </a:bodyPr>
          <a:lstStyle/>
          <a:p>
            <a:pPr algn="l">
              <a:buNone/>
            </a:pPr>
            <a:r>
              <a:rPr sz="1200" b="1">
                <a:solidFill>
                  <a:srgbClr val="E6AA50"/>
                </a:solidFill>
                <a:latin typeface="Aptos"/>
                <a:ea typeface="Aptos"/>
                <a:cs typeface="Aptos"/>
              </a:rPr>
              <a:t>growth levers</a:t>
            </a:r>
          </a:p>
        </p:txBody>
      </p:sp>
      <p:sp>
        <p:nvSpPr>
          <p:cNvPr id="13" name="TextBox 12">
            <a:extLst>
              <a:ext uri="{FF2B5EF4-FFF2-40B4-BE49-F238E27FC236}">
                <a16:creationId xmlns:a16="http://schemas.microsoft.com/office/drawing/2014/main" id="{3A885889-193A-4712-A9FF-7DA92C3C2EB2}"/>
              </a:ext>
            </a:extLst>
          </p:cNvPr>
          <p:cNvSpPr>
            <a:spLocks noGrp="1"/>
          </p:cNvSpPr>
          <p:nvPr/>
        </p:nvSpPr>
        <p:spPr>
          <a:xfrm>
            <a:off x="4983480" y="4937760"/>
            <a:ext cx="1828800" cy="320040"/>
          </a:xfrm>
          <a:prstGeom prst="rect">
            <a:avLst/>
          </a:prstGeom>
          <a:noFill/>
        </p:spPr>
        <p:txBody>
          <a:bodyPr wrap="square">
            <a:normAutofit/>
          </a:bodyPr>
          <a:lstStyle/>
          <a:p>
            <a:pPr algn="l">
              <a:buNone/>
            </a:pPr>
            <a:r>
              <a:rPr sz="1100" b="0">
                <a:solidFill>
                  <a:srgbClr val="BEC6C8"/>
                </a:solidFill>
                <a:latin typeface="Aptos"/>
                <a:ea typeface="Aptos"/>
                <a:cs typeface="Aptos"/>
              </a:rPr>
              <a:t>seller, category, fulfillment</a:t>
            </a:r>
          </a:p>
        </p:txBody>
      </p:sp>
      <p:sp>
        <p:nvSpPr>
          <p:cNvPr id="14" name="TextBox 13">
            <a:extLst>
              <a:ext uri="{FF2B5EF4-FFF2-40B4-BE49-F238E27FC236}">
                <a16:creationId xmlns:a16="http://schemas.microsoft.com/office/drawing/2014/main" id="{BB7A7C47-B9E0-4E9B-B63A-3EFD1CB89C98}"/>
              </a:ext>
            </a:extLst>
          </p:cNvPr>
          <p:cNvSpPr>
            <a:spLocks noGrp="1"/>
          </p:cNvSpPr>
          <p:nvPr/>
        </p:nvSpPr>
        <p:spPr>
          <a:xfrm>
            <a:off x="9875520" y="5806440"/>
            <a:ext cx="1097280" cy="320040"/>
          </a:xfrm>
          <a:prstGeom prst="rect">
            <a:avLst/>
          </a:prstGeom>
          <a:noFill/>
        </p:spPr>
        <p:txBody>
          <a:bodyPr wrap="square">
            <a:normAutofit/>
          </a:bodyPr>
          <a:lstStyle/>
          <a:p>
            <a:pPr algn="l">
              <a:buNone/>
            </a:pPr>
            <a:r>
              <a:rPr sz="1800" b="1">
                <a:solidFill>
                  <a:srgbClr val="CE8227"/>
                </a:solidFill>
                <a:latin typeface="Aptos"/>
                <a:ea typeface="Aptos"/>
                <a:cs typeface="Aptos"/>
              </a:rPr>
              <a:t>Q&amp;A</a:t>
            </a:r>
          </a:p>
        </p:txBody>
      </p:sp>
      <p:sp>
        <p:nvSpPr>
          <p:cNvPr id="15" name="TextBox 14">
            <a:extLst>
              <a:ext uri="{FF2B5EF4-FFF2-40B4-BE49-F238E27FC236}">
                <a16:creationId xmlns:a16="http://schemas.microsoft.com/office/drawing/2014/main" id="{B3F1313C-9A22-452D-9276-18CF9BC71C7F}"/>
              </a:ext>
            </a:extLst>
          </p:cNvPr>
          <p:cNvSpPr>
            <a:spLocks noGrp="1"/>
          </p:cNvSpPr>
          <p:nvPr/>
        </p:nvSpPr>
        <p:spPr>
          <a:xfrm>
            <a:off x="566928" y="6519672"/>
            <a:ext cx="5029200" cy="164592"/>
          </a:xfrm>
          <a:prstGeom prst="rect">
            <a:avLst/>
          </a:prstGeom>
          <a:noFill/>
        </p:spPr>
        <p:txBody>
          <a:bodyPr wrap="square">
            <a:normAutofit/>
          </a:bodyPr>
          <a:lstStyle/>
          <a:p>
            <a:pPr algn="l">
              <a:buNone/>
            </a:pPr>
            <a:r>
              <a:rPr sz="650" b="0">
                <a:solidFill>
                  <a:srgbClr val="B9BEBE"/>
                </a:solidFill>
                <a:latin typeface="Aptos"/>
                <a:ea typeface="Aptos"/>
                <a:cs typeface="Aptos"/>
              </a:rPr>
              <a:t>Source: Olist Brazilian E-Commerce dataset; DuckDB/dbt warehouse marts</a:t>
            </a:r>
          </a:p>
        </p:txBody>
      </p:sp>
      <p:sp>
        <p:nvSpPr>
          <p:cNvPr id="16" name="TextBox 15">
            <a:extLst>
              <a:ext uri="{FF2B5EF4-FFF2-40B4-BE49-F238E27FC236}">
                <a16:creationId xmlns:a16="http://schemas.microsoft.com/office/drawing/2014/main" id="{6878A13A-7553-4C8D-8FD4-2908FDC92FFE}"/>
              </a:ext>
            </a:extLst>
          </p:cNvPr>
          <p:cNvSpPr>
            <a:spLocks noGrp="1"/>
          </p:cNvSpPr>
          <p:nvPr/>
        </p:nvSpPr>
        <p:spPr>
          <a:xfrm>
            <a:off x="11292840" y="6519672"/>
            <a:ext cx="320040" cy="164592"/>
          </a:xfrm>
          <a:prstGeom prst="rect">
            <a:avLst/>
          </a:prstGeom>
          <a:noFill/>
        </p:spPr>
        <p:txBody>
          <a:bodyPr wrap="square">
            <a:normAutofit/>
          </a:bodyPr>
          <a:lstStyle/>
          <a:p>
            <a:pPr algn="r">
              <a:buNone/>
            </a:pPr>
            <a:r>
              <a:rPr sz="650">
                <a:solidFill>
                  <a:srgbClr val="96968C"/>
                </a:solidFill>
                <a:latin typeface="Aptos"/>
                <a:ea typeface="Aptos"/>
                <a:cs typeface="Aptos"/>
              </a:rPr>
              <a:t>13</a:t>
            </a:r>
          </a:p>
        </p:txBody>
      </p:sp>
    </p:spTree>
    <p:extLst>
      <p:ext uri="{BB962C8B-B14F-4D97-AF65-F5344CB8AC3E}">
        <p14:creationId xmlns:p14="http://schemas.microsoft.com/office/powerpoint/2010/main" val="10716472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TotalTime>
  <Words>2423</Words>
  <Application>Microsoft Office PowerPoint</Application>
  <DocSecurity>0</DocSecurity>
  <PresentationFormat>Widescreen</PresentationFormat>
  <Paragraphs>264</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Aptos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Teofilo Santiago IV</cp:lastModifiedBy>
  <cp:revision>4</cp:revision>
  <dcterms:created xsi:type="dcterms:W3CDTF">2026-06-13T03:43:59Z</dcterms:created>
  <dcterms:modified xsi:type="dcterms:W3CDTF">2026-06-13T05:38:03Z</dcterms:modified>
</cp:coreProperties>
</file>