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2229427-5F1B-4A02-9928-A1FC4D4031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8BFFBD-88A9-47A3-9B2B-46CD3982D67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5334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OLIST MARKETPLACE ANALYTICS WAREHOUSE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CC071-0822-410E-9FBD-BCC64C2AFA76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905750" cy="1428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validated marketplace data pipeline reveals where growth is strong and where fulfillment limits scale.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F21F1-746D-4B36-A1F3-76C397EB5B9F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6477000" cy="552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Decision makers get a focused commercial story; data specialists get a transparent warehouse, lineage, and quality trail.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73D88-28AD-44AA-BAB4-D2BC1591F4A2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98.7K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BFEE4-7992-4374-AF05-E85825DD6C88}"/>
              </a:ext>
            </a:extLst>
          </p:cNvPr>
          <p:cNvSpPr>
            <a:spLocks noGrp="1"/>
          </p:cNvSpPr>
          <p:nvPr/>
        </p:nvSpPr>
        <p:spPr>
          <a:xfrm>
            <a:off x="7048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orders with 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40DC0-CC5E-48F4-84F3-1739EEA11C87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transaction base modeled at order-item grain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ABA32-50C4-43A1-A28F-A3A913043E7E}"/>
              </a:ext>
            </a:extLst>
          </p:cNvPr>
          <p:cNvSpPr>
            <a:spLocks noGrp="1"/>
          </p:cNvSpPr>
          <p:nvPr/>
        </p:nvSpPr>
        <p:spPr>
          <a:xfrm>
            <a:off x="29146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15.84M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9A285-3123-4016-8586-02FD41AEF34D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gross item sales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7B70-CD54-413B-A8BB-17135D06140D}"/>
              </a:ext>
            </a:extLst>
          </p:cNvPr>
          <p:cNvSpPr>
            <a:spLocks noGrp="1"/>
          </p:cNvSpPr>
          <p:nvPr/>
        </p:nvSpPr>
        <p:spPr>
          <a:xfrm>
            <a:off x="29146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price plus freight across fact_sales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E617C7-1A6D-46A3-829D-487C7AA27639}"/>
              </a:ext>
            </a:extLst>
          </p:cNvPr>
          <p:cNvSpPr>
            <a:spLocks noGrp="1"/>
          </p:cNvSpPr>
          <p:nvPr/>
        </p:nvSpPr>
        <p:spPr>
          <a:xfrm>
            <a:off x="51244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B5E501-B949-4EA5-B0DD-092B8A19C509}"/>
              </a:ext>
            </a:extLst>
          </p:cNvPr>
          <p:cNvSpPr>
            <a:spLocks noGrp="1"/>
          </p:cNvSpPr>
          <p:nvPr/>
        </p:nvSpPr>
        <p:spPr>
          <a:xfrm>
            <a:off x="51244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avg review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9BA21-BB75-489C-8F09-1F51268B83FE}"/>
              </a:ext>
            </a:extLst>
          </p:cNvPr>
          <p:cNvSpPr>
            <a:spLocks noGrp="1"/>
          </p:cNvSpPr>
          <p:nvPr/>
        </p:nvSpPr>
        <p:spPr>
          <a:xfrm>
            <a:off x="51244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reviews linked into sales fact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69B04-92EA-42C0-8E1F-138D030FC258}"/>
              </a:ext>
            </a:extLst>
          </p:cNvPr>
          <p:cNvSpPr>
            <a:spLocks noGrp="1"/>
          </p:cNvSpPr>
          <p:nvPr/>
        </p:nvSpPr>
        <p:spPr>
          <a:xfrm>
            <a:off x="8382000" y="876300"/>
            <a:ext cx="2476500" cy="4476750"/>
          </a:xfrm>
          <a:prstGeom prst="rect">
            <a:avLst/>
          </a:prstGeom>
          <a:solidFill>
            <a:srgbClr val="17384A"/>
          </a:solidFill>
          <a:ln w="9525">
            <a:solidFill>
              <a:srgbClr val="38607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9201A-717F-4A8F-8A5D-5CFEEB2F6E8A}"/>
              </a:ext>
            </a:extLst>
          </p:cNvPr>
          <p:cNvSpPr>
            <a:spLocks noGrp="1"/>
          </p:cNvSpPr>
          <p:nvPr/>
        </p:nvSpPr>
        <p:spPr>
          <a:xfrm>
            <a:off x="8715375" y="1219200"/>
            <a:ext cx="180975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Business thesis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F1CC9-E3EE-42F4-84A4-DD6DBC98695F}"/>
              </a:ext>
            </a:extLst>
          </p:cNvPr>
          <p:cNvSpPr>
            <a:spLocks noGrp="1"/>
          </p:cNvSpPr>
          <p:nvPr/>
        </p:nvSpPr>
        <p:spPr>
          <a:xfrm>
            <a:off x="8715375" y="1695450"/>
            <a:ext cx="169545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demand and satisfaction; the next unlock is category focus plus regional delivery reliability.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6DFA59-CF14-41A5-863D-9F4B88875062}"/>
              </a:ext>
            </a:extLst>
          </p:cNvPr>
          <p:cNvSpPr>
            <a:spLocks noGrp="1"/>
          </p:cNvSpPr>
          <p:nvPr/>
        </p:nvSpPr>
        <p:spPr>
          <a:xfrm>
            <a:off x="8715375" y="3829050"/>
            <a:ext cx="1714500" cy="4000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Dataset period: Sep 2016 to Sep 2018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6DFF3-B9B1-45D9-BFA8-C73E607AA124}"/>
              </a:ext>
            </a:extLst>
          </p:cNvPr>
          <p:cNvSpPr>
            <a:spLocks noGrp="1"/>
          </p:cNvSpPr>
          <p:nvPr/>
        </p:nvSpPr>
        <p:spPr>
          <a:xfrm>
            <a:off x="8715375" y="4362450"/>
            <a:ext cx="17145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DuckDB star schema: customer, product, seller, date, sales fact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93259-F879-4D52-B3C7-94A59C45798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662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F519B8-53B2-40F9-9C33-6DAFD789B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EA875-C882-4B0B-94D3-171542A440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A1C1F-1808-498C-A1EC-B178E2BB3CB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810B520-29C5-4F52-9549-6B609701F11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4378537-DFD5-41CD-9CEB-ECF0C063466A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883C2-E01A-474A-97FB-61BE84D5023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Marketplace performance is healthy, but growth is concentrated and operationally uneven.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46A01-1C41-4A89-8121-F93EAE005011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96.5K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170F2-27C5-416B-A300-E2478F50028E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delivered orders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13DD5-9CF3-43FA-8D83-B4389C54D0F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97.8% of orders with item records reached delivered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3CD4E-FD11-416C-821B-0AD02A370047}"/>
              </a:ext>
            </a:extLst>
          </p:cNvPr>
          <p:cNvSpPr>
            <a:spLocks noGrp="1"/>
          </p:cNvSpPr>
          <p:nvPr/>
        </p:nvSpPr>
        <p:spPr>
          <a:xfrm>
            <a:off x="31432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12.4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B2FF4B-B19E-48D0-8FBC-71930A8876C7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avg delivery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26371-F8E6-476D-8B70-A41226933A8A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delivered order average; slower regions exceed 20 days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05A44-7118-44D1-AAE8-5084471D3B44}"/>
              </a:ext>
            </a:extLst>
          </p:cNvPr>
          <p:cNvSpPr>
            <a:spLocks noGrp="1"/>
          </p:cNvSpPr>
          <p:nvPr/>
        </p:nvSpPr>
        <p:spPr>
          <a:xfrm>
            <a:off x="5543550" y="201930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76.5K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51B1-F9DB-4E7F-B3B2-9A6168E5C476}"/>
              </a:ext>
            </a:extLst>
          </p:cNvPr>
          <p:cNvSpPr>
            <a:spLocks noGrp="1"/>
          </p:cNvSpPr>
          <p:nvPr/>
        </p:nvSpPr>
        <p:spPr>
          <a:xfrm>
            <a:off x="5543550" y="245745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credit-card orders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66F1C-1400-4035-8489-41A76B78EA1D}"/>
              </a:ext>
            </a:extLst>
          </p:cNvPr>
          <p:cNvSpPr>
            <a:spLocks noGrp="1"/>
          </p:cNvSpPr>
          <p:nvPr/>
        </p:nvSpPr>
        <p:spPr>
          <a:xfrm>
            <a:off x="5543550" y="268605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dominant payment behavior by count and value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0A9751-7DF6-4A52-B524-483C5A2EAE74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27813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28A7D-E505-4E15-9436-859B427D1F56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2C447F-094A-45B3-929F-894556425800}"/>
              </a:ext>
            </a:extLst>
          </p:cNvPr>
          <p:cNvSpPr>
            <a:spLocks noGrp="1"/>
          </p:cNvSpPr>
          <p:nvPr/>
        </p:nvSpPr>
        <p:spPr>
          <a:xfrm>
            <a:off x="8458200" y="2552700"/>
            <a:ext cx="2000250" cy="1885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Defend leading categories with seller enablement and availability.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Treat SP as the operating benchmark for delivery speed.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Prioritize northern and northeastern fulfillment fixes before pushing demand there.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4. Move the warehouse into scheduled reporting once dashboard questions stabilize.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33F83E-AA54-4B8D-969B-E44D0251700C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657225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FDBBA-41EB-45C1-AB7B-BF12008EA65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381125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lens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42009-D80D-4C0F-9CE1-92BA04A828E6}"/>
              </a:ext>
            </a:extLst>
          </p:cNvPr>
          <p:cNvSpPr>
            <a:spLocks noGrp="1"/>
          </p:cNvSpPr>
          <p:nvPr/>
        </p:nvSpPr>
        <p:spPr>
          <a:xfrm>
            <a:off x="2152650" y="3905250"/>
            <a:ext cx="516255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business does not need more raw files. It needs a repeatable view of revenue, geography, fulfillment, payment, and review signals.</a:t>
            </a:r>
          </a:p>
        </p:txBody>
      </p:sp>
    </p:spTree>
    <p:extLst>
      <p:ext uri="{BB962C8B-B14F-4D97-AF65-F5344CB8AC3E}">
        <p14:creationId xmlns:p14="http://schemas.microsoft.com/office/powerpoint/2010/main" val="6381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DBF82D1-64E9-4553-B3EC-836E6AF788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26912-6F9C-4531-B3AF-02FBEAA0247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C85DE-15CD-4458-9579-C43F3814F87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6BABABC3-85C0-4DAD-A2B3-A182BBD07B2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BF9100F-1940-4F6E-A62F-D0A8668FC12B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PIPELINE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4E9DE-F60A-4FB7-AB9D-1996BFDCAAE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Raw marketplace files now flow into a governed analytics warehouse.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ADA09-5795-465F-AAE5-572A345DDC7A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0E17E-FEDC-417F-9E55-DD9BCEF89F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Raw CSVs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4AD97-379C-41A5-A024-8FEE6C67D586}"/>
              </a:ext>
            </a:extLst>
          </p:cNvPr>
          <p:cNvSpPr>
            <a:spLocks noGrp="1"/>
          </p:cNvSpPr>
          <p:nvPr/>
        </p:nvSpPr>
        <p:spPr>
          <a:xfrm>
            <a:off x="952499" y="3028950"/>
            <a:ext cx="1438275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9 source files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orders, items, payments,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reviews, product, seller,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customer, geo,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D7BA3-B2AA-40DF-8400-1E7B75EBC819}"/>
              </a:ext>
            </a:extLst>
          </p:cNvPr>
          <p:cNvSpPr>
            <a:spLocks noGrp="1"/>
          </p:cNvSpPr>
          <p:nvPr/>
        </p:nvSpPr>
        <p:spPr>
          <a:xfrm>
            <a:off x="257175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D9CE9-99CF-4DCF-B7C7-8337E10D87E7}"/>
              </a:ext>
            </a:extLst>
          </p:cNvPr>
          <p:cNvSpPr>
            <a:spLocks noGrp="1"/>
          </p:cNvSpPr>
          <p:nvPr/>
        </p:nvSpPr>
        <p:spPr>
          <a:xfrm>
            <a:off x="30861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1A2FB-8086-4BA6-8BFD-78221E5EADEA}"/>
              </a:ext>
            </a:extLst>
          </p:cNvPr>
          <p:cNvSpPr>
            <a:spLocks noGrp="1"/>
          </p:cNvSpPr>
          <p:nvPr/>
        </p:nvSpPr>
        <p:spPr>
          <a:xfrm>
            <a:off x="314325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4FE01-9523-411A-B469-34E7E8011E24}"/>
              </a:ext>
            </a:extLst>
          </p:cNvPr>
          <p:cNvSpPr>
            <a:spLocks noGrp="1"/>
          </p:cNvSpPr>
          <p:nvPr/>
        </p:nvSpPr>
        <p:spPr>
          <a:xfrm>
            <a:off x="32956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DuckDB raw schema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8C104-C14A-4636-96EA-3BD432738C30}"/>
              </a:ext>
            </a:extLst>
          </p:cNvPr>
          <p:cNvSpPr>
            <a:spLocks noGrp="1"/>
          </p:cNvSpPr>
          <p:nvPr/>
        </p:nvSpPr>
        <p:spPr>
          <a:xfrm>
            <a:off x="33147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source-preserving load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auditability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56F1F-AE46-4761-8C4F-74020F54A614}"/>
              </a:ext>
            </a:extLst>
          </p:cNvPr>
          <p:cNvSpPr>
            <a:spLocks noGrp="1"/>
          </p:cNvSpPr>
          <p:nvPr/>
        </p:nvSpPr>
        <p:spPr>
          <a:xfrm>
            <a:off x="480060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5230F-CEB8-4426-9481-8BBE37B5A896}"/>
              </a:ext>
            </a:extLst>
          </p:cNvPr>
          <p:cNvSpPr>
            <a:spLocks noGrp="1"/>
          </p:cNvSpPr>
          <p:nvPr/>
        </p:nvSpPr>
        <p:spPr>
          <a:xfrm>
            <a:off x="531495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9E388-74FE-404D-B295-6AE908371ABC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8976B4-CAD2-4E85-8023-6F8EF4E0BC69}"/>
              </a:ext>
            </a:extLst>
          </p:cNvPr>
          <p:cNvSpPr>
            <a:spLocks noGrp="1"/>
          </p:cNvSpPr>
          <p:nvPr/>
        </p:nvSpPr>
        <p:spPr>
          <a:xfrm>
            <a:off x="54864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SQL transforms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8D540-40CE-4D08-8D0E-08F739BB28C2}"/>
              </a:ext>
            </a:extLst>
          </p:cNvPr>
          <p:cNvSpPr>
            <a:spLocks noGrp="1"/>
          </p:cNvSpPr>
          <p:nvPr/>
        </p:nvSpPr>
        <p:spPr>
          <a:xfrm>
            <a:off x="55054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star schema build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with transparent logic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D19B8-E9F0-4A1A-A984-D63A02640EA4}"/>
              </a:ext>
            </a:extLst>
          </p:cNvPr>
          <p:cNvSpPr>
            <a:spLocks noGrp="1"/>
          </p:cNvSpPr>
          <p:nvPr/>
        </p:nvSpPr>
        <p:spPr>
          <a:xfrm>
            <a:off x="699135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A04BEC-1177-4E7F-BA9F-AE8EEDEDDF54}"/>
              </a:ext>
            </a:extLst>
          </p:cNvPr>
          <p:cNvSpPr>
            <a:spLocks noGrp="1"/>
          </p:cNvSpPr>
          <p:nvPr/>
        </p:nvSpPr>
        <p:spPr>
          <a:xfrm>
            <a:off x="75057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BB087-CA80-4542-9DC3-3C8452F03A9D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524000" cy="1619250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3CE1D0-8D02-4952-A45C-74A56746C97B}"/>
              </a:ext>
            </a:extLst>
          </p:cNvPr>
          <p:cNvSpPr>
            <a:spLocks noGrp="1"/>
          </p:cNvSpPr>
          <p:nvPr/>
        </p:nvSpPr>
        <p:spPr>
          <a:xfrm>
            <a:off x="76771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8BCFB-D945-41EC-A0AF-79C5F5B5B46F}"/>
              </a:ext>
            </a:extLst>
          </p:cNvPr>
          <p:cNvSpPr>
            <a:spLocks noGrp="1"/>
          </p:cNvSpPr>
          <p:nvPr/>
        </p:nvSpPr>
        <p:spPr>
          <a:xfrm>
            <a:off x="76962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15 SQL validations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F8B123-087B-42A3-A1AB-9B686E5D3483}"/>
              </a:ext>
            </a:extLst>
          </p:cNvPr>
          <p:cNvSpPr>
            <a:spLocks noGrp="1"/>
          </p:cNvSpPr>
          <p:nvPr/>
        </p:nvSpPr>
        <p:spPr>
          <a:xfrm>
            <a:off x="918210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5A6D9-A9DB-4115-B258-7E0670FFFF61}"/>
              </a:ext>
            </a:extLst>
          </p:cNvPr>
          <p:cNvSpPr>
            <a:spLocks noGrp="1"/>
          </p:cNvSpPr>
          <p:nvPr/>
        </p:nvSpPr>
        <p:spPr>
          <a:xfrm>
            <a:off x="969645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2B2AD6-1C1D-45CB-B5A6-FFC8DC18D95E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A6158-B720-49EA-8AF6-46E35A5C1B8E}"/>
              </a:ext>
            </a:extLst>
          </p:cNvPr>
          <p:cNvSpPr>
            <a:spLocks noGrp="1"/>
          </p:cNvSpPr>
          <p:nvPr/>
        </p:nvSpPr>
        <p:spPr>
          <a:xfrm>
            <a:off x="98679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Analysis outputs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C8CEB-E2AE-4D32-A413-2CA871278FDE}"/>
              </a:ext>
            </a:extLst>
          </p:cNvPr>
          <p:cNvSpPr>
            <a:spLocks noGrp="1"/>
          </p:cNvSpPr>
          <p:nvPr/>
        </p:nvSpPr>
        <p:spPr>
          <a:xfrm>
            <a:off x="98869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notebook, report,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5A33F-BD7C-4675-8BC3-FD49183D83D6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Technical confidence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595534-8CD2-467F-BDDE-CD583DC7BB37}"/>
              </a:ext>
            </a:extLst>
          </p:cNvPr>
          <p:cNvSpPr>
            <a:spLocks noGrp="1"/>
          </p:cNvSpPr>
          <p:nvPr/>
        </p:nvSpPr>
        <p:spPr>
          <a:xfrm>
            <a:off x="2724150" y="4648200"/>
            <a:ext cx="7239000" cy="533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model separates ingestion from transformation and validation, so analysts can reproduce metrics without reinterpreting raw operational tables.</a:t>
            </a:r>
          </a:p>
        </p:txBody>
      </p:sp>
    </p:spTree>
    <p:extLst>
      <p:ext uri="{BB962C8B-B14F-4D97-AF65-F5344CB8AC3E}">
        <p14:creationId xmlns:p14="http://schemas.microsoft.com/office/powerpoint/2010/main" val="117534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FF5E8EE-0AD9-4E0C-8CE0-B2D019238C2A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52171-4768-4C5F-84E1-06F09F8570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8B575-6400-497D-939F-BE5F5411B22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96DFED8-11A1-4420-A92F-F3539CAD666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A7D526DB-15A8-427A-AEFB-232A80E68146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WAREHOUSE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B18A4-12C2-4AD9-9583-1A4789C3EEAD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10277475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star schema makes sales, geography, product, seller, and date questions joinable.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D3DDF-FBA2-43FE-AB83-A1713C42AEA9}"/>
              </a:ext>
            </a:extLst>
          </p:cNvPr>
          <p:cNvSpPr>
            <a:spLocks noGrp="1"/>
          </p:cNvSpPr>
          <p:nvPr/>
        </p:nvSpPr>
        <p:spPr>
          <a:xfrm>
            <a:off x="4686300" y="2867025"/>
            <a:ext cx="2667000" cy="13525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3C526-4CA1-4DC8-B930-DB8EEDBD6192}"/>
              </a:ext>
            </a:extLst>
          </p:cNvPr>
          <p:cNvSpPr>
            <a:spLocks noGrp="1"/>
          </p:cNvSpPr>
          <p:nvPr/>
        </p:nvSpPr>
        <p:spPr>
          <a:xfrm>
            <a:off x="5219700" y="3171825"/>
            <a:ext cx="1619250" cy="285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fact_sales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43CE5F-5E3C-43D0-860B-D6A8D46E747C}"/>
              </a:ext>
            </a:extLst>
          </p:cNvPr>
          <p:cNvSpPr>
            <a:spLocks noGrp="1"/>
          </p:cNvSpPr>
          <p:nvPr/>
        </p:nvSpPr>
        <p:spPr>
          <a:xfrm>
            <a:off x="5105400" y="3571875"/>
            <a:ext cx="18288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112,650 order-item rows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price, freight, payment,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review, delivery,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4CDA9-567D-4BDB-AC94-C22500147EF5}"/>
              </a:ext>
            </a:extLst>
          </p:cNvPr>
          <p:cNvSpPr>
            <a:spLocks noGrp="1"/>
          </p:cNvSpPr>
          <p:nvPr/>
        </p:nvSpPr>
        <p:spPr>
          <a:xfrm>
            <a:off x="1114425" y="204787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72986-2CF6-4A38-8B19-AC7D44505565}"/>
              </a:ext>
            </a:extLst>
          </p:cNvPr>
          <p:cNvSpPr>
            <a:spLocks noGrp="1"/>
          </p:cNvSpPr>
          <p:nvPr/>
        </p:nvSpPr>
        <p:spPr>
          <a:xfrm>
            <a:off x="134302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79B6C-271F-4FE3-A31D-2A22E5F300CD}"/>
              </a:ext>
            </a:extLst>
          </p:cNvPr>
          <p:cNvSpPr>
            <a:spLocks noGrp="1"/>
          </p:cNvSpPr>
          <p:nvPr/>
        </p:nvSpPr>
        <p:spPr>
          <a:xfrm>
            <a:off x="140017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99,441 customers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3B0FA-E9C9-438A-B8C1-52DFA4743FAC}"/>
              </a:ext>
            </a:extLst>
          </p:cNvPr>
          <p:cNvSpPr>
            <a:spLocks noGrp="1"/>
          </p:cNvSpPr>
          <p:nvPr/>
        </p:nvSpPr>
        <p:spPr>
          <a:xfrm>
            <a:off x="8715375" y="2057400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8CA48-61E0-4736-B5C1-ADCF638E3C93}"/>
              </a:ext>
            </a:extLst>
          </p:cNvPr>
          <p:cNvSpPr>
            <a:spLocks noGrp="1"/>
          </p:cNvSpPr>
          <p:nvPr/>
        </p:nvSpPr>
        <p:spPr>
          <a:xfrm>
            <a:off x="898207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dim_product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6F2D21-BF43-4C97-971A-33A4377FBD24}"/>
              </a:ext>
            </a:extLst>
          </p:cNvPr>
          <p:cNvSpPr>
            <a:spLocks noGrp="1"/>
          </p:cNvSpPr>
          <p:nvPr/>
        </p:nvSpPr>
        <p:spPr>
          <a:xfrm>
            <a:off x="903922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32,951 products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category + physicals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B730A-C8CA-4657-9C61-6EB7E25310BC}"/>
              </a:ext>
            </a:extLst>
          </p:cNvPr>
          <p:cNvSpPr>
            <a:spLocks noGrp="1"/>
          </p:cNvSpPr>
          <p:nvPr/>
        </p:nvSpPr>
        <p:spPr>
          <a:xfrm>
            <a:off x="111442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45D7E-9208-4FB1-ABEE-987D382F80EC}"/>
              </a:ext>
            </a:extLst>
          </p:cNvPr>
          <p:cNvSpPr>
            <a:spLocks noGrp="1"/>
          </p:cNvSpPr>
          <p:nvPr/>
        </p:nvSpPr>
        <p:spPr>
          <a:xfrm>
            <a:off x="134302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dim_seller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E51E8B-8C43-4F2D-8539-A786E3BBDDBA}"/>
              </a:ext>
            </a:extLst>
          </p:cNvPr>
          <p:cNvSpPr>
            <a:spLocks noGrp="1"/>
          </p:cNvSpPr>
          <p:nvPr/>
        </p:nvSpPr>
        <p:spPr>
          <a:xfrm>
            <a:off x="140017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3,095 sellers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9A97C-31B2-4D98-BD7A-67BCBFEBA7CA}"/>
              </a:ext>
            </a:extLst>
          </p:cNvPr>
          <p:cNvSpPr>
            <a:spLocks noGrp="1"/>
          </p:cNvSpPr>
          <p:nvPr/>
        </p:nvSpPr>
        <p:spPr>
          <a:xfrm>
            <a:off x="871537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EE555-6374-4335-8B60-E2F84AC02954}"/>
              </a:ext>
            </a:extLst>
          </p:cNvPr>
          <p:cNvSpPr>
            <a:spLocks noGrp="1"/>
          </p:cNvSpPr>
          <p:nvPr/>
        </p:nvSpPr>
        <p:spPr>
          <a:xfrm>
            <a:off x="898207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2B0864-A066-4BB4-9549-71E79451B495}"/>
              </a:ext>
            </a:extLst>
          </p:cNvPr>
          <p:cNvSpPr>
            <a:spLocks noGrp="1"/>
          </p:cNvSpPr>
          <p:nvPr/>
        </p:nvSpPr>
        <p:spPr>
          <a:xfrm>
            <a:off x="903922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711 dates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month/quarter/year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DCA83B-6389-4B50-86B5-E1CCA0F436DC}"/>
              </a:ext>
            </a:extLst>
          </p:cNvPr>
          <p:cNvSpPr>
            <a:spLocks noGrp="1"/>
          </p:cNvSpPr>
          <p:nvPr/>
        </p:nvSpPr>
        <p:spPr>
          <a:xfrm>
            <a:off x="4686300" y="4524375"/>
            <a:ext cx="2667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5C43"/>
                </a:solidFill>
                <a:latin typeface="Aptos"/>
                <a:ea typeface="Aptos"/>
                <a:cs typeface="Aptos"/>
              </a:rPr>
              <a:t>Grain: one row per order item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A13909-E1D1-B150-7C15-024260DF22A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248025" y="2600325"/>
            <a:ext cx="1447800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4988E7-33F5-3B03-1E3C-F297784AC8E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248025" y="3543300"/>
            <a:ext cx="1447800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BF8D0B-BF1B-BD91-BEB9-5F1965001705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7353300" y="2600325"/>
            <a:ext cx="1362075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4B6D66-6E80-2711-5D4E-0170D7942BAE}"/>
              </a:ext>
            </a:extLst>
          </p:cNvPr>
          <p:cNvCxnSpPr>
            <a:cxnSpLocks/>
            <a:stCxn id="22" idx="1"/>
            <a:endCxn id="7" idx="3"/>
          </p:cNvCxnSpPr>
          <p:nvPr/>
        </p:nvCxnSpPr>
        <p:spPr>
          <a:xfrm flipH="1" flipV="1">
            <a:off x="7353300" y="3543300"/>
            <a:ext cx="1362075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2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93DACE5-D3C4-4440-8876-828EDB33F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9B0D0-82B9-4D83-9B20-75A93F8173A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438218-2F6F-44B1-BF46-ACC932FDEAD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4E7C358-0150-4E0C-8A22-A14A30F31BC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D8A22871-C9B5-4A27-B129-76FE6D5C83CE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81E1E-EECC-40B6-93D2-0BD88ADD93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warehouse passed the checks that protect executive metrics from common data failures.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C08AB-FBEC-4E45-A70D-26ED93A1379F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68757-7360-450E-88FD-601BFEE43DC6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 passed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FB192-F58E-43B6-8E5D-EB8A7E8FB565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SQL tests executed after star-schema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98E66-5D1C-48DA-8380-60AA7F268B16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9A77B-0F8B-4309-B92D-BFAFAFFB4DC5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broken dimension joins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A98D6-771A-46F3-B2E7-DBCEA9D048FC}"/>
              </a:ext>
            </a:extLst>
          </p:cNvPr>
          <p:cNvSpPr>
            <a:spLocks noGrp="1"/>
          </p:cNvSpPr>
          <p:nvPr/>
        </p:nvSpPr>
        <p:spPr>
          <a:xfrm>
            <a:off x="35242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customer, product, seller referential integrity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4674C-AA82-4D44-8233-56E41506E17E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66D72-3AC7-4E12-AD18-5BBBAD4EBD1E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negative sales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A5F123-A228-443B-9B39-FEE6D5628EA8}"/>
              </a:ext>
            </a:extLst>
          </p:cNvPr>
          <p:cNvSpPr>
            <a:spLocks noGrp="1"/>
          </p:cNvSpPr>
          <p:nvPr/>
        </p:nvSpPr>
        <p:spPr>
          <a:xfrm>
            <a:off x="63055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non-negative and internally consistent amounts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B41EE6-CE79-426F-BEE3-23992C74F244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C24F06-1ECE-4892-9EFB-B438BA22B4D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6068E1-B739-4277-9434-1EFD74EB790A}"/>
              </a:ext>
            </a:extLst>
          </p:cNvPr>
          <p:cNvSpPr>
            <a:spLocks noGrp="1"/>
          </p:cNvSpPr>
          <p:nvPr/>
        </p:nvSpPr>
        <p:spPr>
          <a:xfrm>
            <a:off x="12573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Required keys present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9E3E8-B38D-40EC-AC23-A07BCD3F105F}"/>
              </a:ext>
            </a:extLst>
          </p:cNvPr>
          <p:cNvSpPr>
            <a:spLocks noGrp="1"/>
          </p:cNvSpPr>
          <p:nvPr/>
        </p:nvSpPr>
        <p:spPr>
          <a:xfrm>
            <a:off x="403860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CBC0C1-9158-4B01-8F57-6A85499D89B5}"/>
              </a:ext>
            </a:extLst>
          </p:cNvPr>
          <p:cNvSpPr>
            <a:spLocks noGrp="1"/>
          </p:cNvSpPr>
          <p:nvPr/>
        </p:nvSpPr>
        <p:spPr>
          <a:xfrm>
            <a:off x="403860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423733-BDE7-43B0-AB62-CDF66F0700EC}"/>
              </a:ext>
            </a:extLst>
          </p:cNvPr>
          <p:cNvSpPr>
            <a:spLocks noGrp="1"/>
          </p:cNvSpPr>
          <p:nvPr/>
        </p:nvSpPr>
        <p:spPr>
          <a:xfrm>
            <a:off x="440055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 duplicate fact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1260EF-572B-46F4-A072-89684FAB4EA7}"/>
              </a:ext>
            </a:extLst>
          </p:cNvPr>
          <p:cNvSpPr>
            <a:spLocks noGrp="1"/>
          </p:cNvSpPr>
          <p:nvPr/>
        </p:nvSpPr>
        <p:spPr>
          <a:xfrm>
            <a:off x="71818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0C364D-8811-412A-ACCD-E78B642E5224}"/>
              </a:ext>
            </a:extLst>
          </p:cNvPr>
          <p:cNvSpPr>
            <a:spLocks noGrp="1"/>
          </p:cNvSpPr>
          <p:nvPr/>
        </p:nvSpPr>
        <p:spPr>
          <a:xfrm>
            <a:off x="71818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F7E58-56BD-48C6-8168-4E526BA77C9F}"/>
              </a:ext>
            </a:extLst>
          </p:cNvPr>
          <p:cNvSpPr>
            <a:spLocks noGrp="1"/>
          </p:cNvSpPr>
          <p:nvPr/>
        </p:nvSpPr>
        <p:spPr>
          <a:xfrm>
            <a:off x="75438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Unique dimension keys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EB00C8-0D02-450A-A022-EFCEEE7D60B0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00A76B-FEB5-401A-BE1E-CCFFD573EB1F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DEA89F-475A-41CD-9F36-8066E85ED268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order statuses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DC1DC9-7EE2-4660-BD6F-4392E1F66232}"/>
              </a:ext>
            </a:extLst>
          </p:cNvPr>
          <p:cNvSpPr>
            <a:spLocks noGrp="1"/>
          </p:cNvSpPr>
          <p:nvPr/>
        </p:nvSpPr>
        <p:spPr>
          <a:xfrm>
            <a:off x="403860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A5025-884F-4DAE-9EF9-0944722D85DD}"/>
              </a:ext>
            </a:extLst>
          </p:cNvPr>
          <p:cNvSpPr>
            <a:spLocks noGrp="1"/>
          </p:cNvSpPr>
          <p:nvPr/>
        </p:nvSpPr>
        <p:spPr>
          <a:xfrm>
            <a:off x="403860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11C4DE-09B5-4450-A550-7D88734A34CE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review scores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96EC6-A356-4338-8507-2E21C95C366B}"/>
              </a:ext>
            </a:extLst>
          </p:cNvPr>
          <p:cNvSpPr>
            <a:spLocks noGrp="1"/>
          </p:cNvSpPr>
          <p:nvPr/>
        </p:nvSpPr>
        <p:spPr>
          <a:xfrm>
            <a:off x="71818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D3C6A6-D38B-4B11-9C5E-68D445589184}"/>
              </a:ext>
            </a:extLst>
          </p:cNvPr>
          <p:cNvSpPr>
            <a:spLocks noGrp="1"/>
          </p:cNvSpPr>
          <p:nvPr/>
        </p:nvSpPr>
        <p:spPr>
          <a:xfrm>
            <a:off x="71818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C03D7-DF3C-4FC0-BC8B-4B28F89274BE}"/>
              </a:ext>
            </a:extLst>
          </p:cNvPr>
          <p:cNvSpPr>
            <a:spLocks noGrp="1"/>
          </p:cNvSpPr>
          <p:nvPr/>
        </p:nvSpPr>
        <p:spPr>
          <a:xfrm>
            <a:off x="75438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Sales amount = price + freight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696897-0BAF-45B1-BA0E-FFFD80722FBF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8191500" cy="3238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Specialist note: payment metrics are best read from the raw payment table or an order-level fact to avoid multi-item double counting.</a:t>
            </a:r>
          </a:p>
        </p:txBody>
      </p:sp>
    </p:spTree>
    <p:extLst>
      <p:ext uri="{BB962C8B-B14F-4D97-AF65-F5344CB8AC3E}">
        <p14:creationId xmlns:p14="http://schemas.microsoft.com/office/powerpoint/2010/main" val="2052835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0689A5F-12A3-45C2-B8AC-E4625CE21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AE7A0-CFBD-4E52-8B21-4FCA5BBB639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BD40E-BA8C-4D80-B2F5-DECC0A06F72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167B7B-B356-47BC-9D7B-203A11E3993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D34B0EC-3BAF-46D0-A5E2-08E825251C78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SALES TRAJECTORY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98571-1338-4031-B4E0-FC3AA9C2C45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Revenue scaled rapidly into 2018 after a November 2017 peak.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9C997-C3F8-44E2-BA38-D082710D269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742950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5577C-8A16-477A-A25C-860B5C415C8B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7429500" cy="9525"/>
          </a:xfrm>
          <a:prstGeom prst="rect">
            <a:avLst/>
          </a:prstGeom>
          <a:solidFill>
            <a:srgbClr val="E4DED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544FCA-A90C-4626-8E72-643EEEA1541B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5D84D-C7BB-4B3E-B1C2-B7D6D953B565}"/>
              </a:ext>
            </a:extLst>
          </p:cNvPr>
          <p:cNvSpPr>
            <a:spLocks noGrp="1"/>
          </p:cNvSpPr>
          <p:nvPr/>
        </p:nvSpPr>
        <p:spPr>
          <a:xfrm>
            <a:off x="1226741" y="4643187"/>
            <a:ext cx="245666" cy="119313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E61F5-5024-4910-BB4D-53B62E946A0D}"/>
              </a:ext>
            </a:extLst>
          </p:cNvPr>
          <p:cNvSpPr>
            <a:spLocks noGrp="1"/>
          </p:cNvSpPr>
          <p:nvPr/>
        </p:nvSpPr>
        <p:spPr>
          <a:xfrm>
            <a:off x="1539081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0F1A3-DCEC-4DB7-82A1-C38EF44470E2}"/>
              </a:ext>
            </a:extLst>
          </p:cNvPr>
          <p:cNvSpPr>
            <a:spLocks noGrp="1"/>
          </p:cNvSpPr>
          <p:nvPr/>
        </p:nvSpPr>
        <p:spPr>
          <a:xfrm>
            <a:off x="1851422" y="4474369"/>
            <a:ext cx="245666" cy="28813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78A4E-610D-4D2B-801B-A8B8A05D814E}"/>
              </a:ext>
            </a:extLst>
          </p:cNvPr>
          <p:cNvSpPr>
            <a:spLocks noGrp="1"/>
          </p:cNvSpPr>
          <p:nvPr/>
        </p:nvSpPr>
        <p:spPr>
          <a:xfrm>
            <a:off x="2163763" y="4161238"/>
            <a:ext cx="245666" cy="60126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DB59A-1B1E-4FD7-AEDD-190FC36E933B}"/>
              </a:ext>
            </a:extLst>
          </p:cNvPr>
          <p:cNvSpPr>
            <a:spLocks noGrp="1"/>
          </p:cNvSpPr>
          <p:nvPr/>
        </p:nvSpPr>
        <p:spPr>
          <a:xfrm>
            <a:off x="2476103" y="3855089"/>
            <a:ext cx="245666" cy="90741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2F56C-E606-4FF4-A112-5EA2A38CABFE}"/>
              </a:ext>
            </a:extLst>
          </p:cNvPr>
          <p:cNvSpPr>
            <a:spLocks noGrp="1"/>
          </p:cNvSpPr>
          <p:nvPr/>
        </p:nvSpPr>
        <p:spPr>
          <a:xfrm>
            <a:off x="2788444" y="3896309"/>
            <a:ext cx="245666" cy="86619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73A73-331D-4A96-A63C-DBFB3317DD96}"/>
              </a:ext>
            </a:extLst>
          </p:cNvPr>
          <p:cNvSpPr>
            <a:spLocks noGrp="1"/>
          </p:cNvSpPr>
          <p:nvPr/>
        </p:nvSpPr>
        <p:spPr>
          <a:xfrm>
            <a:off x="3100784" y="3531351"/>
            <a:ext cx="245666" cy="123114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962680-9E8C-4106-9A3F-8B7AE6C0BA92}"/>
              </a:ext>
            </a:extLst>
          </p:cNvPr>
          <p:cNvSpPr>
            <a:spLocks noGrp="1"/>
          </p:cNvSpPr>
          <p:nvPr/>
        </p:nvSpPr>
        <p:spPr>
          <a:xfrm>
            <a:off x="3413125" y="3706150"/>
            <a:ext cx="245666" cy="1056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A90A40-1B49-461A-8DCA-BFD20C875A10}"/>
              </a:ext>
            </a:extLst>
          </p:cNvPr>
          <p:cNvSpPr>
            <a:spLocks noGrp="1"/>
          </p:cNvSpPr>
          <p:nvPr/>
        </p:nvSpPr>
        <p:spPr>
          <a:xfrm>
            <a:off x="3725466" y="3533912"/>
            <a:ext cx="245666" cy="122858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E40A46-05F1-4D2F-8B79-C1BD698FBD77}"/>
              </a:ext>
            </a:extLst>
          </p:cNvPr>
          <p:cNvSpPr>
            <a:spLocks noGrp="1"/>
          </p:cNvSpPr>
          <p:nvPr/>
        </p:nvSpPr>
        <p:spPr>
          <a:xfrm>
            <a:off x="4037806" y="3359101"/>
            <a:ext cx="245666" cy="140339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D9B47C-4EA2-4800-A2BF-A6CB1725858D}"/>
              </a:ext>
            </a:extLst>
          </p:cNvPr>
          <p:cNvSpPr>
            <a:spLocks noGrp="1"/>
          </p:cNvSpPr>
          <p:nvPr/>
        </p:nvSpPr>
        <p:spPr>
          <a:xfrm>
            <a:off x="4350147" y="3249480"/>
            <a:ext cx="245666" cy="151302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FB60D-28B4-410D-9852-12D467FF1725}"/>
              </a:ext>
            </a:extLst>
          </p:cNvPr>
          <p:cNvSpPr>
            <a:spLocks noGrp="1"/>
          </p:cNvSpPr>
          <p:nvPr/>
        </p:nvSpPr>
        <p:spPr>
          <a:xfrm>
            <a:off x="4662488" y="3146750"/>
            <a:ext cx="245666" cy="16157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B113A7-EE21-4563-A9DA-E37A2C7EA24F}"/>
              </a:ext>
            </a:extLst>
          </p:cNvPr>
          <p:cNvSpPr>
            <a:spLocks noGrp="1"/>
          </p:cNvSpPr>
          <p:nvPr/>
        </p:nvSpPr>
        <p:spPr>
          <a:xfrm>
            <a:off x="4974828" y="2286000"/>
            <a:ext cx="245666" cy="24765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53D914-7B57-4F4F-AF2E-6257422078CC}"/>
              </a:ext>
            </a:extLst>
          </p:cNvPr>
          <p:cNvSpPr>
            <a:spLocks noGrp="1"/>
          </p:cNvSpPr>
          <p:nvPr/>
        </p:nvSpPr>
        <p:spPr>
          <a:xfrm>
            <a:off x="5287169" y="2948833"/>
            <a:ext cx="245666" cy="181366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60138C-33B5-49C7-B874-9CED0E0A5CF0}"/>
              </a:ext>
            </a:extLst>
          </p:cNvPr>
          <p:cNvSpPr>
            <a:spLocks noGrp="1"/>
          </p:cNvSpPr>
          <p:nvPr/>
        </p:nvSpPr>
        <p:spPr>
          <a:xfrm>
            <a:off x="5599509" y="2436886"/>
            <a:ext cx="245666" cy="232561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31742-764E-4432-B25C-370EB5C11C71}"/>
              </a:ext>
            </a:extLst>
          </p:cNvPr>
          <p:cNvSpPr>
            <a:spLocks noGrp="1"/>
          </p:cNvSpPr>
          <p:nvPr/>
        </p:nvSpPr>
        <p:spPr>
          <a:xfrm>
            <a:off x="5911850" y="2689742"/>
            <a:ext cx="245666" cy="20727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43D4F-8083-42B8-8AD7-69B74009D05D}"/>
              </a:ext>
            </a:extLst>
          </p:cNvPr>
          <p:cNvSpPr>
            <a:spLocks noGrp="1"/>
          </p:cNvSpPr>
          <p:nvPr/>
        </p:nvSpPr>
        <p:spPr>
          <a:xfrm>
            <a:off x="6224191" y="2336442"/>
            <a:ext cx="245666" cy="24260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3EA208-8EA6-44E9-954E-A0311D1BC728}"/>
              </a:ext>
            </a:extLst>
          </p:cNvPr>
          <p:cNvSpPr>
            <a:spLocks noGrp="1"/>
          </p:cNvSpPr>
          <p:nvPr/>
        </p:nvSpPr>
        <p:spPr>
          <a:xfrm>
            <a:off x="6536531" y="2326841"/>
            <a:ext cx="245666" cy="243565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B5D2E2-C427-4BEB-9935-CB76F7D6D330}"/>
              </a:ext>
            </a:extLst>
          </p:cNvPr>
          <p:cNvSpPr>
            <a:spLocks noGrp="1"/>
          </p:cNvSpPr>
          <p:nvPr/>
        </p:nvSpPr>
        <p:spPr>
          <a:xfrm>
            <a:off x="6848872" y="2347668"/>
            <a:ext cx="245666" cy="241483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DFA8B-FB6D-46D0-8C68-EAEE3D550855}"/>
              </a:ext>
            </a:extLst>
          </p:cNvPr>
          <p:cNvSpPr>
            <a:spLocks noGrp="1"/>
          </p:cNvSpPr>
          <p:nvPr/>
        </p:nvSpPr>
        <p:spPr>
          <a:xfrm>
            <a:off x="7161213" y="2614620"/>
            <a:ext cx="245666" cy="214788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42E8DC-D75E-4F8C-807E-77090FB1972B}"/>
              </a:ext>
            </a:extLst>
          </p:cNvPr>
          <p:cNvSpPr>
            <a:spLocks noGrp="1"/>
          </p:cNvSpPr>
          <p:nvPr/>
        </p:nvSpPr>
        <p:spPr>
          <a:xfrm>
            <a:off x="7473553" y="2538903"/>
            <a:ext cx="245666" cy="222359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8BF919-1749-4029-862C-B25B71B125EA}"/>
              </a:ext>
            </a:extLst>
          </p:cNvPr>
          <p:cNvSpPr>
            <a:spLocks noGrp="1"/>
          </p:cNvSpPr>
          <p:nvPr/>
        </p:nvSpPr>
        <p:spPr>
          <a:xfrm>
            <a:off x="7785894" y="2655299"/>
            <a:ext cx="245666" cy="210720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7A553-5FCF-46E5-8B04-BA05610BBD27}"/>
              </a:ext>
            </a:extLst>
          </p:cNvPr>
          <p:cNvSpPr>
            <a:spLocks noGrp="1"/>
          </p:cNvSpPr>
          <p:nvPr/>
        </p:nvSpPr>
        <p:spPr>
          <a:xfrm>
            <a:off x="8098234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ADAF0-13E4-450B-96A0-57A68D2A6397}"/>
              </a:ext>
            </a:extLst>
          </p:cNvPr>
          <p:cNvSpPr>
            <a:spLocks noGrp="1"/>
          </p:cNvSpPr>
          <p:nvPr/>
        </p:nvSpPr>
        <p:spPr>
          <a:xfrm>
            <a:off x="914400" y="4895850"/>
            <a:ext cx="8572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C2AE4D-C02C-4AE9-BC17-2D7AD1BE312B}"/>
              </a:ext>
            </a:extLst>
          </p:cNvPr>
          <p:cNvSpPr>
            <a:spLocks noGrp="1"/>
          </p:cNvSpPr>
          <p:nvPr/>
        </p:nvSpPr>
        <p:spPr>
          <a:xfrm>
            <a:off x="7010400" y="24574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75C43"/>
                </a:solidFill>
                <a:latin typeface="Aptos"/>
                <a:ea typeface="Aptos"/>
                <a:cs typeface="Aptos"/>
              </a:rPr>
              <a:t>Nov 2017 peak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6E6ABD-45D7-4651-B62E-3AEE4AA79C78}"/>
              </a:ext>
            </a:extLst>
          </p:cNvPr>
          <p:cNvSpPr>
            <a:spLocks noGrp="1"/>
          </p:cNvSpPr>
          <p:nvPr/>
        </p:nvSpPr>
        <p:spPr>
          <a:xfrm>
            <a:off x="7581900" y="4895850"/>
            <a:ext cx="7620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6BC43B-71CD-4151-98B6-4E99E42AEE44}"/>
              </a:ext>
            </a:extLst>
          </p:cNvPr>
          <p:cNvSpPr>
            <a:spLocks noGrp="1"/>
          </p:cNvSpPr>
          <p:nvPr/>
        </p:nvSpPr>
        <p:spPr>
          <a:xfrm>
            <a:off x="8858250" y="2324100"/>
            <a:ext cx="19050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1.18M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F51B37-552D-4498-8AFC-A06928A477DC}"/>
              </a:ext>
            </a:extLst>
          </p:cNvPr>
          <p:cNvSpPr>
            <a:spLocks noGrp="1"/>
          </p:cNvSpPr>
          <p:nvPr/>
        </p:nvSpPr>
        <p:spPr>
          <a:xfrm>
            <a:off x="8858250" y="2762250"/>
            <a:ext cx="1905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peak month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1919B9-DB21-49EC-80C6-C99103833185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1905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gross item sales in Nov 2017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F63084-5D5A-4D9F-B116-BCB43799893F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1.00M+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D932A6-0C18-499D-B003-93F59298CDDD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late-run scale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7A39C0-0AEC-4517-A24D-C06F83729163}"/>
              </a:ext>
            </a:extLst>
          </p:cNvPr>
          <p:cNvSpPr>
            <a:spLocks noGrp="1"/>
          </p:cNvSpPr>
          <p:nvPr/>
        </p:nvSpPr>
        <p:spPr>
          <a:xfrm>
            <a:off x="8858250" y="419100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monthly sales around 1M from Jan-Aug 2018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B4DD89-310E-4D9B-9014-E91E7EAE9C99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Executive read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D93498-A98E-4273-9B88-4882D5E29D40}"/>
              </a:ext>
            </a:extLst>
          </p:cNvPr>
          <p:cNvSpPr>
            <a:spLocks noGrp="1"/>
          </p:cNvSpPr>
          <p:nvPr/>
        </p:nvSpPr>
        <p:spPr>
          <a:xfrm>
            <a:off x="2381250" y="5162550"/>
            <a:ext cx="68580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revenue curve supports an operating cadence: track category mix, delivery speed, and state expansion monthly rather than treating the dataset as a one-off analysis.</a:t>
            </a:r>
          </a:p>
        </p:txBody>
      </p:sp>
    </p:spTree>
    <p:extLst>
      <p:ext uri="{BB962C8B-B14F-4D97-AF65-F5344CB8AC3E}">
        <p14:creationId xmlns:p14="http://schemas.microsoft.com/office/powerpoint/2010/main" val="134830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5BD09C6-2B04-44B9-AC16-5FBAC8BEF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B8AF1-BC3D-48A5-BCE3-FABF69D09DA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A8A5E-7F0C-4644-8E0E-BCBFA94CE08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D2934402-577B-4FE1-8018-35494D50B51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BDD3567D-62DD-4D35-AD11-BFDA13893BC4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FOCUS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E88C2-F271-476B-9D4F-3D566FEE2EA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Five categories anchor marketplace revenue and deserve active commercial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7DFA4-1127-4234-BF14-F91C125C1902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health_beauty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CE17B-AC8C-4607-8BD2-799BCAD20A3C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D89715-639D-4F57-BB35-1811DE59AB07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393532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9FED74-07CF-498A-A7B6-D2967C1D5527}"/>
              </a:ext>
            </a:extLst>
          </p:cNvPr>
          <p:cNvSpPr>
            <a:spLocks noGrp="1"/>
          </p:cNvSpPr>
          <p:nvPr/>
        </p:nvSpPr>
        <p:spPr>
          <a:xfrm>
            <a:off x="6838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1.44M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4A063-3B0B-4A14-AD5D-F830CCA21BE4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watches_gifts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9F919-1B51-4D95-A09F-BC0558F2B93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3C995-173E-4FEE-9CF6-B7549675219B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356478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DE505-3B94-4436-B15F-4612932C4A7E}"/>
              </a:ext>
            </a:extLst>
          </p:cNvPr>
          <p:cNvSpPr>
            <a:spLocks noGrp="1"/>
          </p:cNvSpPr>
          <p:nvPr/>
        </p:nvSpPr>
        <p:spPr>
          <a:xfrm>
            <a:off x="6838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1.31M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D4B01-0A6F-4D65-8D55-90B433B8FFFA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bed_bath_table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0DE6E7-94F7-4F59-AA01-DE3E0E676F96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D073C-9A8F-4B95-A9CF-65700529C013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390412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902F6-2CA2-40C5-925B-BE78C8A69D1F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1.24M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ADCD32-BC64-475F-8F8A-E175D560552A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sports_leisure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17E1B8-4960-483B-8F12-6700BCB197DC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D791DB-8883-4CC0-B4AB-0C19767F76E2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15825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C15090-CCA6-4EB5-A858-EAF87716E6C5}"/>
              </a:ext>
            </a:extLst>
          </p:cNvPr>
          <p:cNvSpPr>
            <a:spLocks noGrp="1"/>
          </p:cNvSpPr>
          <p:nvPr/>
        </p:nvSpPr>
        <p:spPr>
          <a:xfrm>
            <a:off x="6838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1.16M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642E8B-95CB-46BF-8AA6-9E05B1FB27C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computers_accessories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5C8BFD-4831-47E9-B13B-26DD7C7675E6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3CB93-1E3C-4202-9260-3E6552B1C72D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2892343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BAE825-64A4-493A-B204-A6AE0450B414}"/>
              </a:ext>
            </a:extLst>
          </p:cNvPr>
          <p:cNvSpPr>
            <a:spLocks noGrp="1"/>
          </p:cNvSpPr>
          <p:nvPr/>
        </p:nvSpPr>
        <p:spPr>
          <a:xfrm>
            <a:off x="6838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1.06M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D355E1-C729-4BB6-93EB-287872EE44E4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furniture_decor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D7DE77-0CCD-4D95-9416-5F3F87E4C36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BC1B8C-8F23-49BE-9E59-34E73EE1F02B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246430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7D0807-4D0B-475A-81A6-9B3445025B45}"/>
              </a:ext>
            </a:extLst>
          </p:cNvPr>
          <p:cNvSpPr>
            <a:spLocks noGrp="1"/>
          </p:cNvSpPr>
          <p:nvPr/>
        </p:nvSpPr>
        <p:spPr>
          <a:xfrm>
            <a:off x="6838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2E96A2-E7FE-4EE5-B815-040CBC48B3CA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housewares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542428-6CCD-48E4-B58C-17F2B045A9C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FC4985-A677-4D79-AEF8-4BB6332ED574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2125415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AB4F7E-54F1-45F0-B360-A703503A4895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510090-A879-48FC-B856-C35638AF91AA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cool_stuff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A60607-0B36-4AF6-8F63-E120652C809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D111D7-0B45-4FEC-879B-C6E47746D1A1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196413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84D209-FC88-414E-88E5-65A1CDF3EAD1}"/>
              </a:ext>
            </a:extLst>
          </p:cNvPr>
          <p:cNvSpPr>
            <a:spLocks noGrp="1"/>
          </p:cNvSpPr>
          <p:nvPr/>
        </p:nvSpPr>
        <p:spPr>
          <a:xfrm>
            <a:off x="6838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0.7M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910E0-BFD9-4EF7-83DC-AE49B5CFD253}"/>
              </a:ext>
            </a:extLst>
          </p:cNvPr>
          <p:cNvSpPr>
            <a:spLocks noGrp="1"/>
          </p:cNvSpPr>
          <p:nvPr/>
        </p:nvSpPr>
        <p:spPr>
          <a:xfrm>
            <a:off x="8334375" y="2095499"/>
            <a:ext cx="2381250" cy="2824163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33D30B-E52B-4250-A0F7-015806FC5C7E}"/>
              </a:ext>
            </a:extLst>
          </p:cNvPr>
          <p:cNvSpPr>
            <a:spLocks noGrp="1"/>
          </p:cNvSpPr>
          <p:nvPr/>
        </p:nvSpPr>
        <p:spPr>
          <a:xfrm>
            <a:off x="8648700" y="2419350"/>
            <a:ext cx="1762125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75C43"/>
                </a:solidFill>
                <a:latin typeface="Aptos"/>
                <a:ea typeface="Aptos"/>
                <a:cs typeface="Aptos"/>
              </a:rPr>
              <a:t>What to do with this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8C33F7-AE53-4B42-B71C-D989C346B95A}"/>
              </a:ext>
            </a:extLst>
          </p:cNvPr>
          <p:cNvSpPr>
            <a:spLocks noGrp="1"/>
          </p:cNvSpPr>
          <p:nvPr/>
        </p:nvSpPr>
        <p:spPr>
          <a:xfrm>
            <a:off x="8648700" y="2876550"/>
            <a:ext cx="171450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 top categories as seller-enablement priorities: assortment depth, fulfillment readiness, stock monitoring, and review follow-up.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53F20-05FE-4A38-A46C-E8BCE2168693}"/>
              </a:ext>
            </a:extLst>
          </p:cNvPr>
          <p:cNvSpPr>
            <a:spLocks noGrp="1"/>
          </p:cNvSpPr>
          <p:nvPr/>
        </p:nvSpPr>
        <p:spPr>
          <a:xfrm>
            <a:off x="8648700" y="4286250"/>
            <a:ext cx="16954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Quality signal: leading categories maintain review averages near or above 4.0.</a:t>
            </a:r>
          </a:p>
        </p:txBody>
      </p:sp>
    </p:spTree>
    <p:extLst>
      <p:ext uri="{BB962C8B-B14F-4D97-AF65-F5344CB8AC3E}">
        <p14:creationId xmlns:p14="http://schemas.microsoft.com/office/powerpoint/2010/main" val="79735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735D534-F9F1-472F-927E-9FE51073D2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B1A5C-AABA-40ED-AF24-84EFF72D9FB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E3018-39EF-4647-A598-1443FEA78C7B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F4C257C-B9F8-4143-B98A-DE8BD29323F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131DF3C5-260B-469D-A079-1666D391F0DD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REGIONAL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4E57D-2309-430E-B064-ABC9AA376D2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Sao Paulo is the demand engine and the practical delivery benchmark.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AA5E5-70A7-4BB3-BAF8-15AF4D7EBE24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5E6E6-42D4-4209-99D7-D769B8D26B6B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979B4-996D-442E-8F4F-E5A8FF285C4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18312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3A615-895B-43F1-A35A-373F81A145C6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DD32-C895-466E-8526-70056B0FE0F0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RJ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D4B4D-D0DD-463A-8888-B6FC2BE1307C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1FA8D4-17B4-484A-A092-2ED1B5FA2315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1589009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E4ED6-8881-4FFE-9800-2E1275B1E7CF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2.13M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439A13-48B7-4021-9CBE-CB329F0D5576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80BC8-16B6-40DE-878B-9AD7F8392F6B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F7192-29F1-45DC-B85F-F8DC1F7D6738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138492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9AF83-8AAA-438F-9CB0-126CF23A4DDC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1.86M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FBB009-3E46-497E-8991-E006FE69DA3E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DDC988-A5F0-4B70-B2E3-074117B8EC0F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E1449-0BF8-4FC6-B8F8-BC2F4ECC2D77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660937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961128-DBBB-40A1-8A30-8C90BBDCE164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5C603-D846-4799-ABFB-40A13F25D6E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6A0BDA-FB1C-4EF6-AB77-A804637B424E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79ECD5-E358-47A6-9E5D-01680F95663C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59759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47DE4-F78B-471C-BFF9-E2418FB0456E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1FF9D8-8345-4E54-B336-60FFEDEE419A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CE2EDD-1019-4F52-A9AE-27AB4AFA1E5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64B0E7-28F2-47D2-8B1F-FE0CCBDF5A91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56260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633D35-735F-4720-8F47-178E2811B44A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16EAD-9D91-451A-A7F5-19C311EE2839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E6D07-1EF6-4532-BCBC-97A1909F421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95FCBB-787F-4A1F-ABB8-80CECB1D9956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55296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27074F-848F-48BC-B21E-07EC3324446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7B8437-49BA-4FFA-9A9B-D39FF186E97E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C4D469-1C01-4ADB-9A09-1B2C568DBB6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DA526-E24F-4C76-B9F0-9A687A858EA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263553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61C4A7-5D1C-4CEC-9E95-9B977CCAC5F6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0.4M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0EB42-2241-4ADB-8F94-7842FDAFCCF9}"/>
              </a:ext>
            </a:extLst>
          </p:cNvPr>
          <p:cNvSpPr>
            <a:spLocks noGrp="1"/>
          </p:cNvSpPr>
          <p:nvPr/>
        </p:nvSpPr>
        <p:spPr>
          <a:xfrm>
            <a:off x="8763000" y="20764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BB4D91-7A65-446D-A809-EB101C51C599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gross sales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1305EA-44D2-439F-8ECF-6EF46329BB56}"/>
              </a:ext>
            </a:extLst>
          </p:cNvPr>
          <p:cNvSpPr>
            <a:spLocks noGrp="1"/>
          </p:cNvSpPr>
          <p:nvPr/>
        </p:nvSpPr>
        <p:spPr>
          <a:xfrm>
            <a:off x="8763000" y="27432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largest state by revenue and orders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F7484-C644-41C9-885D-7803A68358FC}"/>
              </a:ext>
            </a:extLst>
          </p:cNvPr>
          <p:cNvSpPr>
            <a:spLocks noGrp="1"/>
          </p:cNvSpPr>
          <p:nvPr/>
        </p:nvSpPr>
        <p:spPr>
          <a:xfrm>
            <a:off x="8763000" y="323850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8.7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868D8D-9750-4184-A390-8A0D30531B0C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delivery days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E763DB-DD76-4964-BEA9-18166759B000}"/>
              </a:ext>
            </a:extLst>
          </p:cNvPr>
          <p:cNvSpPr>
            <a:spLocks noGrp="1"/>
          </p:cNvSpPr>
          <p:nvPr/>
        </p:nvSpPr>
        <p:spPr>
          <a:xfrm>
            <a:off x="8763000" y="390525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faster than other large states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7483D3-D7E5-46CC-B9EC-FF75F4076491}"/>
              </a:ext>
            </a:extLst>
          </p:cNvPr>
          <p:cNvSpPr>
            <a:spLocks noGrp="1"/>
          </p:cNvSpPr>
          <p:nvPr/>
        </p:nvSpPr>
        <p:spPr>
          <a:xfrm>
            <a:off x="8763000" y="44005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71F62C-A0A6-4D0C-A673-60878BD7D0F4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BA delivery days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FEBA65-5B2D-44E6-A6CD-45B36DDE9457}"/>
              </a:ext>
            </a:extLst>
          </p:cNvPr>
          <p:cNvSpPr>
            <a:spLocks noGrp="1"/>
          </p:cNvSpPr>
          <p:nvPr/>
        </p:nvSpPr>
        <p:spPr>
          <a:xfrm>
            <a:off x="8763000" y="50673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example of demand with slower fulfillment</a:t>
            </a:r>
          </a:p>
        </p:txBody>
      </p:sp>
    </p:spTree>
    <p:extLst>
      <p:ext uri="{BB962C8B-B14F-4D97-AF65-F5344CB8AC3E}">
        <p14:creationId xmlns:p14="http://schemas.microsoft.com/office/powerpoint/2010/main" val="65758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93CF00B-82D2-407C-AAF9-D3725DC29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E07FA-A6A9-41DA-B676-78A4903DEAF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8C95B-8FF1-4AB3-B990-D1B59145A1AE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FFA304-C3A9-49F0-9A63-6228F74CF3C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4413572-2444-4FA6-AD40-EF81845E2E8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FULFILLMENT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A5E701-D463-4697-8F1C-69997A38FC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slowest regions turn logistics into the main constraint on national growth.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AD308-7C52-42E0-A6D7-D43CC279B79E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1A531-01AC-4236-BEAB-740F288C34B8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24427-A03D-4AB9-AE34-CBECDA0BC95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367318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B08BA-F575-4D31-AEED-06E5A861A08A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26.3 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7C216-F529-4097-B7F0-F79D7F7C5B7C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E6CBC6-0712-4815-A998-388FAF9A5D74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568CA-7FCF-41F0-905C-631184EF731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53946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F4CCEE-605D-4B32-90AD-B43F0E3443C9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24.4 days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86B2D-3E2B-41B0-B10C-8E4F78E70A7C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8E4A19-DC81-46C4-A924-6AABAB954849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68842-ED4E-4EC5-A6AE-4BAE75BE501C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92959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DD429A-EB0E-4F50-BA16-26F67E479019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23.7 days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EC112-D4C4-45CF-88AE-29458D4AE6C9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79F191-430C-4D63-A6EF-B18858EC50B0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431A8-4B74-452C-813A-A84BEF07E7FA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57974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55EA83-6FE8-45BB-8482-C23051FA18D6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21.6 days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FAF5D4-2684-4B79-AC50-E46D2B65A8A9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FCFB3-E101-4B81-A87F-B66E32EEEB84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D8A92A-5F5A-4FA2-8D00-284AD4D586D3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3551555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A63A8-AD14-49E0-B1F8-0F1AFF1EAC05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21.4 days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036859-0CCA-4334-8538-66B40975175C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9354AD-3875-44C8-B0EB-08D41D1A6B6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030C96-7537-4CDE-A5E7-3183B8B13E5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346865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226DDE-7451-461F-BEAE-E3547B3021D3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20.9 days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9EA348-1BE4-4258-B1BB-9AA6600A91D7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008981-3BAC-4F11-B046-EC6F3023E1F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9F7C56-3351-4B2E-B401-87AF2A9B610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3407304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CB2638-5177-4616-A8B0-52AF4DEE8E5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20.6 days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821202-C7D8-4AE0-9959-3D31620CC0BC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681AE0-BC79-4F0C-858A-63A5191406D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68FB2A-FD4F-47E3-B664-6BA4FEEF3166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3259737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D3EA23-E93B-4AAF-8F86-A6B5A498B70C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19.7 days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B92C6-9406-404F-968C-69B667C6CAC7}"/>
              </a:ext>
            </a:extLst>
          </p:cNvPr>
          <p:cNvSpPr>
            <a:spLocks noGrp="1"/>
          </p:cNvSpPr>
          <p:nvPr/>
        </p:nvSpPr>
        <p:spPr>
          <a:xfrm>
            <a:off x="8553450" y="2324100"/>
            <a:ext cx="2190750" cy="21907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45314-4F78-4293-9E63-304ED76DDA86}"/>
              </a:ext>
            </a:extLst>
          </p:cNvPr>
          <p:cNvSpPr>
            <a:spLocks noGrp="1"/>
          </p:cNvSpPr>
          <p:nvPr/>
        </p:nvSpPr>
        <p:spPr>
          <a:xfrm>
            <a:off x="8858250" y="2667000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implication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4CE736-FDA0-4B75-AE3C-0DA46152316A}"/>
              </a:ext>
            </a:extLst>
          </p:cNvPr>
          <p:cNvSpPr>
            <a:spLocks noGrp="1"/>
          </p:cNvSpPr>
          <p:nvPr/>
        </p:nvSpPr>
        <p:spPr>
          <a:xfrm>
            <a:off x="8858250" y="3124200"/>
            <a:ext cx="1600200" cy="1066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 carrier paths, seller location mix, and estimated-date accuracy before adding demand.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06435-625A-4553-8C10-7BCE6410C9BF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52387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Delivered orders only; states shown have at least 100 orders.</a:t>
            </a:r>
          </a:p>
        </p:txBody>
      </p:sp>
    </p:spTree>
    <p:extLst>
      <p:ext uri="{BB962C8B-B14F-4D97-AF65-F5344CB8AC3E}">
        <p14:creationId xmlns:p14="http://schemas.microsoft.com/office/powerpoint/2010/main" val="149029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72EBE19-561C-404E-BE83-EC2C013993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7FD8A-F090-4690-AB72-C208D451081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958C8-E380-4F7A-B46D-C6F765F6B936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A617A2B-F861-4146-B37A-00937397321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16BBAD7-C705-43DE-80DE-E0E7224972A0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PAYMENT BEHAVIOR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59E0B-1D73-4CF7-AEAB-9EB63FF18D2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Credit card is the default checkout path, while boleto remains material.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0A4E8-B968-4FAB-A977-A6CB45074428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5149002" cy="8191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E4547-8FB8-49FD-B5E5-17A795D3909F}"/>
              </a:ext>
            </a:extLst>
          </p:cNvPr>
          <p:cNvSpPr>
            <a:spLocks noGrp="1"/>
          </p:cNvSpPr>
          <p:nvPr/>
        </p:nvSpPr>
        <p:spPr>
          <a:xfrm>
            <a:off x="1219200" y="2933700"/>
            <a:ext cx="495850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80C6B8-13A7-42F3-B19E-51EB7A54A0E9}"/>
              </a:ext>
            </a:extLst>
          </p:cNvPr>
          <p:cNvSpPr>
            <a:spLocks noGrp="1"/>
          </p:cNvSpPr>
          <p:nvPr/>
        </p:nvSpPr>
        <p:spPr>
          <a:xfrm>
            <a:off x="6253902" y="2686050"/>
            <a:ext cx="1177982" cy="8191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04AD3-2410-4378-B6B0-F877BC915D21}"/>
              </a:ext>
            </a:extLst>
          </p:cNvPr>
          <p:cNvSpPr>
            <a:spLocks noGrp="1"/>
          </p:cNvSpPr>
          <p:nvPr/>
        </p:nvSpPr>
        <p:spPr>
          <a:xfrm>
            <a:off x="6368202" y="2933700"/>
            <a:ext cx="98748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368FF-50FB-4E5D-8B73-11D455084FFB}"/>
              </a:ext>
            </a:extLst>
          </p:cNvPr>
          <p:cNvSpPr>
            <a:spLocks noGrp="1"/>
          </p:cNvSpPr>
          <p:nvPr/>
        </p:nvSpPr>
        <p:spPr>
          <a:xfrm>
            <a:off x="7431884" y="2686050"/>
            <a:ext cx="155773" cy="8191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5A6AE-84CC-4EDE-9E5B-671A7C857D21}"/>
              </a:ext>
            </a:extLst>
          </p:cNvPr>
          <p:cNvSpPr>
            <a:spLocks noGrp="1"/>
          </p:cNvSpPr>
          <p:nvPr/>
        </p:nvSpPr>
        <p:spPr>
          <a:xfrm>
            <a:off x="7546184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80CB7-5C8A-462A-9C0E-76582265D9AF}"/>
              </a:ext>
            </a:extLst>
          </p:cNvPr>
          <p:cNvSpPr>
            <a:spLocks noGrp="1"/>
          </p:cNvSpPr>
          <p:nvPr/>
        </p:nvSpPr>
        <p:spPr>
          <a:xfrm>
            <a:off x="7587657" y="2686050"/>
            <a:ext cx="89493" cy="8191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D0F1E-D931-4DEC-B6D1-DC223653D86D}"/>
              </a:ext>
            </a:extLst>
          </p:cNvPr>
          <p:cNvSpPr>
            <a:spLocks noGrp="1"/>
          </p:cNvSpPr>
          <p:nvPr/>
        </p:nvSpPr>
        <p:spPr>
          <a:xfrm>
            <a:off x="7701957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29B8A-A0B7-4CE6-A3E1-239411A51B6F}"/>
              </a:ext>
            </a:extLst>
          </p:cNvPr>
          <p:cNvSpPr>
            <a:spLocks noGrp="1"/>
          </p:cNvSpPr>
          <p:nvPr/>
        </p:nvSpPr>
        <p:spPr>
          <a:xfrm>
            <a:off x="1181100" y="4076700"/>
            <a:ext cx="133350" cy="133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619063-BC0D-4B3D-95CF-6077670F7AC0}"/>
              </a:ext>
            </a:extLst>
          </p:cNvPr>
          <p:cNvSpPr>
            <a:spLocks noGrp="1"/>
          </p:cNvSpPr>
          <p:nvPr/>
        </p:nvSpPr>
        <p:spPr>
          <a:xfrm>
            <a:off x="1447800" y="40386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credit_card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84BEE5-1867-4EDC-9BF2-8A980BD1DBE1}"/>
              </a:ext>
            </a:extLst>
          </p:cNvPr>
          <p:cNvSpPr>
            <a:spLocks noGrp="1"/>
          </p:cNvSpPr>
          <p:nvPr/>
        </p:nvSpPr>
        <p:spPr>
          <a:xfrm>
            <a:off x="3257550" y="40386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12.54M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F07BB-C528-4CCD-9D24-C0C98FDF4DE4}"/>
              </a:ext>
            </a:extLst>
          </p:cNvPr>
          <p:cNvSpPr>
            <a:spLocks noGrp="1"/>
          </p:cNvSpPr>
          <p:nvPr/>
        </p:nvSpPr>
        <p:spPr>
          <a:xfrm>
            <a:off x="4591050" y="40386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76,505 orders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33DC34-92A7-4CEE-8914-7CE1E2C96E1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33350" cy="1333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6872D2-6C4F-4FC2-9279-7EC107D550E6}"/>
              </a:ext>
            </a:extLst>
          </p:cNvPr>
          <p:cNvSpPr>
            <a:spLocks noGrp="1"/>
          </p:cNvSpPr>
          <p:nvPr/>
        </p:nvSpPr>
        <p:spPr>
          <a:xfrm>
            <a:off x="1447800" y="4438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boleto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0AA96-6BF0-4414-9282-72C4160DA758}"/>
              </a:ext>
            </a:extLst>
          </p:cNvPr>
          <p:cNvSpPr>
            <a:spLocks noGrp="1"/>
          </p:cNvSpPr>
          <p:nvPr/>
        </p:nvSpPr>
        <p:spPr>
          <a:xfrm>
            <a:off x="3257550" y="44386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2.87M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1807DD-69BA-4A4B-8304-605996EA8A1A}"/>
              </a:ext>
            </a:extLst>
          </p:cNvPr>
          <p:cNvSpPr>
            <a:spLocks noGrp="1"/>
          </p:cNvSpPr>
          <p:nvPr/>
        </p:nvSpPr>
        <p:spPr>
          <a:xfrm>
            <a:off x="4591050" y="44386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19,784 orders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0DF7D9-F6F9-4B9A-B51E-736477FF3C09}"/>
              </a:ext>
            </a:extLst>
          </p:cNvPr>
          <p:cNvSpPr>
            <a:spLocks noGrp="1"/>
          </p:cNvSpPr>
          <p:nvPr/>
        </p:nvSpPr>
        <p:spPr>
          <a:xfrm>
            <a:off x="1181100" y="4876800"/>
            <a:ext cx="133350" cy="1333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012165-E2D3-493D-92A8-242E7FE3F17A}"/>
              </a:ext>
            </a:extLst>
          </p:cNvPr>
          <p:cNvSpPr>
            <a:spLocks noGrp="1"/>
          </p:cNvSpPr>
          <p:nvPr/>
        </p:nvSpPr>
        <p:spPr>
          <a:xfrm>
            <a:off x="1447800" y="48387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voucher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05C0D-5BA3-4661-8F14-293AEA309FA4}"/>
              </a:ext>
            </a:extLst>
          </p:cNvPr>
          <p:cNvSpPr>
            <a:spLocks noGrp="1"/>
          </p:cNvSpPr>
          <p:nvPr/>
        </p:nvSpPr>
        <p:spPr>
          <a:xfrm>
            <a:off x="3257550" y="4838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0.4M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1FC659-6E25-4579-BD33-623B60F415B1}"/>
              </a:ext>
            </a:extLst>
          </p:cNvPr>
          <p:cNvSpPr>
            <a:spLocks noGrp="1"/>
          </p:cNvSpPr>
          <p:nvPr/>
        </p:nvSpPr>
        <p:spPr>
          <a:xfrm>
            <a:off x="4591050" y="4838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3,866 orders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0FC50-2ECD-423E-B0DD-150511ACED61}"/>
              </a:ext>
            </a:extLst>
          </p:cNvPr>
          <p:cNvSpPr>
            <a:spLocks noGrp="1"/>
          </p:cNvSpPr>
          <p:nvPr/>
        </p:nvSpPr>
        <p:spPr>
          <a:xfrm>
            <a:off x="1181100" y="5276850"/>
            <a:ext cx="133350" cy="1333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49DAE4-0CF9-4854-B643-958AEDD44744}"/>
              </a:ext>
            </a:extLst>
          </p:cNvPr>
          <p:cNvSpPr>
            <a:spLocks noGrp="1"/>
          </p:cNvSpPr>
          <p:nvPr/>
        </p:nvSpPr>
        <p:spPr>
          <a:xfrm>
            <a:off x="1447800" y="52387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debit_card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8BB83-3ADB-477A-A25A-0E164BB642DA}"/>
              </a:ext>
            </a:extLst>
          </p:cNvPr>
          <p:cNvSpPr>
            <a:spLocks noGrp="1"/>
          </p:cNvSpPr>
          <p:nvPr/>
        </p:nvSpPr>
        <p:spPr>
          <a:xfrm>
            <a:off x="3257550" y="52387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0.2M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601DEC-908B-42A9-976C-8F242A8F4012}"/>
              </a:ext>
            </a:extLst>
          </p:cNvPr>
          <p:cNvSpPr>
            <a:spLocks noGrp="1"/>
          </p:cNvSpPr>
          <p:nvPr/>
        </p:nvSpPr>
        <p:spPr>
          <a:xfrm>
            <a:off x="4591050" y="52387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1,528 orders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E65196-24A1-481B-A675-EFA0BDFA339A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Specialist 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7BC328-17A8-42DC-812F-F3FA4BF31C02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133600" cy="971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Uses the raw payments table so multi-item orders do not overstate payment value.</a:t>
            </a:r>
          </a:p>
        </p:txBody>
      </p:sp>
    </p:spTree>
    <p:extLst>
      <p:ext uri="{BB962C8B-B14F-4D97-AF65-F5344CB8AC3E}">
        <p14:creationId xmlns:p14="http://schemas.microsoft.com/office/powerpoint/2010/main" val="1124012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E944293-DA94-4048-A538-337555C627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69D06-34FD-4DD0-A67D-E92CC4BF7B0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A810E-24DB-4B00-8BD7-66A9B015B21C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111305E-0573-4D5D-B6A7-F18F9E3E9A5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73D7C0F1-ABB1-41FA-9971-C550A26C2D6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1B31F-0CD1-4763-B534-3B30F890E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next phase should operationalize the warehouse into recurring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01AF2-32C7-4917-92C6-760E07293CB9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02A7A-9599-4783-BBBE-28EB1A3F8CBC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A3BFA-2ACF-436E-A758-402DB9F72732}"/>
              </a:ext>
            </a:extLst>
          </p:cNvPr>
          <p:cNvSpPr>
            <a:spLocks noGrp="1"/>
          </p:cNvSpPr>
          <p:nvPr/>
        </p:nvSpPr>
        <p:spPr>
          <a:xfrm>
            <a:off x="11620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Stabilize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F3191-1CFA-494F-81BD-DF1AB672BE22}"/>
              </a:ext>
            </a:extLst>
          </p:cNvPr>
          <p:cNvSpPr>
            <a:spLocks noGrp="1"/>
          </p:cNvSpPr>
          <p:nvPr/>
        </p:nvSpPr>
        <p:spPr>
          <a:xfrm>
            <a:off x="11620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Lock delivered-only and all-status KPI definitions; create an order-level payment fact.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56A23-1E14-4B78-A3FF-42FAC68A6789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51B02-6451-4721-9D69-01DB89C6C5D6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9FD05-322B-45AE-83DB-9B79AF7FEDDF}"/>
              </a:ext>
            </a:extLst>
          </p:cNvPr>
          <p:cNvSpPr>
            <a:spLocks noGrp="1"/>
          </p:cNvSpPr>
          <p:nvPr/>
        </p:nvSpPr>
        <p:spPr>
          <a:xfrm>
            <a:off x="37338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1D6F5C-2E07-4D6C-AFFC-1AB41C9D4B4A}"/>
              </a:ext>
            </a:extLst>
          </p:cNvPr>
          <p:cNvSpPr>
            <a:spLocks noGrp="1"/>
          </p:cNvSpPr>
          <p:nvPr/>
        </p:nvSpPr>
        <p:spPr>
          <a:xfrm>
            <a:off x="37338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Automate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D5A856-3439-46DC-94F2-E8942A57B3C7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Schedule ingestion, transformations, and quality checks with visible failure reporting.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8433-0E4F-418A-B614-8FFA59891495}"/>
              </a:ext>
            </a:extLst>
          </p:cNvPr>
          <p:cNvSpPr>
            <a:spLocks noGrp="1"/>
          </p:cNvSpPr>
          <p:nvPr/>
        </p:nvSpPr>
        <p:spPr>
          <a:xfrm>
            <a:off x="560070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857EE-C792-4777-8F19-09672BF3944E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3A589-B371-4CCF-A7AF-721C69DF172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6F990-BC87-473A-9FEB-C29E7A3C8305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Add BI layer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224C9-A287-4BDA-BDD4-019296CA7D54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Publish dashboard pages for sales, category, geography, delivery, and reviews.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BE4B70-62A1-4B4F-AB28-F812EEF98A1E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C9CB49-ED1B-4EE1-AAFE-9FD2BB6A14F1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62EB5E-037D-4D85-995F-F13CAE450D4C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71584-8859-4536-B786-477A148794C1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decisions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3DFBDA-080B-4FC0-8971-E33BC5BBA0DF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Tie category investment and regional logistics work to monthly performance reviews.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2AEE43-156A-481E-8281-BA653FF7A5A6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8B9C8-5272-479C-9245-EC33D519E40F}"/>
              </a:ext>
            </a:extLst>
          </p:cNvPr>
          <p:cNvSpPr>
            <a:spLocks noGrp="1"/>
          </p:cNvSpPr>
          <p:nvPr/>
        </p:nvSpPr>
        <p:spPr>
          <a:xfrm>
            <a:off x="2038350" y="5162550"/>
            <a:ext cx="6858000" cy="4572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Move from a successful assignment pipeline to a decision system that teams can trust repeatedly.</a:t>
            </a:r>
          </a:p>
        </p:txBody>
      </p:sp>
    </p:spTree>
    <p:extLst>
      <p:ext uri="{BB962C8B-B14F-4D97-AF65-F5344CB8AC3E}">
        <p14:creationId xmlns:p14="http://schemas.microsoft.com/office/powerpoint/2010/main" val="176884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0CB231-25A6-4564-9D31-D428D463D5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C6FD9-A400-4180-9CBE-0D6147B5D3A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CDBCA-3297-4B7A-9122-1F094293141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191500" cy="12382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Olist warehouse turns raw marketplace activity into a shared business operating 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52FED-DC8F-4DD4-8E7D-A8CBCA5ECBB8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7239000" cy="571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Decision makers can see where to invest. Data specialists can see how the metrics were built, checked, and can be repeated.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B9911-4BFB-4E75-985A-5051E38D51FA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1E1FE-28C4-4C92-AE3B-65C6FBCCFA25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98.7K orders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1ED42-1A2B-4249-B09D-B0B969DC675E}"/>
              </a:ext>
            </a:extLst>
          </p:cNvPr>
          <p:cNvSpPr>
            <a:spLocks noGrp="1"/>
          </p:cNvSpPr>
          <p:nvPr/>
        </p:nvSpPr>
        <p:spPr>
          <a:xfrm>
            <a:off x="81915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large enough for operational patterns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47124-167C-4861-93B3-00BAF8513D3E}"/>
              </a:ext>
            </a:extLst>
          </p:cNvPr>
          <p:cNvSpPr>
            <a:spLocks noGrp="1"/>
          </p:cNvSpPr>
          <p:nvPr/>
        </p:nvSpPr>
        <p:spPr>
          <a:xfrm>
            <a:off x="308610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26765-C2F8-4722-A3B5-24A67079FEED}"/>
              </a:ext>
            </a:extLst>
          </p:cNvPr>
          <p:cNvSpPr>
            <a:spLocks noGrp="1"/>
          </p:cNvSpPr>
          <p:nvPr/>
        </p:nvSpPr>
        <p:spPr>
          <a:xfrm>
            <a:off x="308610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15 checks passed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EB3BD-566B-4125-B9C9-E152526822AF}"/>
              </a:ext>
            </a:extLst>
          </p:cNvPr>
          <p:cNvSpPr>
            <a:spLocks noGrp="1"/>
          </p:cNvSpPr>
          <p:nvPr/>
        </p:nvSpPr>
        <p:spPr>
          <a:xfrm>
            <a:off x="308610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quality gates built into the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DF121-8C2C-40BC-A3F1-3DFE4CDB04E8}"/>
              </a:ext>
            </a:extLst>
          </p:cNvPr>
          <p:cNvSpPr>
            <a:spLocks noGrp="1"/>
          </p:cNvSpPr>
          <p:nvPr/>
        </p:nvSpPr>
        <p:spPr>
          <a:xfrm>
            <a:off x="5448300" y="43815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F9964-2053-420F-B8F5-EC8B24FC0659}"/>
              </a:ext>
            </a:extLst>
          </p:cNvPr>
          <p:cNvSpPr>
            <a:spLocks noGrp="1"/>
          </p:cNvSpPr>
          <p:nvPr/>
        </p:nvSpPr>
        <p:spPr>
          <a:xfrm>
            <a:off x="5448300" y="48196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delivery + category focus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10238-4B2B-4438-921B-9DEF0DB6A939}"/>
              </a:ext>
            </a:extLst>
          </p:cNvPr>
          <p:cNvSpPr>
            <a:spLocks noGrp="1"/>
          </p:cNvSpPr>
          <p:nvPr/>
        </p:nvSpPr>
        <p:spPr>
          <a:xfrm>
            <a:off x="5448300" y="50482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clear levers for next iteration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95CD8-C89D-4418-A833-7B2CD657F94C}"/>
              </a:ext>
            </a:extLst>
          </p:cNvPr>
          <p:cNvSpPr>
            <a:spLocks noGrp="1"/>
          </p:cNvSpPr>
          <p:nvPr/>
        </p:nvSpPr>
        <p:spPr>
          <a:xfrm>
            <a:off x="9620250" y="5219700"/>
            <a:ext cx="1238250" cy="4381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30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57F59-B059-46BE-ACCF-8D04177A2B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00843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1164</Words>
  <Application>Microsoft Office PowerPoint</Application>
  <DocSecurity>0</DocSecurity>
  <PresentationFormat>Widescreen</PresentationFormat>
  <Paragraphs>254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Teofilo Santiago IV</cp:lastModifiedBy>
  <cp:revision>2</cp:revision>
  <dcterms:created xsi:type="dcterms:W3CDTF">2026-06-01T07:47:16Z</dcterms:created>
  <dcterms:modified xsi:type="dcterms:W3CDTF">2026-06-01T12:30:38Z</dcterms:modified>
</cp:coreProperties>
</file>