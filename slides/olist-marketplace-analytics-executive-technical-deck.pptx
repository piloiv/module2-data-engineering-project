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0920b3b68b4524" /><Relationship Type="http://schemas.openxmlformats.org/officeDocument/2006/relationships/extended-properties" Target="/docProps/app.xml" Id="Rc08533729e0b4b9b" /><Relationship Type="http://schemas.openxmlformats.org/officeDocument/2006/relationships/officeDocument" Target="/ppt/presentation.xml" Id="R3869163a8cdd4f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8c2a41db024d7f"/>
  </p:sldMasterIdLst>
  <p:notesMasterIdLst>
    <p:notesMasterId xmlns:r="http://schemas.openxmlformats.org/officeDocument/2006/relationships" r:id="R04391e23a86f4150"/>
  </p:notesMasterIdLst>
  <p:sldIdLst>
    <p:sldId xmlns:r="http://schemas.openxmlformats.org/officeDocument/2006/relationships" id="256" r:id="Rf664213fbd274bb2"/>
    <p:sldId xmlns:r="http://schemas.openxmlformats.org/officeDocument/2006/relationships" id="257" r:id="Rc718b7d15e204705"/>
    <p:sldId xmlns:r="http://schemas.openxmlformats.org/officeDocument/2006/relationships" id="258" r:id="R54a053a32b53431d"/>
    <p:sldId xmlns:r="http://schemas.openxmlformats.org/officeDocument/2006/relationships" id="259" r:id="R3b1f70304f034286"/>
    <p:sldId xmlns:r="http://schemas.openxmlformats.org/officeDocument/2006/relationships" id="260" r:id="R0575505a87c34980"/>
    <p:sldId xmlns:r="http://schemas.openxmlformats.org/officeDocument/2006/relationships" id="261" r:id="Rdc4a371a86d441ab"/>
    <p:sldId xmlns:r="http://schemas.openxmlformats.org/officeDocument/2006/relationships" id="262" r:id="R162768bd7da24ce8"/>
    <p:sldId xmlns:r="http://schemas.openxmlformats.org/officeDocument/2006/relationships" id="263" r:id="Raee83568ee0e4c2f"/>
    <p:sldId xmlns:r="http://schemas.openxmlformats.org/officeDocument/2006/relationships" id="264" r:id="Rc14e01e2466247de"/>
    <p:sldId xmlns:r="http://schemas.openxmlformats.org/officeDocument/2006/relationships" id="265" r:id="R8208f95b8a2542f0"/>
    <p:sldId xmlns:r="http://schemas.openxmlformats.org/officeDocument/2006/relationships" id="266" r:id="R26a3cd59b5cc48b1"/>
    <p:sldId xmlns:r="http://schemas.openxmlformats.org/officeDocument/2006/relationships" id="267" r:id="R8ec95a67172d4e2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c2a41db024d7f" /><Relationship Type="http://schemas.openxmlformats.org/officeDocument/2006/relationships/theme" Target="/ppt/theme/theme1.xml" Id="R61543a8f62604d01" /><Relationship Type="http://schemas.openxmlformats.org/officeDocument/2006/relationships/notesMaster" Target="/ppt/notesMasters/notesMaster1.xml" Id="R04391e23a86f4150" /><Relationship Type="http://schemas.openxmlformats.org/officeDocument/2006/relationships/presProps" Target="/ppt/presProps.xml" Id="R0893ca8924d841e2" /><Relationship Type="http://schemas.openxmlformats.org/officeDocument/2006/relationships/viewProps" Target="/ppt/viewProps.xml" Id="R396d90ccc64d411e" /><Relationship Type="http://schemas.openxmlformats.org/officeDocument/2006/relationships/tableStyles" Target="/ppt/tableStyles.xml" Id="Rc7a2dbca77b744e0" /><Relationship Type="http://schemas.openxmlformats.org/officeDocument/2006/relationships/slide" Target="/ppt/slides/slide1.xml" Id="Rf664213fbd274bb2" /><Relationship Type="http://schemas.openxmlformats.org/officeDocument/2006/relationships/slide" Target="/ppt/slides/slide2.xml" Id="Rc718b7d15e204705" /><Relationship Type="http://schemas.openxmlformats.org/officeDocument/2006/relationships/slide" Target="/ppt/slides/slide3.xml" Id="R54a053a32b53431d" /><Relationship Type="http://schemas.openxmlformats.org/officeDocument/2006/relationships/slide" Target="/ppt/slides/slide4.xml" Id="R3b1f70304f034286" /><Relationship Type="http://schemas.openxmlformats.org/officeDocument/2006/relationships/slide" Target="/ppt/slides/slide5.xml" Id="R0575505a87c34980" /><Relationship Type="http://schemas.openxmlformats.org/officeDocument/2006/relationships/slide" Target="/ppt/slides/slide6.xml" Id="Rdc4a371a86d441ab" /><Relationship Type="http://schemas.openxmlformats.org/officeDocument/2006/relationships/slide" Target="/ppt/slides/slide7.xml" Id="R162768bd7da24ce8" /><Relationship Type="http://schemas.openxmlformats.org/officeDocument/2006/relationships/slide" Target="/ppt/slides/slide8.xml" Id="Raee83568ee0e4c2f" /><Relationship Type="http://schemas.openxmlformats.org/officeDocument/2006/relationships/slide" Target="/ppt/slides/slide9.xml" Id="Rc14e01e2466247de" /><Relationship Type="http://schemas.openxmlformats.org/officeDocument/2006/relationships/slide" Target="/ppt/slides/slide10.xml" Id="R8208f95b8a2542f0" /><Relationship Type="http://schemas.openxmlformats.org/officeDocument/2006/relationships/slide" Target="/ppt/slides/slide11.xml" Id="R26a3cd59b5cc48b1" /><Relationship Type="http://schemas.openxmlformats.org/officeDocument/2006/relationships/slide" Target="/ppt/slides/slide12.xml" Id="R8ec95a67172d4e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61a0ca4c0af41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774eb557f44afc" /><Relationship Type="http://schemas.openxmlformats.org/officeDocument/2006/relationships/notesMaster" Target="/ppt/notesMasters/notesMaster1.xml" Id="R8926be91c8f44c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c1c57b8f2f448a" /><Relationship Type="http://schemas.openxmlformats.org/officeDocument/2006/relationships/notesMaster" Target="/ppt/notesMasters/notesMaster1.xml" Id="Rc0d354f450ec4d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40cc3575e24583" /><Relationship Type="http://schemas.openxmlformats.org/officeDocument/2006/relationships/notesMaster" Target="/ppt/notesMasters/notesMaster1.xml" Id="Rba85dca845b84e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30683dd6cb488f" /><Relationship Type="http://schemas.openxmlformats.org/officeDocument/2006/relationships/notesMaster" Target="/ppt/notesMasters/notesMaster1.xml" Id="R65e73ca2ea4246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9bc06175714a86" /><Relationship Type="http://schemas.openxmlformats.org/officeDocument/2006/relationships/notesMaster" Target="/ppt/notesMasters/notesMaster1.xml" Id="R358f62a302fc41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c0e48c6ed1421c" /><Relationship Type="http://schemas.openxmlformats.org/officeDocument/2006/relationships/notesMaster" Target="/ppt/notesMasters/notesMaster1.xml" Id="R034c4082aef343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4796ee51cf4ac4" /><Relationship Type="http://schemas.openxmlformats.org/officeDocument/2006/relationships/notesMaster" Target="/ppt/notesMasters/notesMaster1.xml" Id="R04ead7a5db0e40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401288a01a4b2a" /><Relationship Type="http://schemas.openxmlformats.org/officeDocument/2006/relationships/notesMaster" Target="/ppt/notesMasters/notesMaster1.xml" Id="R818acba98fe648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096a76135a409b" /><Relationship Type="http://schemas.openxmlformats.org/officeDocument/2006/relationships/notesMaster" Target="/ppt/notesMasters/notesMaster1.xml" Id="R57520642505d4c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6dd9e445a74ec0" /><Relationship Type="http://schemas.openxmlformats.org/officeDocument/2006/relationships/notesMaster" Target="/ppt/notesMasters/notesMaster1.xml" Id="Ra7d6f1064d0e4b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bdb518256f41ed" /><Relationship Type="http://schemas.openxmlformats.org/officeDocument/2006/relationships/notesMaster" Target="/ppt/notesMasters/notesMaster1.xml" Id="R4c604fabdd5e4a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aa67bdeb5547a2" /><Relationship Type="http://schemas.openxmlformats.org/officeDocument/2006/relationships/notesMaster" Target="/ppt/notesMasters/notesMaster1.xml" Id="Rde5295e79d1c4b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d8e94a2e0d4fe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112cc1bcdb74532" /><Relationship Type="http://schemas.openxmlformats.org/officeDocument/2006/relationships/slideLayout" Target="/ppt/slideLayouts/slideLayout2.xml" Id="R287057c8ea034b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7057c8ea034b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693b1a02a74af5" /><Relationship Type="http://schemas.openxmlformats.org/officeDocument/2006/relationships/notesSlide" Target="/ppt/notesSlides/notesSlide1.xml" Id="R244d6fd6b50c40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a301a5c8614515" /><Relationship Type="http://schemas.openxmlformats.org/officeDocument/2006/relationships/notesSlide" Target="/ppt/notesSlides/notesSlide2.xml" Id="Rc7c9c0cada264c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e0b032f9544639" /><Relationship Type="http://schemas.openxmlformats.org/officeDocument/2006/relationships/notesSlide" Target="/ppt/notesSlides/notesSlide3.xml" Id="R24df66d3668348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e5b22419e94b50" /><Relationship Type="http://schemas.openxmlformats.org/officeDocument/2006/relationships/notesSlide" Target="/ppt/notesSlides/notesSlide4.xml" Id="R8467068947f14e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be0e1e5d83484d" /><Relationship Type="http://schemas.openxmlformats.org/officeDocument/2006/relationships/notesSlide" Target="/ppt/notesSlides/notesSlide5.xml" Id="Rbcfdf1b5afc045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a8d30ad3ee49cb" /><Relationship Type="http://schemas.openxmlformats.org/officeDocument/2006/relationships/notesSlide" Target="/ppt/notesSlides/notesSlide6.xml" Id="R58859d779ac944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db099a216e4a24" /><Relationship Type="http://schemas.openxmlformats.org/officeDocument/2006/relationships/notesSlide" Target="/ppt/notesSlides/notesSlide7.xml" Id="R28c220120f3a47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4f2b32ab4145f4" /><Relationship Type="http://schemas.openxmlformats.org/officeDocument/2006/relationships/notesSlide" Target="/ppt/notesSlides/notesSlide8.xml" Id="Rcdb9c9b6913445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640f14917a46cc" /><Relationship Type="http://schemas.openxmlformats.org/officeDocument/2006/relationships/notesSlide" Target="/ppt/notesSlides/notesSlide9.xml" Id="Rcdfbb0e2915944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5b92a2cde14483" /><Relationship Type="http://schemas.openxmlformats.org/officeDocument/2006/relationships/notesSlide" Target="/ppt/notesSlides/notesSlide10.xml" Id="R982dadce7c6640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c51fb10ace4f23" /><Relationship Type="http://schemas.openxmlformats.org/officeDocument/2006/relationships/notesSlide" Target="/ppt/notesSlides/notesSlide11.xml" Id="R59572295187a4b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2b9bf61ce54182" /><Relationship Type="http://schemas.openxmlformats.org/officeDocument/2006/relationships/notesSlide" Target="/ppt/notesSlides/notesSlide12.xml" Id="Rf5235c48b37d473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229427-5F1B-4A02-9928-A1FC4D40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BFFBD-88A9-47A3-9B2B-46CD3982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5334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OLIST MARKETPLACE ANALYTICS WAREHOUSE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8CC071-0822-410E-9FBD-BCC64C2A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7905750" cy="142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validated marketplace data pipeline reveals where growth is strong and where fulfillment limits scale.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F21F1-746D-4B36-A1F3-76C397EB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64770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4E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4E8"/>
                </a:solidFill>
                <a:latin typeface="Aptos"/>
                <a:ea typeface="Aptos"/>
                <a:cs typeface="Aptos"/>
              </a:rPr>
              <a:t>Decision makers get a focused commercial story; data specialists get a transparent warehouse, lineage, and quality trail.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73D88-28AD-44AA-BAB4-D2BC1591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1809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98.7K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BFEE4-7992-4374-AF05-E85825DD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FD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FD0E6"/>
                </a:solidFill>
                <a:latin typeface="Aptos"/>
                <a:ea typeface="Aptos"/>
                <a:cs typeface="Aptos"/>
              </a:rPr>
              <a:t>orders with items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40DC0-CC5E-48F4-84F3-1739EEA1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1809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7C7C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7CE"/>
                </a:solidFill>
                <a:latin typeface="Aptos"/>
                <a:ea typeface="Aptos"/>
                <a:cs typeface="Aptos"/>
              </a:rPr>
              <a:t>transaction base modeled at order-item grain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ABA32-50C4-43A1-A28F-A3A91304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171950"/>
            <a:ext cx="1809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15.84M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9A285-3123-4016-8586-02FD41AE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1010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FD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FD0E6"/>
                </a:solidFill>
                <a:latin typeface="Aptos"/>
                <a:ea typeface="Aptos"/>
                <a:cs typeface="Aptos"/>
              </a:rPr>
              <a:t>gross item sales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E7B70-CD54-413B-A8BB-17135D06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838700"/>
            <a:ext cx="1809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7C7C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7CE"/>
                </a:solidFill>
                <a:latin typeface="Aptos"/>
                <a:ea typeface="Aptos"/>
                <a:cs typeface="Aptos"/>
              </a:rPr>
              <a:t>price plus freight across fact_sales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E617C7-1A6D-46A3-829D-487C7AA2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171950"/>
            <a:ext cx="1809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4.03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5E501-B949-4EA5-B0DD-092B8A19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1010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FD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FD0E6"/>
                </a:solidFill>
                <a:latin typeface="Aptos"/>
                <a:ea typeface="Aptos"/>
                <a:cs typeface="Aptos"/>
              </a:rPr>
              <a:t>avg review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9BA21-BB75-489C-8F09-1F51268B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838700"/>
            <a:ext cx="1809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7C7C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7CE"/>
                </a:solidFill>
                <a:latin typeface="Aptos"/>
                <a:ea typeface="Aptos"/>
                <a:cs typeface="Aptos"/>
              </a:rPr>
              <a:t>reviews linked into sales fact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B69B04-92EA-42C0-8E1F-138D030F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876300"/>
            <a:ext cx="2476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84A"/>
          </a:solidFill>
          <a:ln xmlns:a="http://schemas.openxmlformats.org/drawingml/2006/main" w="9525">
            <a:solidFill>
              <a:srgbClr val="38607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D9201A-717F-4A8F-8A5D-5CFEEB2F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219200"/>
            <a:ext cx="18097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Business 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F1CC9-E3EE-42F4-84A4-DD6DBC98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695450"/>
            <a:ext cx="1695450" cy="1352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Strong demand and satisfaction; the next unlock is category focus plus regional delivery reliability.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6DFA59-CF14-41A5-863D-9F4B8887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829050"/>
            <a:ext cx="17145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7D3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7D3D8"/>
                </a:solidFill>
                <a:latin typeface="Aptos"/>
                <a:ea typeface="Aptos"/>
                <a:cs typeface="Aptos"/>
              </a:rPr>
              <a:t>Dataset period: Sep 2016 to Sep 2018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A6DFF3-B9B1-45D9-BFA8-C73E607A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362450"/>
            <a:ext cx="171450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7D3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7D3D8"/>
                </a:solidFill>
                <a:latin typeface="Aptos"/>
                <a:ea typeface="Aptos"/>
                <a:cs typeface="Aptos"/>
              </a:rPr>
              <a:t>DuckDB star schema: customer, product, seller, date, sales 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293259-F879-4D52-B3C7-94A59C45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381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FA6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A6A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466201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F519B8-53B2-40F9-9C33-6DAFD789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EA875-C882-4B0B-94D3-171542A4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A1C1F-1808-498C-A1EC-B178E2BB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810B520-29C5-4F52-9549-6B609701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4378537-DFD5-41CD-9CEB-ECF0C063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EXECUTIVE READOUT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5883C2-E01A-474A-97FB-61BE84D5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Marketplace performance is healthy, but growth is concentrated and operationally uneven.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46A01-1C41-4A89-8121-F93EAE0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209550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96.5K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170F2-27C5-416B-A300-E2478F50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095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delivered orders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13DD5-9CF3-43FA-8D83-B4389C54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20955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97.8% of orders with item records reached delivered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3CD4E-FD11-416C-821B-0AD02A37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209550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12.4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B2FF4B-B19E-48D0-8FBC-71930A88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57450"/>
            <a:ext cx="2095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avg delivery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26371-F8E6-476D-8B70-A4122693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20955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delivered order average; slower regions exceed 20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905A44-7118-44D1-AAE8-5084471D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019300"/>
            <a:ext cx="2190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76.5K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1951B1-F9DB-4E7F-B3B2-9A6168E5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457450"/>
            <a:ext cx="2190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credit-card orders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566F1C-1400-4035-8489-41A76B78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86050"/>
            <a:ext cx="2190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dominant payment behavior by count and value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0A9751-7DF6-4A52-B524-483C5A2E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27813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F28A7D-E505-4E15-9436-859B427D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14550"/>
            <a:ext cx="2095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Recommended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2C447F-094A-45B3-929F-89455642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52700"/>
            <a:ext cx="2000250" cy="1885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1. Defend leading categories with seller enablement and availability.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2. Treat SP as the operating benchmark for delivery speed.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3. Prioritize northern and northeastern fulfillment fixes before pushing demand there.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4. Move the warehouse into scheduled reporting once dashboard questions stabilize.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33F83E-AA54-4B8D-969B-E44D0251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65722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5FDBBA-41EB-45C1-AB7B-BF12008E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81125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Decision lens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242009-D80D-4C0F-9CE1-92BA04A8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05250"/>
            <a:ext cx="516255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business does not need more raw files. It needs a repeatable view of revenue, geography, fulfillment, payment, and review signals.</a:t>
            </a:r>
          </a:p>
        </p:txBody>
      </p:sp>
    </p:spTree>
    <p:extLst>
      <p:ext uri="{BB962C8B-B14F-4D97-AF65-F5344CB8AC3E}">
        <p14:creationId xmlns:p14="http://schemas.microsoft.com/office/powerpoint/2010/main" val="6381312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BF82D1-64E9-4553-B3EC-836E6AF7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26912-6F9C-4531-B3AF-02FBEAA0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C85DE-15CD-4458-9579-C43F3814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BABABC3-85C0-4DAD-A2B3-A182BBD0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BF9100F-1940-4F6E-A62F-D0A8668F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PIPELINE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4E9DE-F60A-4FB7-AB9D-1996BFDC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Raw marketplace files now flow into a governed analytics warehouse.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ADA09-5795-465F-AAE5-572A345D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152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0E17E-FEDC-417F-9E55-DD9BCEF8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12192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Raw CSVs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4AD97-379C-41A5-A024-8FEE6C67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28950"/>
            <a:ext cx="11811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9 source files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orders, items, payments,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reviews, product, seller,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customer, geo, category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D7BA3-B2AA-40DF-8400-1E7B75EB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2420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D9CE9-99CF-4DCF-B7C7-8337E10D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01A2FB-8086-4BA6-8BFD-78221E5E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62200"/>
            <a:ext cx="152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4FE01-9523-411A-B469-34E7E801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09850"/>
            <a:ext cx="12192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DuckDB raw schema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8C104-C14A-4636-96EA-3BD43273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28950"/>
            <a:ext cx="11811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source-preserving load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for auditability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56F1F-AE46-4761-8C4F-74020F54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2420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E5230F-CEB8-4426-9481-8BBE37B5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79E388-74FE-404D-B295-6AE90837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62200"/>
            <a:ext cx="152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8976B4-CAD2-4E85-8023-6F8EF4E0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09850"/>
            <a:ext cx="12192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SQL transforms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8D540-40CE-4D08-8D0E-08F739BB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28950"/>
            <a:ext cx="11811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star schema build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with transparent logic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3D19B8-E9F0-4A1A-A984-D63A0264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2420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A04BEC-1177-4E7F-BA9F-AE8EEDED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0BB087-CA80-4542-9DC3-3C8452F0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152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79A3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3CE1D0-8D02-4952-A45C-74A56746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09850"/>
            <a:ext cx="12192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Quality checks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B8BCFB-D945-41EC-A0AF-79C5F5B5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28950"/>
            <a:ext cx="11811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15 SQL validations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all passed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8B123-087B-42A3-A1AB-9B686E5D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24200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5A6D9-A9DB-4115-B258-7E0670FF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2B2AD6-1C1D-45CB-B5A6-FFC8DC18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62200"/>
            <a:ext cx="152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3A6158-B720-49EA-8AF6-46E35A5C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09850"/>
            <a:ext cx="12192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Analysis outputs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8C8CEB-E2AE-4D32-A413-2CA87127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11811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notebook, report,</a:t>
            </a:r>
          </a:p>
          <a:p xmlns:a="http://schemas.openxmlformats.org/drawingml/2006/main">
            <a:pPr algn="ctr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executive deck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5A33F-BD7C-4675-8BC3-FD49183D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Technical confidence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595534-8CD2-467F-BDDE-CD583DC7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48200"/>
            <a:ext cx="7239000" cy="533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model separates ingestion from transformation and validation, so analysts can reproduce metrics without reinterpreting raw operational tables.</a:t>
            </a:r>
          </a:p>
        </p:txBody>
      </p:sp>
    </p:spTree>
    <p:extLst>
      <p:ext uri="{BB962C8B-B14F-4D97-AF65-F5344CB8AC3E}">
        <p14:creationId xmlns:p14="http://schemas.microsoft.com/office/powerpoint/2010/main" val="117534948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F5E8EE-0AD9-4E0C-8CE0-B2D01923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52171-4768-4C5F-84E1-06F09F85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8B575-6400-497D-939F-BE5F5411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96DFED8-11A1-4420-A92F-F3539CAD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7D526DB-15A8-427A-AEFB-232A80E6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WAREHOUSE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8B18A4-12C2-4AD9-9583-1A4789C3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star schema makes sales, geography, product, seller, and date questions joinable.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6D3DDF-FBA2-43FE-AB83-A1713C42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431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1F6F8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3C526-4CA1-4DC8-B930-DB8EEDBD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16192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fact_sales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3CE5F-5E3C-43D0-860B-D6A8D46E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48000"/>
            <a:ext cx="182880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112,650 order-item rows</a:t>
            </a:r>
          </a:p>
          <a:p xmlns:a="http://schemas.openxmlformats.org/drawingml/2006/main">
            <a:pPr algn="ctr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price, freight, payment,</a:t>
            </a:r>
          </a:p>
          <a:p xmlns:a="http://schemas.openxmlformats.org/drawingml/2006/main">
            <a:pPr algn="ctr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review, delivery,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4CDA9-567D-4BDB-AC94-C2250014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2133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72986-2CF6-4A38-8B19-AC7D4450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52600"/>
            <a:ext cx="1619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dim_customer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179B6C-271F-4FE3-A31D-2A22E5F3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95500"/>
            <a:ext cx="15240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99,441 customers</a:t>
            </a:r>
          </a:p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state/city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7BF466-44B7-40D2-9D10-CACDAD12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76450"/>
            <a:ext cx="1447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A3B0FA-E9C9-438A-B8C1-52DFA474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24000"/>
            <a:ext cx="2133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8CA48-61E0-4736-B5C1-ADCF638E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52600"/>
            <a:ext cx="1619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dim_product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6F2D21-BF43-4C97-971A-33A4377F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15240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32,951 products</a:t>
            </a:r>
          </a:p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category + physicals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837BFA-D410-4922-B8D0-7D234DFC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DB730A-C8CA-4657-9C61-6EB7E253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71950"/>
            <a:ext cx="2133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D45D7E-9208-4FB1-ABEE-987D382F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1619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dim_seller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E51E8B-8C43-4F2D-8539-A786E3BB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43450"/>
            <a:ext cx="15240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3,095 sellers</a:t>
            </a:r>
          </a:p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state/city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820A32-26BB-4580-99E9-02F4FEB8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1447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69A97C-31B2-4D98-BD7A-67BCBFEB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71950"/>
            <a:ext cx="2133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0EE555-6374-4335-8B60-E2F84AC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00550"/>
            <a:ext cx="1619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dim_date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2B0864-A066-4BB4-9549-71E79451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43450"/>
            <a:ext cx="15240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711 dates</a:t>
            </a:r>
          </a:p>
          <a:p xmlns:a="http://schemas.openxmlformats.org/drawingml/2006/main">
            <a:pPr algn="ctr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month/quarter/year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640FCB-9525-4491-9A42-32227823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244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DCA83B-6389-4B50-86B5-E1CCA0F4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00500"/>
            <a:ext cx="2667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75C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75C43"/>
                </a:solidFill>
                <a:latin typeface="Aptos"/>
                <a:ea typeface="Aptos"/>
                <a:cs typeface="Aptos"/>
              </a:rPr>
              <a:t>Grain: one row per order item</a:t>
            </a:r>
          </a:p>
        </p:txBody>
      </p:sp>
    </p:spTree>
    <p:extLst>
      <p:ext uri="{BB962C8B-B14F-4D97-AF65-F5344CB8AC3E}">
        <p14:creationId xmlns:p14="http://schemas.microsoft.com/office/powerpoint/2010/main" val="14401222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3DACE5-D3C4-4440-8876-828EDB33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9B0D0-82B9-4D83-9B20-75A93F81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438218-2F6F-44B1-BF46-ACC932FD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4E7C358-0150-4E0C-8A22-A14A30F3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8A22871-C9B5-4A27-B129-76FE6D5C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DATA QUALITY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981E1E-EECC-40B6-93D2-0BD88ADD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warehouse passed the checks that protect executive metrics from common data failures.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C08AB-FBEC-4E45-A70D-26ED93A1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190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15 /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068757-7360-450E-88FD-601BFEE4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190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quality checks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FB192-F58E-43B6-8E5D-EB8A7E8F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190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SQL tests executed after star-schema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98E66-5D1C-48DA-8380-60AA7F26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38350"/>
            <a:ext cx="23812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9A77B-0F8B-4309-B92D-BFAFAFF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381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broken dimension joins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A98D6-771A-46F3-B2E7-DBCEA9D0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05100"/>
            <a:ext cx="2381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customer, product, seller referential integrity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4674C-AA82-4D44-8233-56E41506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38350"/>
            <a:ext cx="23812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66D72-3AC7-4E12-AD18-5BBBAD4E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2381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negative sales findings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5F123-A228-443B-9B39-FEE6D562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05100"/>
            <a:ext cx="2381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non-negative and internally consistent amounts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B41EE6-CE79-426F-BEE3-23992C74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052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C24F06-1ECE-4892-9EFB-B438BA22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476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068E1-B739-4277-9434-1EFD74EB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24300"/>
            <a:ext cx="23241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Required keys present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89E3E8-B38D-40EC-AC23-A07BCD3F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BC0C1-9158-4B01-8F57-6A85499D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43350"/>
            <a:ext cx="2476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23733-BDE7-43B0-AB62-CDF66F07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24300"/>
            <a:ext cx="23241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No duplicate fact rows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1260EF-572B-46F4-A072-89684FAB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052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0C364D-8811-412A-ACCD-E78B642E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43350"/>
            <a:ext cx="2476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4F7E58-56BD-48C6-8168-4E526BA7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24300"/>
            <a:ext cx="23241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Unique dimension keys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EB00C8-0D02-450A-A022-EFCEEE7D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29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00A76B-FEB5-401A-BE1E-CCFFD573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67250"/>
            <a:ext cx="2476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DEA89F-475A-41CD-9F36-8066E85E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23241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Valid order statuses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DC1DC9-7EE2-4660-BD6F-4392E1F6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CA5025-884F-4DAE-9EF9-0944722D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67250"/>
            <a:ext cx="2476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11C4DE-09B5-4450-A550-7D88734A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48200"/>
            <a:ext cx="23241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Valid review scores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F96EC6-A356-4338-8507-2E21C95C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291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D3C6A6-D38B-4B11-9C5E-68D44558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247650" cy="15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9C03D7-DF3C-4FC0-BC8B-4B28F892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48200"/>
            <a:ext cx="2324100" cy="304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Sales amount = price + freight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696897-0BAF-45B1-BA0E-FFFD8072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0250"/>
            <a:ext cx="819150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Specialist note: payment metrics are best read from the raw payment table or an order-level fact to avoid multi-item double counting.</a:t>
            </a:r>
          </a:p>
        </p:txBody>
      </p:sp>
    </p:spTree>
    <p:extLst>
      <p:ext uri="{BB962C8B-B14F-4D97-AF65-F5344CB8AC3E}">
        <p14:creationId xmlns:p14="http://schemas.microsoft.com/office/powerpoint/2010/main" val="205283502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689A5F-12A3-45C2-B8AC-E4625CE2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BAE7A0-CFBD-4E52-8B21-4FCA5BBB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BD40E-BA8C-4D80-B2F5-DECC0A06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0167B7B-B356-47BC-9D7B-203A11E3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D34B0EC-3BAF-46D0-A5E2-08E82525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SALES TRAJECTORY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98571-1338-4031-B4E0-FC3AA9C2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Revenue scaled rapidly into 2018 after a November 2017 peak.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9C997-C3F8-44E2-BA38-D082710D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742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5577C-8A16-477A-A25C-860B5C41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ED2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44FCA-A90C-4626-8E72-643EEEA1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43450"/>
            <a:ext cx="2456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45D84D-C7BB-4B3E-B1C2-B7D6D953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741" y="4643187"/>
            <a:ext cx="245666" cy="1193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E61F5-5024-4910-BB4D-53B62E94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081" y="4743450"/>
            <a:ext cx="2456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0F1A3-DCEC-4DB7-82A1-C38EF444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422" y="4474369"/>
            <a:ext cx="245666" cy="2881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C78A4E-610D-4D2B-801B-A8B8A05D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3763" y="4161238"/>
            <a:ext cx="245666" cy="6012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DB59A-1B1E-4FD7-AEDD-190FC36E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103" y="3855089"/>
            <a:ext cx="245666" cy="9074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2F56C-E606-4FF4-A112-5EA2A38C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444" y="3896309"/>
            <a:ext cx="245666" cy="8661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73A73-331D-4A96-A63C-DBFB3317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84" y="3531351"/>
            <a:ext cx="245666" cy="12311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962680-9E8C-4106-9A3F-8B7AE6C0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706150"/>
            <a:ext cx="245666" cy="105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A90A40-1B49-461A-8DCA-BFD20C87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466" y="3533912"/>
            <a:ext cx="245666" cy="12285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40A46-05F1-4D2F-8B79-C1BD698F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7806" y="3359101"/>
            <a:ext cx="245666" cy="14033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D9B47C-4EA2-4800-A2BF-A6CB1725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147" y="3249480"/>
            <a:ext cx="245666" cy="1513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3FB60D-28B4-410D-9852-12D467FF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488" y="3146750"/>
            <a:ext cx="245666" cy="161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B113A7-EE21-4563-A9DA-E37A2C7E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828" y="2286000"/>
            <a:ext cx="245666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3D914-7B57-4F4F-AF2E-62574220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169" y="2948833"/>
            <a:ext cx="245666" cy="18136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60138C-33B5-49C7-B874-9CED0E0A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9509" y="2436886"/>
            <a:ext cx="245666" cy="23256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731742-764E-4432-B25C-370EB5C1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850" y="2689742"/>
            <a:ext cx="245666" cy="20727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043D4F-8083-42B8-8AD7-69B74009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191" y="2336442"/>
            <a:ext cx="245666" cy="24260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3EA208-8EA6-44E9-954E-A0311D1B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531" y="2326841"/>
            <a:ext cx="245666" cy="24356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B5D2E2-C427-4BEB-9935-CB76F7D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872" y="2347668"/>
            <a:ext cx="245666" cy="241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5DFA8B-FB6D-46D0-8C68-EAEE3D55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213" y="2614620"/>
            <a:ext cx="245666" cy="214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42E8DC-D75E-4F8C-807E-77090FB1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3553" y="2538903"/>
            <a:ext cx="245666" cy="22235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8BF919-1749-4029-862C-B25B71B1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894" y="2655299"/>
            <a:ext cx="245666" cy="2107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A7A553-5FCF-46E5-8B04-BA05610B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8234" y="4743450"/>
            <a:ext cx="2456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0ADAF0-13E4-450B-96A0-57A68D2A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8572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Sep 2016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C2AE4D-C02C-4AE9-BC17-2D7AD1BE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1047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5C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75C43"/>
                </a:solidFill>
                <a:latin typeface="Aptos"/>
                <a:ea typeface="Aptos"/>
                <a:cs typeface="Aptos"/>
              </a:rPr>
              <a:t>Nov 2017 peak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6E6ABD-45D7-4651-B62E-3AEE4AA7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895850"/>
            <a:ext cx="7620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Sep 2018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6BC43B-71CD-4151-98B6-4E99E42A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190500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1.18M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F51B37-552D-4498-8AFC-A06928A4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62250"/>
            <a:ext cx="1905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peak month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1919B9-DB21-49EC-80C6-C9910383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90850"/>
            <a:ext cx="19050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gross item sales in Nov 2017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F63084-5D5A-4D9F-B116-BCB43799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24250"/>
            <a:ext cx="209550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1.00M+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D932A6-0C18-499D-B003-93F59298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62400"/>
            <a:ext cx="2095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late-run scale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7A39C0-0AEC-4517-A24D-C06F8372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91000"/>
            <a:ext cx="20955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monthly sales around 1M from Jan-Aug 2018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B4DD89-310E-4D9B-9014-E91E7EAE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19700"/>
            <a:ext cx="1428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Executive read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D93498-A98E-4273-9B88-4882D5E2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62550"/>
            <a:ext cx="685800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revenue curve supports an operating cadence: track category mix, delivery speed, and state expansion monthly rather than treating the dataset as a one-off analysis.</a:t>
            </a:r>
          </a:p>
        </p:txBody>
      </p:sp>
    </p:spTree>
    <p:extLst>
      <p:ext uri="{BB962C8B-B14F-4D97-AF65-F5344CB8AC3E}">
        <p14:creationId xmlns:p14="http://schemas.microsoft.com/office/powerpoint/2010/main" val="13483028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BD09C6-2B04-44B9-AC16-5FBAC8BE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B8AF1-BC3D-48A5-BCE3-FABF69D0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A8A5E-7F0C-4644-8E0E-BCBFA94C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2934402-577B-4FE1-8018-35494D50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DD3567D-62DD-4D35-AD11-BFDA1389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PRODUCT FOCUS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2E88C2-F271-476B-9D4F-3D566FEE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Five categories anchor marketplace revenue and deserve active commercial management.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87DFA4-1127-4234-BF14-F91C125C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health_beauty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CCE17B-AC8C-4607-8BD2-799BCAD2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71700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89715-639D-4F57-BB35-1811DE59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71700"/>
            <a:ext cx="393532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9FED74-07CF-498A-A7B6-D2967C1D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05025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1.44M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4A063-3B0B-4A14-AD5D-F830CCA2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09838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watches_gifts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9F919-1B51-4D95-A09F-BC0558F2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47938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3C995-173E-4FEE-9CF6-B7549675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47938"/>
            <a:ext cx="3564781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DE505-3B94-4436-B15F-4612932C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1263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1.31M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D4B01-0A6F-4D65-8D55-90B433B8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86075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bed_bath_table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DE6E7-94F7-4F59-AA01-DE3E0E67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24175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D073C-9A8F-4B95-A9CF-65700529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24175"/>
            <a:ext cx="339041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D902F6-2CA2-40C5-925B-BE78C8A6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57500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1.24M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ADCD32-BC64-475F-8F8A-E175D560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62313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sports_leisure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17E1B8-4960-483B-8F12-6700BCB1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00413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D791DB-8883-4CC0-B4AB-0C19767F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00413"/>
            <a:ext cx="3158251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C15090-CCA6-4EB5-A858-EAF87716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33738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1.16M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42E8B-95CB-46BF-8AA6-9E05B1FB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computers_accessories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C8BFD-4831-47E9-B13B-26DD7C76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76650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3CB93-1E3C-4202-9260-3E6552B1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76650"/>
            <a:ext cx="2892343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BAE825-64A4-493A-B204-A6AE0450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09975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1.06M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D355E1-C729-4BB6-93EB-287872EE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4788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furniture_decor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D7DE77-0CCD-4D95-9416-5F3F87E4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52888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BC1B8C-8F23-49BE-9E59-34E73EE1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52888"/>
            <a:ext cx="246430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7D0807-4D0B-475A-81A6-9B344502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86213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0.9M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2E96A2-E7FE-4EE5-B815-040CBC4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91025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housewares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42428-6CCD-48E4-B58C-17F2B045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29125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FC4985-A677-4D79-AEF8-4BB6332E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29125"/>
            <a:ext cx="212541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AB4F7E-54F1-45F0-B360-A703503A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62450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0.8M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510090-A879-48FC-B856-C35638AF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7263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cool_stuff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A60607-0B36-4AF6-8F63-E120652C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05363"/>
            <a:ext cx="409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D111D7-0B45-4FEC-879B-C6E47746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05363"/>
            <a:ext cx="196413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84D209-FC88-414E-88E5-65A1CDF3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38688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0.7M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9910E0-BFD9-4EF7-83DC-AE49B5CF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95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79A31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33D30B-E52B-4250-A0F7-015806FC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19350"/>
            <a:ext cx="1762125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4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75C43"/>
                </a:solidFill>
                <a:latin typeface="Aptos"/>
                <a:ea typeface="Aptos"/>
                <a:cs typeface="Aptos"/>
              </a:rPr>
              <a:t>What to do with this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8C33F7-AE53-4B42-B71C-D989C346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76550"/>
            <a:ext cx="1714500" cy="1352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Use the top categories as seller-enablement priorities: assortment depth, fulfillment readiness, stock monitoring, and review follow-up.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F53F20-05FE-4A38-A46C-E8BCE216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286250"/>
            <a:ext cx="16954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Quality signal: leading categories maintain review averages near or above 4.0.</a:t>
            </a:r>
          </a:p>
        </p:txBody>
      </p:sp>
    </p:spTree>
    <p:extLst>
      <p:ext uri="{BB962C8B-B14F-4D97-AF65-F5344CB8AC3E}">
        <p14:creationId xmlns:p14="http://schemas.microsoft.com/office/powerpoint/2010/main" val="79735322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35D534-F9F1-472F-927E-9FE51073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CB1A5C-AABA-40ED-AF24-84EFF72D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E3018-39EF-4647-A598-1443FEA7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F4C257C-B9F8-4143-B98A-DE8BD293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31DF3C5-260B-469D-A079-1666D391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REGIONAL CONCENTRATION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4E57D-2309-430E-B064-ABC9AA37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Sao Paulo is the demand engine and the practical delivery benchmark.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AA5E5-70A7-4BB3-BAF8-15AF4D7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5E6E6-42D4-4209-99D7-D769B8D2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71700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979B4-996D-442E-8F4F-E5A8FF28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71700"/>
            <a:ext cx="441831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3A615-895B-43F1-A35A-373F81A1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05025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5.92M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D2DD32-C895-466E-8526-70056B0F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09838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RJ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D4B4D-D0DD-463A-8888-B6FC2BE1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47938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1FA8D4-17B4-484A-A092-2ED1B5FA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47938"/>
            <a:ext cx="158900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E4ED6-8881-4FFE-9800-2E1275B1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81263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2.13M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39A13-48B7-4021-9CBE-CB329F0D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86075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MG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80BC8-16B6-40DE-878B-9AD7F839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24175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F7192-29F1-45DC-B85F-F8DC1F7D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24175"/>
            <a:ext cx="138492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C9AF83-8AAA-438F-9CB0-126CF23A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57500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1.86M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BB009-3E46-497E-8991-E006FE69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62313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DDC988-A5F0-4B70-B2E3-074117B8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00413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5E1449-0BF8-4FC6-B8F8-BC2F4ECC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00413"/>
            <a:ext cx="66093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61128-DBBB-40A1-8A30-8C90BBDC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33738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0.9M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55C603-D846-4799-ABFB-40A13F25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6A0BDA-FB1C-4EF6-AB77-A804637B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76650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79ECD5-E358-47A6-9E5D-01680F95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76650"/>
            <a:ext cx="59759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147DE4-F78B-471C-BFF9-E2418FB0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09975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0.8M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1FF9D8-8345-4E54-B336-60FFEDE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4788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BA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CE2EDD-1019-4F52-A9AE-27AB4AFA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52888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64B0E7-28F2-47D2-8B1F-FE0CCBDF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52888"/>
            <a:ext cx="45626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633D35-735F-4720-8F47-178E2811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86213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0.6M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E16EAD-9D91-451A-A7F5-19C311EE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91025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SC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3E6D07-1EF6-4532-BCBC-97A1909F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29125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95FCBB-787F-4A1F-ABB8-80CECB1D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29125"/>
            <a:ext cx="45529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27074F-848F-48BC-B21E-07EC3324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0.6M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7B8437-49BA-4FFA-9A9B-D39FF186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7263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DF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C4D469-1C01-4ADB-9A09-1B2C568D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05363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4DA526-E24F-4C76-B9F0-9A687A85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05363"/>
            <a:ext cx="263553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61C4A7-5D1C-4CEC-9E95-9B977CCA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38688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0.4M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E0EB42-2241-4ADB-8F94-7842FDAF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76450"/>
            <a:ext cx="20002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5.92M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5BB4D91-7A65-446D-A809-EB101C51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14600"/>
            <a:ext cx="2000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SP gross sales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11305EA-44D2-439F-8ECF-6EF46329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43200"/>
            <a:ext cx="2000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largest state by revenue and orders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DF7484-C644-41C9-885D-7803A683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38500"/>
            <a:ext cx="20002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8.7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868D8D-9750-4184-A390-8A0D3053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76650"/>
            <a:ext cx="2000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SP delivery days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E763DB-DD76-4964-BEA9-18166759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2000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faster than other large states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7483D3-D7E5-46CC-B9EC-FF75F407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0002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19.2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71F62C-A0A6-4D0C-A673-60878BD7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38700"/>
            <a:ext cx="2000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BA delivery days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FEBA65-5B2D-44E6-A6CD-45B36DDE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067300"/>
            <a:ext cx="20002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example of demand with slower fulfillment</a:t>
            </a:r>
          </a:p>
        </p:txBody>
      </p:sp>
    </p:spTree>
    <p:extLst>
      <p:ext uri="{BB962C8B-B14F-4D97-AF65-F5344CB8AC3E}">
        <p14:creationId xmlns:p14="http://schemas.microsoft.com/office/powerpoint/2010/main" val="65758814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3CF00B-82D2-407C-AAF9-D3725DC2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E07FA-A6A9-41DA-B676-78A4903D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8C95B-8FF1-4AB3-B990-D1B59145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0FFA304-C3A9-49F0-9A63-6228F74C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4413572-2444-4FA6-AD40-EF81845E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FULFILLMENT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5E701-D463-4697-8F1C-69997A38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slowest regions turn logistics into the main constraint on national growth.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AD308-7C52-42E0-A6D7-D43CC279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1A531-01AC-4236-BEAB-740F288C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71700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24427-A03D-4AB9-AE34-CBECDA0B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71700"/>
            <a:ext cx="436731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8B08BA-F575-4D31-AEED-06E5A861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05025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26.3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7C216-F529-4097-B7F0-F79D7F7C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09838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6CBC6-0712-4815-A998-388FAF9A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47938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568CA-7FCF-41F0-905C-631184EF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47938"/>
            <a:ext cx="405394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4CCEE-605D-4B32-90AD-B43F0E34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81263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24.4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086B2D-3E2B-41B0-B10C-8E4F78E7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86075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E4A19-DC81-46C4-A924-6AABAB95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24175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68842-ED4E-4EC5-A6AE-4BAE75BE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24175"/>
            <a:ext cx="392959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DD429A-EB0E-4F50-BA16-26F67E47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57500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23.7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8EC112-D4C4-45CF-88AE-29458D4A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62313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79F191-430C-4D63-A6EF-B18858EC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00413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431A8-4B74-452C-813A-A84BEF07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00413"/>
            <a:ext cx="357974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55EA83-6FE8-45BB-8482-C23051FA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33738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21.6 days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AF5D4-2684-4B79-AC50-E46D2B65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FCFB3-E101-4B81-A87F-B66E32EE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76650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D8A92A-5F5A-4FA2-8D00-284AD4D5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76650"/>
            <a:ext cx="355155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3A63A8-AD14-49E0-B1F8-0F1AFF1E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09975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21.4 days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036859-0CCA-4334-8538-66B40975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4788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9354AD-3875-44C8-B0EB-08D41D1A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52888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030C96-7537-4CDE-A5E7-3183B8B1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52888"/>
            <a:ext cx="346865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226DDE-7451-461F-BEAE-E3547B30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86213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20.9 days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9EA348-1BE4-4258-B1BB-9AA6600A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91025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PB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008981-3BAC-4F11-B046-EC6F3023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29125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9F7C56-3351-4B2E-B401-87AF2A9B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29125"/>
            <a:ext cx="340730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CB2638-5177-4616-A8B0-52AF4DEE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20.6 days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821202-C7D8-4AE0-9959-3D31620C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7263"/>
            <a:ext cx="16192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12B"/>
                </a:solidFill>
                <a:latin typeface="Aptos"/>
                <a:ea typeface="Aptos"/>
                <a:cs typeface="Aptos"/>
              </a:rPr>
              <a:t>RO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681AE0-BC79-4F0C-858A-63A51914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05363"/>
            <a:ext cx="4476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7DB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68FB2A-FD4F-47E3-B664-6BA4FEEF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05363"/>
            <a:ext cx="325973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D3EA23-E93B-4AAF-8F86-A6B5A498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38688"/>
            <a:ext cx="9144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19.7 days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0B92C6-9406-404F-968C-69B667C6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245314-4F78-4293-9E63-304ED76D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0"/>
            <a:ext cx="16192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Decision implication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4CE736-FDA0-4B75-AE3C-0DA46152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24200"/>
            <a:ext cx="1600200" cy="1066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Fix carrier paths, seller location mix, and estimated-date accuracy before adding demand.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CA06435-625A-4553-8C10-7BCE6410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52387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Delivered orders only; states shown have at least 100 orders.</a:t>
            </a:r>
          </a:p>
        </p:txBody>
      </p:sp>
    </p:spTree>
    <p:extLst>
      <p:ext uri="{BB962C8B-B14F-4D97-AF65-F5344CB8AC3E}">
        <p14:creationId xmlns:p14="http://schemas.microsoft.com/office/powerpoint/2010/main" val="149029084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2EBE19-561C-404E-BE83-EC2C0139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7FD8A-F090-4690-AB72-C208D451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D958C8-E380-4F7A-B46D-C6F765F6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A617A2B-F861-4146-B37A-00937397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16BBAD7-C705-43DE-80DE-E0E72249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PAYMENT BEHAVIOR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59E0B-1D73-4CF7-AEAB-9EB63FF1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Credit card is the default checkout path, while boleto remains material.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50A4E8-B968-4FAB-A977-A6CB4507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86050"/>
            <a:ext cx="5149002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E4547-8FB8-49FD-B5E5-17A795D3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33700"/>
            <a:ext cx="4958502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78%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0C6B8-13A7-42F3-B19E-51EB7A54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902" y="2686050"/>
            <a:ext cx="1177982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A04AD3-2410-4378-B6B0-F877BC91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8202" y="2933700"/>
            <a:ext cx="987482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B368FF-50FB-4E5D-8B73-11D45508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884" y="2686050"/>
            <a:ext cx="15577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5A6AE-84CC-4EDE-9E5B-671A7C85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6184" y="2933700"/>
            <a:ext cx="5143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80CB7-5C8A-462A-9C0E-76582265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657" y="2686050"/>
            <a:ext cx="8949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D0F1E-D931-4DEC-B6D1-DC223653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1957" y="2933700"/>
            <a:ext cx="5143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129B8A-A0B7-4CE6-A3E1-239411A5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619063-BC0D-4B3D-95CF-6077670F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3860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credit_card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84BEE5-1867-4EDC-9BF2-8A980BD1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38600"/>
            <a:ext cx="1047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12.54M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DF07BB-C528-4CCD-9D24-C0C98FDF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38600"/>
            <a:ext cx="1428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76,505 orders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33DC34-92A7-4CEE-8914-7CE1E2C9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76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6872D2-6C4F-4FC2-9279-7EC107D5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boleto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90AA96-6BF0-4414-9282-72C4160D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38650"/>
            <a:ext cx="1047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2.87M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1807DD-69BA-4A4B-8304-605996EA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38650"/>
            <a:ext cx="1428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19,784 orders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0DF7D9-F6F9-4B9A-B51E-736477FF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768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7D54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012165-E2D3-493D-92A8-242E7FE3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3870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voucher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305C0D-5BA3-4661-8F14-293AEA3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38700"/>
            <a:ext cx="1047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0.4M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1FC659-6E25-4579-BD33-623B60F4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38700"/>
            <a:ext cx="1428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3,866 orders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30FC50-2ECD-423E-B0DD-150511AC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768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43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49DAE4-0CF9-4854-B643-958AEDD4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3875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debit_card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98BB83-3ADB-477A-A25A-0E164BB6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38750"/>
            <a:ext cx="1047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0.2M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601DEC-908B-42A9-976C-8F242A8F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38750"/>
            <a:ext cx="1428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1,528 orders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E65196-24A1-481B-A675-EFA0BDFA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43150"/>
            <a:ext cx="1428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Specialist note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7BC328-17A8-42DC-812F-F3FA4BF3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24150"/>
            <a:ext cx="2133600" cy="971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Uses the raw payments table so multi-item orders do not overstate payment value.</a:t>
            </a:r>
          </a:p>
        </p:txBody>
      </p:sp>
    </p:spTree>
    <p:extLst>
      <p:ext uri="{BB962C8B-B14F-4D97-AF65-F5344CB8AC3E}">
        <p14:creationId xmlns:p14="http://schemas.microsoft.com/office/powerpoint/2010/main" val="112401215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944293-DA94-4048-A538-337555C6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69D06-34FD-4DD0-A67D-E92CC4BF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Olist marketplace analytics |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A810E-24DB-4B00-8BD7-66A9B015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6482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Source: Olist Brazilian E-Commerce dataset; DuckDB warehouse outputs</a:t>
            </a:r>
          </a:p>
        </p:txBody>
      </p:sp>
      <p:sp>
        <p:nvSpPr>
          <p:cNvPr id="4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111305E-0573-4D5D-B6A7-F18F9E3E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9A31"/>
          </a:solidFill>
          <a:ln xmlns:a="http://schemas.openxmlformats.org/drawingml/2006/main">
            <a:noFill/>
          </a:ln>
        </p:spPr>
      </p:sp>
      <p:sp>
        <p:nvSpPr>
          <p:cNvPr id="5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3D7C0F1-ABB1-41FA-9971-C550A26C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"/>
            <a:ext cx="2476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F6F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8B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1B31F-0CD1-4763-B534-3B30F890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191500" cy="876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The next phase should operationalize the warehouse into recurring decisions.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01AF2-32C7-4917-92C6-760E0729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1F6F8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02A7A-9599-4783-BBBE-28EB1A3F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86050"/>
            <a:ext cx="4000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A3BFA-2ACF-436E-A758-402DB9F7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15240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Stabilize metrics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F3191-1CFA-494F-81BD-DF1AB672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1504950" cy="590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Lock delivered-only and all-status KPI definitions; create an order-level payment fact.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056A23-1E14-4B78-A3FF-42FAC68A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290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451B02-6451-4721-9D69-01DB89C6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9FD05-322B-45AE-83DB-9B79AF7F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86050"/>
            <a:ext cx="4000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D6F5C-2E07-4D6C-AFFC-1AB41C9D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38500"/>
            <a:ext cx="15240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Automate pipeline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D5A856-3439-46DC-94F2-E8942A57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695700"/>
            <a:ext cx="1504950" cy="590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Schedule ingestion, transformations, and quality checks with visible failure reporting.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468433-0E4F-418A-B614-8FFA5989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4290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857EE-C792-4777-8F19-09672BF3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765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6"/>
          </a:solidFill>
          <a:ln xmlns:a="http://schemas.openxmlformats.org/drawingml/2006/main" w="9525">
            <a:solidFill>
              <a:srgbClr val="1F6F8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C3A589-B371-4CCF-A7AF-721C69DF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86050"/>
            <a:ext cx="4000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96F990-BC87-473A-9FEB-C29E7A3C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38500"/>
            <a:ext cx="15240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Add BI layer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6224C9-A287-4BDA-BDD4-019296CA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95700"/>
            <a:ext cx="1504950" cy="590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Publish dashboard pages for sales, category, geography, delivery, and reviews.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BE4B70-62A1-4B4F-AB28-F812EEF9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290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C9CB49-ED1B-4EE1-AAFE-9FD2BB6A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765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62EB5E-037D-4D85-995F-F13CAE45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4000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171584-8859-4536-B786-477A1487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15240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Use decisions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3DFBDA-080B-4FC0-8971-E33BC5BB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695700"/>
            <a:ext cx="1504950" cy="590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A6F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A6F73"/>
                </a:solidFill>
                <a:latin typeface="Aptos"/>
                <a:ea typeface="Aptos"/>
                <a:cs typeface="Aptos"/>
              </a:rPr>
              <a:t>Tie category investment and regional logistics work to monthly performance reviews.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2AEE43-156A-481E-8281-BA653FF7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47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C8B9C8-5272-479C-9245-EC33D519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162550"/>
            <a:ext cx="6858000" cy="457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Move from a successful assignment pipeline to a decision system that teams can trust repeatedly.</a:t>
            </a:r>
          </a:p>
        </p:txBody>
      </p:sp>
    </p:spTree>
    <p:extLst>
      <p:ext uri="{BB962C8B-B14F-4D97-AF65-F5344CB8AC3E}">
        <p14:creationId xmlns:p14="http://schemas.microsoft.com/office/powerpoint/2010/main" val="17688450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CB231-25A6-4564-9D31-D428D463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C6FD9-A400-4180-9CBE-0D6147B5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0955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CDBCA-3297-4B7A-9122-1F094293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191500" cy="123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Olist warehouse turns raw marketplace activity into a shared business operating 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52FED-DC8F-4DD4-8E7D-A8CBCA5E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38450"/>
            <a:ext cx="7239000" cy="571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4E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4E8"/>
                </a:solidFill>
                <a:latin typeface="Aptos"/>
                <a:ea typeface="Aptos"/>
                <a:cs typeface="Aptos"/>
              </a:rPr>
              <a:t>Decision makers can see where to invest. Data specialists can see how the metrics were built, checked, and can be repeated.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B9911-4BFB-4E75-985A-5051E38D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0"/>
            <a:ext cx="1809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1E1FE-28C4-4C92-AE3B-65C6FBCC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FD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FD0E6"/>
                </a:solidFill>
                <a:latin typeface="Aptos"/>
                <a:ea typeface="Aptos"/>
                <a:cs typeface="Aptos"/>
              </a:rPr>
              <a:t>98.7K orders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1ED42-1A2B-4249-B09D-B0B969DC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1809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7C7C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7CE"/>
                </a:solidFill>
                <a:latin typeface="Aptos"/>
                <a:ea typeface="Aptos"/>
                <a:cs typeface="Aptos"/>
              </a:rPr>
              <a:t>large enough for operational patterns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47124-167C-4861-93B3-00BAF851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81500"/>
            <a:ext cx="180975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Trust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26765-C2F8-4722-A3B5-24A67079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819650"/>
            <a:ext cx="1809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FD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FD0E6"/>
                </a:solidFill>
                <a:latin typeface="Aptos"/>
                <a:ea typeface="Aptos"/>
                <a:cs typeface="Aptos"/>
              </a:rPr>
              <a:t>15 checks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EB3BD-566B-4125-B9C9-E1525268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048250"/>
            <a:ext cx="180975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7C7C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7CE"/>
                </a:solidFill>
                <a:latin typeface="Aptos"/>
                <a:ea typeface="Aptos"/>
                <a:cs typeface="Aptos"/>
              </a:rPr>
              <a:t>quality gates built into the 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7DF121-8C2C-40BC-A3F1-3DFE4CDB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81500"/>
            <a:ext cx="2095500" cy="419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BF9964-2053-420F-B8F5-EC8B24FC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19650"/>
            <a:ext cx="20955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FD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7FD0E6"/>
                </a:solidFill>
                <a:latin typeface="Aptos"/>
                <a:ea typeface="Aptos"/>
                <a:cs typeface="Aptos"/>
              </a:rPr>
              <a:t>delivery + category focus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B10238-4B2B-4438-921B-9DEF0DB6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048250"/>
            <a:ext cx="2095500" cy="361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7C7C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7CE"/>
                </a:solidFill>
                <a:latin typeface="Aptos"/>
                <a:ea typeface="Aptos"/>
                <a:cs typeface="Aptos"/>
              </a:rPr>
              <a:t>clear levers for next iteration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295CD8-C89D-4418-A833-7B2CD657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219700"/>
            <a:ext cx="1238250" cy="438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3000" b="1">
                <a:solidFill>
                  <a:srgbClr val="D79A31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D79A31"/>
                </a:solidFill>
                <a:latin typeface="Aptos"/>
                <a:ea typeface="Aptos"/>
                <a:cs typeface="Aptos"/>
              </a:rPr>
              <a:t>Q&amp;A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57F59-B059-46BE-ACCF-8D04177A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381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FA6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A6A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400843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2026-06-01T07:47:16.1180000Z</dcterms:created>
  <dcterms:modified xsi:type="dcterms:W3CDTF">2026-06-01T07:47:16.1180000Z</dcterms:modified>
</coreProperties>
</file>